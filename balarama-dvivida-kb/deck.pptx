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005840" y="1371600"/>
            <a:ext cx="10241280" cy="365760"/>
          </a:xfrm>
          <a:prstGeom prst="rect">
            <a:avLst/>
          </a:prstGeom>
          <a:noFill/>
        </p:spPr>
        <p:txBody>
          <a:bodyPr wrap="square" lIns="0" rIns="0" tIns="0" bIns="0">
            <a:spAutoFit/>
          </a:bodyPr>
          <a:lstStyle/>
          <a:p>
            <a:pPr algn="l">
              <a:spcBef>
                <a:spcPts val="0"/>
              </a:spcBef>
              <a:spcAft>
                <a:spcPts val="0"/>
              </a:spcAft>
            </a:pPr>
            <a:r>
              <a:rPr sz="1300" b="0" i="0">
                <a:solidFill>
                  <a:srgbClr val="D9A441"/>
                </a:solidFill>
                <a:latin typeface="Consolas"/>
              </a:rPr>
              <a:t>CANTO 10  ·  CHAPTER 67  ·  ŚRĪMAD-BHĀGAVATAM</a:t>
            </a:r>
          </a:p>
        </p:txBody>
      </p:sp>
      <p:sp>
        <p:nvSpPr>
          <p:cNvPr id="4" name="TextBox 3"/>
          <p:cNvSpPr txBox="1"/>
          <p:nvPr/>
        </p:nvSpPr>
        <p:spPr>
          <a:xfrm>
            <a:off x="1005840" y="1965960"/>
            <a:ext cx="10241280" cy="1737360"/>
          </a:xfrm>
          <a:prstGeom prst="rect">
            <a:avLst/>
          </a:prstGeom>
          <a:noFill/>
        </p:spPr>
        <p:txBody>
          <a:bodyPr wrap="square" lIns="0" rIns="0" tIns="0" bIns="0">
            <a:spAutoFit/>
          </a:bodyPr>
          <a:lstStyle/>
          <a:p>
            <a:pPr algn="l">
              <a:lnSpc>
                <a:spcPct val="95000"/>
              </a:lnSpc>
              <a:spcBef>
                <a:spcPts val="0"/>
              </a:spcBef>
              <a:spcAft>
                <a:spcPts val="0"/>
              </a:spcAft>
            </a:pPr>
            <a:r>
              <a:rPr sz="5000" b="0" i="0">
                <a:solidFill>
                  <a:srgbClr val="EEF1F7"/>
                </a:solidFill>
                <a:latin typeface="Georgia"/>
              </a:rPr>
              <a:t>A chapter about a monster</a:t>
            </a:r>
          </a:p>
          <a:p>
            <a:pPr>
              <a:lnSpc>
                <a:spcPct val="95000"/>
              </a:lnSpc>
              <a:spcBef>
                <a:spcPts val="0"/>
              </a:spcBef>
              <a:spcAft>
                <a:spcPts val="0"/>
              </a:spcAft>
            </a:pPr>
            <a:r>
              <a:rPr sz="5000" b="0" i="1">
                <a:solidFill>
                  <a:srgbClr val="D9A441"/>
                </a:solidFill>
                <a:latin typeface="Georgia"/>
              </a:rPr>
              <a:t>is really a chapter about you</a:t>
            </a:r>
          </a:p>
        </p:txBody>
      </p:sp>
      <p:sp>
        <p:nvSpPr>
          <p:cNvPr id="5" name="TextBox 4"/>
          <p:cNvSpPr txBox="1"/>
          <p:nvPr/>
        </p:nvSpPr>
        <p:spPr>
          <a:xfrm>
            <a:off x="1005840" y="3977639"/>
            <a:ext cx="10241280" cy="457200"/>
          </a:xfrm>
          <a:prstGeom prst="rect">
            <a:avLst/>
          </a:prstGeom>
          <a:noFill/>
        </p:spPr>
        <p:txBody>
          <a:bodyPr wrap="square" lIns="0" rIns="0" tIns="0" bIns="0">
            <a:spAutoFit/>
          </a:bodyPr>
          <a:lstStyle/>
          <a:p>
            <a:pPr algn="l">
              <a:spcBef>
                <a:spcPts val="0"/>
              </a:spcBef>
              <a:spcAft>
                <a:spcPts val="0"/>
              </a:spcAft>
            </a:pPr>
            <a:r>
              <a:rPr sz="2100" b="0" i="1">
                <a:solidFill>
                  <a:srgbClr val="A6B1C8"/>
                </a:solidFill>
                <a:latin typeface="Georgia"/>
              </a:rPr>
              <a:t>Śrīmad-Bhāgavatam 10.67 — Lord Balarāma slays Dvivida</a:t>
            </a:r>
          </a:p>
        </p:txBody>
      </p:sp>
      <p:sp>
        <p:nvSpPr>
          <p:cNvPr id="6" name="Rectangle 5"/>
          <p:cNvSpPr/>
          <p:nvPr/>
        </p:nvSpPr>
        <p:spPr>
          <a:xfrm>
            <a:off x="1005840" y="4617720"/>
            <a:ext cx="3840480" cy="127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4892040"/>
            <a:ext cx="10241280" cy="1097280"/>
          </a:xfrm>
          <a:prstGeom prst="rect">
            <a:avLst/>
          </a:prstGeom>
          <a:noFill/>
        </p:spPr>
        <p:txBody>
          <a:bodyPr wrap="square" lIns="0" rIns="0" tIns="0" bIns="0">
            <a:spAutoFit/>
          </a:bodyPr>
          <a:lstStyle/>
          <a:p>
            <a:pPr algn="l">
              <a:spcBef>
                <a:spcPts val="0"/>
              </a:spcBef>
              <a:spcAft>
                <a:spcPts val="0"/>
              </a:spcAft>
            </a:pPr>
            <a:r>
              <a:rPr sz="1400" b="0" i="0">
                <a:solidFill>
                  <a:srgbClr val="A6B1C8"/>
                </a:solidFill>
                <a:latin typeface="Calibri"/>
              </a:rPr>
              <a:t>Fort Lauderdale, FL  ·  Balarāma-pūrṇimā  ·  23 August 2024</a:t>
            </a:r>
          </a:p>
          <a:p>
            <a:pPr>
              <a:spcBef>
                <a:spcPts val="700"/>
              </a:spcBef>
              <a:spcAft>
                <a:spcPts val="0"/>
              </a:spcAft>
            </a:pPr>
            <a:r>
              <a:rPr sz="1300" b="0" i="0">
                <a:solidFill>
                  <a:srgbClr val="6D7791"/>
                </a:solidFill>
                <a:latin typeface="Consolas"/>
              </a:rPr>
              <a:t>A study guide in 21 slides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sāra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one idea everything hangs off</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On the surface: thirty verses about a huge ape wrecking a coastline until Balarāma kills him. But the commentators hardly write about the fight. They write about one question — how did a servant of Lord Rāmacandra become a demon?</a:t>
            </a:r>
          </a:p>
        </p:txBody>
      </p:sp>
      <p:sp>
        <p:nvSpPr>
          <p:cNvPr id="6" name="Rounded Rectangle 5"/>
          <p:cNvSpPr/>
          <p:nvPr/>
        </p:nvSpPr>
        <p:spPr>
          <a:xfrm>
            <a:off x="868680" y="3063240"/>
            <a:ext cx="10515600" cy="914400"/>
          </a:xfrm>
          <a:prstGeom prst="roundRect">
            <a:avLst/>
          </a:prstGeom>
          <a:solidFill>
            <a:srgbClr val="1B2338"/>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24712" y="3227832"/>
            <a:ext cx="10012680" cy="640080"/>
          </a:xfrm>
          <a:prstGeom prst="rect">
            <a:avLst/>
          </a:prstGeom>
          <a:noFill/>
        </p:spPr>
        <p:txBody>
          <a:bodyPr wrap="square" lIns="0" rIns="0" tIns="0" bIns="0">
            <a:spAutoFit/>
          </a:bodyPr>
          <a:lstStyle/>
          <a:p>
            <a:pPr algn="l">
              <a:lnSpc>
                <a:spcPct val="115000"/>
              </a:lnSpc>
              <a:spcBef>
                <a:spcPts val="0"/>
              </a:spcBef>
              <a:spcAft>
                <a:spcPts val="0"/>
              </a:spcAft>
            </a:pPr>
            <a:r>
              <a:rPr sz="1600" b="0" i="1">
                <a:solidFill>
                  <a:srgbClr val="DBE2EE"/>
                </a:solidFill>
                <a:latin typeface="Georgia"/>
              </a:rPr>
              <a:t>Dvivida did not fall because he was weak. He fell because he was strong, and proud of it, and that pride made him slight the Lord's representative.</a:t>
            </a:r>
          </a:p>
          <a:p>
            <a:pPr>
              <a:spcBef>
                <a:spcPts val="800"/>
              </a:spcBef>
              <a:spcAft>
                <a:spcPts val="0"/>
              </a:spcAft>
            </a:pPr>
            <a:r>
              <a:rPr sz="1000" b="0" i="0">
                <a:solidFill>
                  <a:srgbClr val="6D7791"/>
                </a:solidFill>
                <a:latin typeface="Consolas"/>
              </a:rPr>
              <a:t>THE ONE IDEA</a:t>
            </a:r>
          </a:p>
        </p:txBody>
      </p:sp>
      <p:sp>
        <p:nvSpPr>
          <p:cNvPr id="8" name="TextBox 7"/>
          <p:cNvSpPr txBox="1"/>
          <p:nvPr/>
        </p:nvSpPr>
        <p:spPr>
          <a:xfrm>
            <a:off x="868680" y="4206240"/>
            <a:ext cx="10515600" cy="4023360"/>
          </a:xfrm>
          <a:prstGeom prst="rect">
            <a:avLst/>
          </a:prstGeom>
          <a:noFill/>
        </p:spPr>
        <p:txBody>
          <a:bodyPr wrap="square" lIns="0" rIns="0" tIns="0" bIns="0">
            <a:spAutoFit/>
          </a:bodyPr>
          <a:lstStyle/>
          <a:p>
            <a:pPr algn="l">
              <a:lnSpc>
                <a:spcPct val="118000"/>
              </a:lnSpc>
              <a:spcBef>
                <a:spcPts val="0"/>
              </a:spcBef>
            </a:pPr>
            <a:r>
              <a:rPr sz="1500" b="1">
                <a:solidFill>
                  <a:srgbClr val="EEF1F7"/>
                </a:solidFill>
                <a:latin typeface="Calibri"/>
              </a:rPr>
              <a:t>— Offending a devotee  </a:t>
            </a:r>
            <a:r>
              <a:rPr sz="1500">
                <a:solidFill>
                  <a:srgbClr val="A6B1C8"/>
                </a:solidFill>
                <a:latin typeface="Calibri"/>
              </a:rPr>
              <a:t>takes away your spiritual strength.</a:t>
            </a:r>
          </a:p>
          <a:p>
            <a:pPr>
              <a:lnSpc>
                <a:spcPct val="118000"/>
              </a:lnSpc>
              <a:spcBef>
                <a:spcPts val="800"/>
              </a:spcBef>
            </a:pPr>
            <a:r>
              <a:rPr sz="1500" b="1">
                <a:solidFill>
                  <a:srgbClr val="EEF1F7"/>
                </a:solidFill>
                <a:latin typeface="Calibri"/>
              </a:rPr>
              <a:t>— Without that strength,  </a:t>
            </a:r>
            <a:r>
              <a:rPr sz="1500">
                <a:solidFill>
                  <a:srgbClr val="A6B1C8"/>
                </a:solidFill>
                <a:latin typeface="Calibri"/>
              </a:rPr>
              <a:t>you cannot resist bad association.</a:t>
            </a:r>
          </a:p>
          <a:p>
            <a:pPr>
              <a:lnSpc>
                <a:spcPct val="118000"/>
              </a:lnSpc>
              <a:spcBef>
                <a:spcPts val="800"/>
              </a:spcBef>
            </a:pPr>
            <a:r>
              <a:rPr sz="1500" b="1">
                <a:solidFill>
                  <a:srgbClr val="EEF1F7"/>
                </a:solidFill>
                <a:latin typeface="Calibri"/>
              </a:rPr>
              <a:t>— Bad association  </a:t>
            </a:r>
            <a:r>
              <a:rPr sz="1500">
                <a:solidFill>
                  <a:srgbClr val="A6B1C8"/>
                </a:solidFill>
                <a:latin typeface="Calibri"/>
              </a:rPr>
              <a:t>gives you anarthas — unwanted things, in the way.</a:t>
            </a:r>
          </a:p>
          <a:p>
            <a:pPr>
              <a:lnSpc>
                <a:spcPct val="118000"/>
              </a:lnSpc>
              <a:spcBef>
                <a:spcPts val="800"/>
              </a:spcBef>
            </a:pPr>
            <a:r>
              <a:rPr sz="1500" b="1">
                <a:solidFill>
                  <a:srgbClr val="EEF1F7"/>
                </a:solidFill>
                <a:latin typeface="Calibri"/>
              </a:rPr>
              <a:t>— Anarthas  </a:t>
            </a:r>
            <a:r>
              <a:rPr sz="1500">
                <a:solidFill>
                  <a:srgbClr val="A6B1C8"/>
                </a:solidFill>
                <a:latin typeface="Calibri"/>
              </a:rPr>
              <a:t>bring more offences. This loop has no bottom.</a:t>
            </a:r>
          </a:p>
        </p:txBody>
      </p:sp>
      <p:sp>
        <p:nvSpPr>
          <p:cNvPr id="9" name="Rounded Rectangle 8"/>
          <p:cNvSpPr/>
          <p:nvPr/>
        </p:nvSpPr>
        <p:spPr>
          <a:xfrm>
            <a:off x="868680" y="5715000"/>
            <a:ext cx="10515600" cy="64008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868680" y="5715000"/>
            <a:ext cx="38100" cy="64008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69848" y="5861304"/>
            <a:ext cx="10104120" cy="365759"/>
          </a:xfrm>
          <a:prstGeom prst="rect">
            <a:avLst/>
          </a:prstGeom>
          <a:noFill/>
        </p:spPr>
        <p:txBody>
          <a:bodyPr wrap="square" lIns="0" rIns="0" tIns="0" bIns="0">
            <a:spAutoFit/>
          </a:bodyPr>
          <a:lstStyle/>
          <a:p>
            <a:pPr algn="l">
              <a:lnSpc>
                <a:spcPct val="115000"/>
              </a:lnSpc>
            </a:pPr>
            <a:r>
              <a:rPr sz="1400" b="1">
                <a:solidFill>
                  <a:srgbClr val="C2624A"/>
                </a:solidFill>
                <a:latin typeface="Calibri"/>
              </a:rPr>
              <a:t>So what is the chapter about?  </a:t>
            </a:r>
            <a:r>
              <a:rPr sz="1400">
                <a:solidFill>
                  <a:srgbClr val="A6B1C8"/>
                </a:solidFill>
                <a:latin typeface="Calibri"/>
              </a:rPr>
              <a:t>The fight is only the setting. That chain is the chapter.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krama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Where we are in the text</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Every chapter of the Bhāgavatam answers a question somebody actually asked. Here the person asking is Mahārāja Parīkṣit. He has seven days left to live, so he does not waste words.</a:t>
            </a:r>
          </a:p>
        </p:txBody>
      </p:sp>
      <p:sp>
        <p:nvSpPr>
          <p:cNvPr id="6" name="Rounded Rectangle 5"/>
          <p:cNvSpPr/>
          <p:nvPr/>
        </p:nvSpPr>
        <p:spPr>
          <a:xfrm>
            <a:off x="868680" y="2377440"/>
            <a:ext cx="10515600" cy="960120"/>
          </a:xfrm>
          <a:prstGeom prst="roundRect">
            <a:avLst/>
          </a:prstGeom>
          <a:solidFill>
            <a:srgbClr val="1B2338"/>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24712" y="2542032"/>
            <a:ext cx="10012680" cy="685800"/>
          </a:xfrm>
          <a:prstGeom prst="rect">
            <a:avLst/>
          </a:prstGeom>
          <a:noFill/>
        </p:spPr>
        <p:txBody>
          <a:bodyPr wrap="square" lIns="0" rIns="0" tIns="0" bIns="0">
            <a:spAutoFit/>
          </a:bodyPr>
          <a:lstStyle/>
          <a:p>
            <a:pPr algn="l">
              <a:lnSpc>
                <a:spcPct val="115000"/>
              </a:lnSpc>
              <a:spcBef>
                <a:spcPts val="0"/>
              </a:spcBef>
              <a:spcAft>
                <a:spcPts val="0"/>
              </a:spcAft>
            </a:pPr>
            <a:r>
              <a:rPr sz="1600" b="0" i="1">
                <a:solidFill>
                  <a:srgbClr val="DBE2EE"/>
                </a:solidFill>
                <a:latin typeface="Georgia"/>
              </a:rPr>
              <a:t>“I wish to hear further about Śrī Balarāma, the unlimited and immeasurable Supreme Lord, whose activities are all astounding. What else did He do?”</a:t>
            </a:r>
          </a:p>
          <a:p>
            <a:pPr>
              <a:spcBef>
                <a:spcPts val="800"/>
              </a:spcBef>
              <a:spcAft>
                <a:spcPts val="0"/>
              </a:spcAft>
            </a:pPr>
            <a:r>
              <a:rPr sz="1000" b="0" i="0">
                <a:solidFill>
                  <a:srgbClr val="6D7791"/>
                </a:solidFill>
                <a:latin typeface="Consolas"/>
              </a:rPr>
              <a:t>PARĪKṢIT'S REQUEST · SB 10.67.1</a:t>
            </a:r>
          </a:p>
        </p:txBody>
      </p:sp>
      <p:graphicFrame>
        <p:nvGraphicFramePr>
          <p:cNvPr id="8" name="Table 7"/>
          <p:cNvGraphicFramePr>
            <a:graphicFrameLocks noGrp="1"/>
          </p:cNvGraphicFramePr>
          <p:nvPr/>
        </p:nvGraphicFramePr>
        <p:xfrm>
          <a:off x="868680" y="3611880"/>
          <a:ext cx="10515599" cy="2633472"/>
        </p:xfrm>
        <a:graphic>
          <a:graphicData uri="http://schemas.openxmlformats.org/drawingml/2006/table">
            <a:tbl>
              <a:tblPr firstRow="1" bandRow="1">
                <a:tableStyleId>{5C22544A-7EE6-4342-B048-85BDC9FD1C3A}</a:tableStyleId>
              </a:tblPr>
              <a:tblGrid>
                <a:gridCol w="1101634"/>
                <a:gridCol w="4406537"/>
                <a:gridCol w="5007428"/>
              </a:tblGrid>
              <a:tr h="658368">
                <a:tc>
                  <a:txBody>
                    <a:bodyPr wrap="square"/>
                    <a:lstStyle/>
                    <a:p>
                      <a:pPr>
                        <a:lnSpc>
                          <a:spcPct val="108000"/>
                        </a:lnSpc>
                      </a:pPr>
                      <a:r>
                        <a:rPr sz="1050" b="1">
                          <a:solidFill>
                            <a:srgbClr val="6D7791"/>
                          </a:solidFill>
                          <a:latin typeface="Consolas"/>
                        </a:rPr>
                        <a:t>CHAPTER</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WHAT HAPPENS</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WHY IT MATTERS HERE</a:t>
                      </a:r>
                    </a:p>
                  </a:txBody>
                  <a:tcPr marL="100584" marR="100584" marT="45720" marB="45720" anchor="t">
                    <a:solidFill>
                      <a:srgbClr val="1B2338"/>
                    </a:solidFill>
                  </a:tcPr>
                </a:tc>
              </a:tr>
              <a:tr h="658368">
                <a:tc>
                  <a:txBody>
                    <a:bodyPr wrap="square"/>
                    <a:lstStyle/>
                    <a:p>
                      <a:pPr>
                        <a:lnSpc>
                          <a:spcPct val="108000"/>
                        </a:lnSpc>
                      </a:pPr>
                      <a:r>
                        <a:rPr sz="1300" b="0">
                          <a:solidFill>
                            <a:srgbClr val="EEF1F7"/>
                          </a:solidFill>
                          <a:latin typeface="Calibri"/>
                        </a:rPr>
                        <a:t>10.65</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Balarāma visits Vṛndāvana after a long time away. He dances with the gopīs, drinks vāruṇī, and drags the Yamunā off her course with His plough.</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This is the same scene chapter 67 repeats. Dvivida walks into a scene we have already been shown.</a:t>
                      </a:r>
                    </a:p>
                  </a:txBody>
                  <a:tcPr marL="100584" marR="100584" marT="45720" marB="45720" anchor="t">
                    <a:solidFill>
                      <a:srgbClr val="141A2B"/>
                    </a:solidFill>
                  </a:tcPr>
                </a:tc>
              </a:tr>
              <a:tr h="658368">
                <a:tc>
                  <a:txBody>
                    <a:bodyPr wrap="square"/>
                    <a:lstStyle/>
                    <a:p>
                      <a:pPr>
                        <a:lnSpc>
                          <a:spcPct val="108000"/>
                        </a:lnSpc>
                      </a:pPr>
                      <a:r>
                        <a:rPr sz="1300" b="0">
                          <a:solidFill>
                            <a:srgbClr val="EEF1F7"/>
                          </a:solidFill>
                          <a:latin typeface="Calibri"/>
                        </a:rPr>
                        <a:t>10.66</a:t>
                      </a:r>
                    </a:p>
                  </a:txBody>
                  <a:tcPr marL="100584" marR="100584" marT="45720" marB="45720" anchor="t">
                    <a:solidFill>
                      <a:srgbClr val="0B0D14"/>
                    </a:solidFill>
                  </a:tcPr>
                </a:tc>
                <a:tc>
                  <a:txBody>
                    <a:bodyPr wrap="square"/>
                    <a:lstStyle/>
                    <a:p>
                      <a:pPr>
                        <a:lnSpc>
                          <a:spcPct val="108000"/>
                        </a:lnSpc>
                      </a:pPr>
                      <a:r>
                        <a:rPr sz="1300" b="0">
                          <a:solidFill>
                            <a:srgbClr val="A6B1C8"/>
                          </a:solidFill>
                          <a:latin typeface="Calibri"/>
                        </a:rPr>
                        <a:t>Kṛṣṇa kills Pauṇḍraka, the impostor who dressed as Viṣṇu and told Kṛṣṇa to hand over the insignia.</a:t>
                      </a:r>
                    </a:p>
                  </a:txBody>
                  <a:tcPr marL="100584" marR="100584" marT="45720" marB="45720" anchor="t">
                    <a:solidFill>
                      <a:srgbClr val="0B0D14"/>
                    </a:solidFill>
                  </a:tcPr>
                </a:tc>
                <a:tc>
                  <a:txBody>
                    <a:bodyPr wrap="square"/>
                    <a:lstStyle/>
                    <a:p>
                      <a:pPr>
                        <a:lnSpc>
                          <a:spcPct val="108000"/>
                        </a:lnSpc>
                      </a:pPr>
                      <a:r>
                        <a:rPr sz="1300" b="0">
                          <a:solidFill>
                            <a:srgbClr val="A6B1C8"/>
                          </a:solidFill>
                          <a:latin typeface="Calibri"/>
                        </a:rPr>
                        <a:t>Balarāma is still in Vṛndāvana, so Parīkṣit hears nothing about Him — which is why he asks again in 67.1.</a:t>
                      </a:r>
                    </a:p>
                  </a:txBody>
                  <a:tcPr marL="100584" marR="100584" marT="45720" marB="45720" anchor="t">
                    <a:solidFill>
                      <a:srgbClr val="0B0D14"/>
                    </a:solidFill>
                  </a:tcPr>
                </a:tc>
              </a:tr>
              <a:tr h="658368">
                <a:tc>
                  <a:txBody>
                    <a:bodyPr wrap="square"/>
                    <a:lstStyle/>
                    <a:p>
                      <a:pPr>
                        <a:lnSpc>
                          <a:spcPct val="108000"/>
                        </a:lnSpc>
                      </a:pPr>
                      <a:r>
                        <a:rPr sz="1300" b="0">
                          <a:solidFill>
                            <a:srgbClr val="EEF1F7"/>
                          </a:solidFill>
                          <a:latin typeface="Calibri"/>
                        </a:rPr>
                        <a:t>10.59</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Eight chapters earlier: Kṛṣṇa kills Narakāsura and frees 16,100 imprisoned princesses.</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This is the death that gives Dvivida his motive. He is not a random monster. He is a friend taking revenge for a friend.</a:t>
                      </a:r>
                    </a:p>
                  </a:txBody>
                  <a:tcPr marL="100584" marR="100584" marT="45720" marB="45720" anchor="t">
                    <a:solidFill>
                      <a:srgbClr val="141A2B"/>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kāla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Where we are in time — and why it matters</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Dvivida serves Sugrīva in Rāmacandra's pastimes and dies during Kṛṣṇa's. So if those two appearances are far apart, the chapter's first fact about him turns out to be a fact about his lifespan.</a:t>
            </a:r>
          </a:p>
        </p:txBody>
      </p:sp>
      <p:sp>
        <p:nvSpPr>
          <p:cNvPr id="6" name="Rounded Rectangle 5"/>
          <p:cNvSpPr/>
          <p:nvPr/>
        </p:nvSpPr>
        <p:spPr>
          <a:xfrm>
            <a:off x="868680" y="2468880"/>
            <a:ext cx="10515600" cy="45720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619794"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2370908"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122022"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873137"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624251"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375365"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26480"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877594"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628708"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379822"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9130937"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882051"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10633165"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5375365" y="2468880"/>
            <a:ext cx="751114" cy="457200"/>
          </a:xfrm>
          <a:prstGeom prst="roundRect">
            <a:avLst/>
          </a:prstGeom>
          <a:solidFill>
            <a:srgbClr val="1B2338"/>
          </a:solidFill>
          <a:ln w="2032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68680" y="2212848"/>
            <a:ext cx="10515600" cy="237744"/>
          </a:xfrm>
          <a:prstGeom prst="rect">
            <a:avLst/>
          </a:prstGeom>
          <a:noFill/>
        </p:spPr>
        <p:txBody>
          <a:bodyPr wrap="square" lIns="0" rIns="0" tIns="0" bIns="0">
            <a:spAutoFit/>
          </a:bodyPr>
          <a:lstStyle/>
          <a:p>
            <a:pPr algn="l">
              <a:spcBef>
                <a:spcPts val="0"/>
              </a:spcBef>
              <a:spcAft>
                <a:spcPts val="0"/>
              </a:spcAft>
            </a:pPr>
            <a:r>
              <a:rPr sz="1050" b="0" i="0">
                <a:solidFill>
                  <a:srgbClr val="6D7791"/>
                </a:solidFill>
                <a:latin typeface="Consolas"/>
              </a:rPr>
              <a:t>ONE DAY OF BRAHMĀ (KALPA) — 1,000 FOUR-YUGA CYCLES · 14 MANUS · ≈71 EACH</a:t>
            </a:r>
          </a:p>
        </p:txBody>
      </p:sp>
      <p:sp>
        <p:nvSpPr>
          <p:cNvPr id="22" name="TextBox 21"/>
          <p:cNvSpPr txBox="1"/>
          <p:nvPr/>
        </p:nvSpPr>
        <p:spPr>
          <a:xfrm>
            <a:off x="4699362" y="2999232"/>
            <a:ext cx="2926080" cy="274320"/>
          </a:xfrm>
          <a:prstGeom prst="rect">
            <a:avLst/>
          </a:prstGeom>
          <a:noFill/>
        </p:spPr>
        <p:txBody>
          <a:bodyPr wrap="square" lIns="0" rIns="0" tIns="0" bIns="0">
            <a:spAutoFit/>
          </a:bodyPr>
          <a:lstStyle/>
          <a:p>
            <a:pPr algn="l">
              <a:spcBef>
                <a:spcPts val="0"/>
              </a:spcBef>
              <a:spcAft>
                <a:spcPts val="0"/>
              </a:spcAft>
            </a:pPr>
            <a:r>
              <a:rPr sz="1200" b="1" i="0">
                <a:solidFill>
                  <a:srgbClr val="EEF1F7"/>
                </a:solidFill>
                <a:latin typeface="Calibri"/>
              </a:rPr>
              <a:t>Manu 7 — Vaivasvata</a:t>
            </a:r>
          </a:p>
        </p:txBody>
      </p:sp>
      <p:sp>
        <p:nvSpPr>
          <p:cNvPr id="23" name="Rounded Rectangle 22"/>
          <p:cNvSpPr/>
          <p:nvPr/>
        </p:nvSpPr>
        <p:spPr>
          <a:xfrm>
            <a:off x="868680" y="3703320"/>
            <a:ext cx="10515600" cy="45720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68680" y="3456432"/>
            <a:ext cx="10515600" cy="237744"/>
          </a:xfrm>
          <a:prstGeom prst="rect">
            <a:avLst/>
          </a:prstGeom>
          <a:noFill/>
        </p:spPr>
        <p:txBody>
          <a:bodyPr wrap="square" lIns="0" rIns="0" tIns="0" bIns="0">
            <a:spAutoFit/>
          </a:bodyPr>
          <a:lstStyle/>
          <a:p>
            <a:pPr algn="l">
              <a:spcBef>
                <a:spcPts val="0"/>
              </a:spcBef>
              <a:spcAft>
                <a:spcPts val="0"/>
              </a:spcAft>
            </a:pPr>
            <a:r>
              <a:rPr sz="1050" b="0" i="0">
                <a:solidFill>
                  <a:srgbClr val="6D7791"/>
                </a:solidFill>
                <a:latin typeface="Consolas"/>
              </a:rPr>
              <a:t>71 FOUR-YUGA CYCLES OF VAIVASVATA MANU</a:t>
            </a:r>
          </a:p>
        </p:txBody>
      </p:sp>
      <p:sp>
        <p:nvSpPr>
          <p:cNvPr id="25" name="Rectangle 24"/>
          <p:cNvSpPr/>
          <p:nvPr/>
        </p:nvSpPr>
        <p:spPr>
          <a:xfrm>
            <a:off x="4349195" y="3703320"/>
            <a:ext cx="148107" cy="45720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941623" y="3703320"/>
            <a:ext cx="148107" cy="457200"/>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349195" y="4224528"/>
            <a:ext cx="666481" cy="7620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297680" y="4187952"/>
            <a:ext cx="7040880" cy="548640"/>
          </a:xfrm>
          <a:prstGeom prst="rect">
            <a:avLst/>
          </a:prstGeom>
          <a:noFill/>
        </p:spPr>
        <p:txBody>
          <a:bodyPr wrap="square" lIns="0" rIns="0" tIns="0" bIns="0">
            <a:spAutoFit/>
          </a:bodyPr>
          <a:lstStyle/>
          <a:p>
            <a:pPr algn="l">
              <a:spcBef>
                <a:spcPts val="0"/>
              </a:spcBef>
              <a:spcAft>
                <a:spcPts val="0"/>
              </a:spcAft>
            </a:pPr>
            <a:r>
              <a:rPr sz="1400" b="0" i="0">
                <a:solidFill>
                  <a:srgbClr val="C2624A"/>
                </a:solidFill>
                <a:latin typeface="Calibri"/>
              </a:rPr>
              <a:t>Dvivida is alive through all of this — about 4 yuga-cycles, tens of millions of years.</a:t>
            </a:r>
          </a:p>
          <a:p>
            <a:pPr>
              <a:spcBef>
                <a:spcPts val="400"/>
              </a:spcBef>
              <a:spcAft>
                <a:spcPts val="0"/>
              </a:spcAft>
            </a:pPr>
            <a:r>
              <a:rPr sz="1200" b="0" i="0">
                <a:solidFill>
                  <a:srgbClr val="6D7791"/>
                </a:solidFill>
                <a:latin typeface="Consolas"/>
              </a:rPr>
              <a:t>Rāmacandra: cycle 24, Tretā-yuga.    Kṛṣṇa &amp; Balarāma: cycle 28, end of Dvāpara.</a:t>
            </a:r>
          </a:p>
        </p:txBody>
      </p:sp>
      <p:sp>
        <p:nvSpPr>
          <p:cNvPr id="29" name="Rounded Rectangle 28"/>
          <p:cNvSpPr/>
          <p:nvPr/>
        </p:nvSpPr>
        <p:spPr>
          <a:xfrm>
            <a:off x="868680" y="5074920"/>
            <a:ext cx="10515600" cy="123444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68680" y="5074920"/>
            <a:ext cx="38100" cy="1234440"/>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69848" y="5221224"/>
            <a:ext cx="10104120" cy="960120"/>
          </a:xfrm>
          <a:prstGeom prst="rect">
            <a:avLst/>
          </a:prstGeom>
          <a:noFill/>
        </p:spPr>
        <p:txBody>
          <a:bodyPr wrap="square" lIns="0" rIns="0" tIns="0" bIns="0">
            <a:spAutoFit/>
          </a:bodyPr>
          <a:lstStyle/>
          <a:p>
            <a:pPr algn="l">
              <a:lnSpc>
                <a:spcPct val="115000"/>
              </a:lnSpc>
            </a:pPr>
            <a:r>
              <a:rPr sz="1400" b="1">
                <a:solidFill>
                  <a:srgbClr val="EEF1F7"/>
                </a:solidFill>
                <a:latin typeface="Calibri"/>
              </a:rPr>
              <a:t>Cirañjīva —  </a:t>
            </a:r>
            <a:r>
              <a:rPr sz="1400">
                <a:solidFill>
                  <a:srgbClr val="A6B1C8"/>
                </a:solidFill>
                <a:latin typeface="Calibri"/>
              </a:rPr>
              <a:t>a being granted exceptional longevity, persisting across yuga-cycles. So is Jāmbavān, who fights in Rāma's pastimes and again in Kṛṣṇa's, and whose daughter Jāmbavatī becomes one of Kṛṣṇa's principal queens. The same lifespan made one the Lord's father-in-law and the other His enemy — longevity is not the deciding variable.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janma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Born to serve Rāma</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Dvivida was not born a demon. He was born on purpose, to help the Lord.</a:t>
            </a:r>
          </a:p>
        </p:txBody>
      </p:sp>
      <p:sp>
        <p:nvSpPr>
          <p:cNvPr id="6" name="TextBox 5"/>
          <p:cNvSpPr txBox="1"/>
          <p:nvPr/>
        </p:nvSpPr>
        <p:spPr>
          <a:xfrm>
            <a:off x="868680" y="2331720"/>
            <a:ext cx="10515600" cy="4023360"/>
          </a:xfrm>
          <a:prstGeom prst="rect">
            <a:avLst/>
          </a:prstGeom>
          <a:noFill/>
        </p:spPr>
        <p:txBody>
          <a:bodyPr wrap="square" lIns="0" rIns="0" tIns="0" bIns="0">
            <a:spAutoFit/>
          </a:bodyPr>
          <a:lstStyle/>
          <a:p>
            <a:pPr algn="l">
              <a:lnSpc>
                <a:spcPct val="118000"/>
              </a:lnSpc>
              <a:spcBef>
                <a:spcPts val="0"/>
              </a:spcBef>
            </a:pPr>
            <a:r>
              <a:rPr sz="1500" b="1">
                <a:solidFill>
                  <a:srgbClr val="EEF1F7"/>
                </a:solidFill>
                <a:latin typeface="Calibri"/>
              </a:rPr>
              <a:t>— The loophole.  </a:t>
            </a:r>
            <a:r>
              <a:rPr sz="1500">
                <a:solidFill>
                  <a:srgbClr val="A6B1C8"/>
                </a:solidFill>
                <a:latin typeface="Calibri"/>
              </a:rPr>
              <a:t>Rāvaṇa had asked Brahmā to make him unkillable by demigods, demons, snakes and the rest — and forgot to mention animals. So Viṣṇu told the demigods: have sons in the shapes he left out.</a:t>
            </a:r>
          </a:p>
          <a:p>
            <a:pPr>
              <a:lnSpc>
                <a:spcPct val="118000"/>
              </a:lnSpc>
              <a:spcBef>
                <a:spcPts val="1100"/>
              </a:spcBef>
            </a:pPr>
            <a:r>
              <a:rPr sz="1500" b="1">
                <a:solidFill>
                  <a:srgbClr val="EEF1F7"/>
                </a:solidFill>
                <a:latin typeface="Calibri"/>
              </a:rPr>
              <a:t>— That is why the demigods fathered monkeys.  </a:t>
            </a:r>
            <a:r>
              <a:rPr sz="1500">
                <a:solidFill>
                  <a:srgbClr val="A6B1C8"/>
                </a:solidFill>
                <a:latin typeface="Calibri"/>
              </a:rPr>
              <a:t>The Aśvinī-kumāras had two sons, Mainda and Dvivida. Brothers. Both became ministers to Sugrīva, the monkey king.</a:t>
            </a:r>
          </a:p>
          <a:p>
            <a:pPr>
              <a:lnSpc>
                <a:spcPct val="118000"/>
              </a:lnSpc>
              <a:spcBef>
                <a:spcPts val="1100"/>
              </a:spcBef>
            </a:pPr>
            <a:r>
              <a:rPr sz="1500" b="1">
                <a:solidFill>
                  <a:srgbClr val="EEF1F7"/>
                </a:solidFill>
                <a:latin typeface="Calibri"/>
              </a:rPr>
              <a:t>— They helped look for Sītā.  </a:t>
            </a:r>
            <a:r>
              <a:rPr sz="1500">
                <a:solidFill>
                  <a:srgbClr val="A6B1C8"/>
                </a:solidFill>
                <a:latin typeface="Calibri"/>
              </a:rPr>
              <a:t>Both went south with Aṅgada's party of thirty thousand monkeys, Hanumān among them — the party that Sampāti, Jaṭāyu's elder brother, finally sent to the Aśoka grove in Laṅkā.</a:t>
            </a:r>
          </a:p>
          <a:p>
            <a:pPr>
              <a:lnSpc>
                <a:spcPct val="118000"/>
              </a:lnSpc>
              <a:spcBef>
                <a:spcPts val="1100"/>
              </a:spcBef>
            </a:pPr>
            <a:r>
              <a:rPr sz="1500" b="1">
                <a:solidFill>
                  <a:srgbClr val="EEF1F7"/>
                </a:solidFill>
                <a:latin typeface="Calibri"/>
              </a:rPr>
              <a:t>— And he was one of the five asked to stay.  </a:t>
            </a:r>
            <a:r>
              <a:rPr sz="1500">
                <a:solidFill>
                  <a:srgbClr val="A6B1C8"/>
                </a:solidFill>
                <a:latin typeface="Calibri"/>
              </a:rPr>
              <a:t>Before Rāmacandra walked into the Sarayū river, He named five devotees who were to remain: Hanumān, Jāmbavān, Vibhīṣaṇa, Mainda — and Dvivida.</a:t>
            </a:r>
          </a:p>
        </p:txBody>
      </p:sp>
      <p:sp>
        <p:nvSpPr>
          <p:cNvPr id="7" name="Rounded Rectangle 6"/>
          <p:cNvSpPr/>
          <p:nvPr/>
        </p:nvSpPr>
        <p:spPr>
          <a:xfrm>
            <a:off x="868680" y="5257800"/>
            <a:ext cx="10515600" cy="105156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5257800"/>
            <a:ext cx="38100" cy="105156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5404104"/>
            <a:ext cx="10104120" cy="777239"/>
          </a:xfrm>
          <a:prstGeom prst="rect">
            <a:avLst/>
          </a:prstGeom>
          <a:noFill/>
        </p:spPr>
        <p:txBody>
          <a:bodyPr wrap="square" lIns="0" rIns="0" tIns="0" bIns="0">
            <a:spAutoFit/>
          </a:bodyPr>
          <a:lstStyle/>
          <a:p>
            <a:pPr algn="l">
              <a:lnSpc>
                <a:spcPct val="115000"/>
              </a:lnSpc>
            </a:pPr>
            <a:r>
              <a:rPr sz="1400" b="1">
                <a:solidFill>
                  <a:srgbClr val="C2624A"/>
                </a:solidFill>
                <a:latin typeface="Calibri"/>
              </a:rPr>
              <a:t>This is the fact the whole chapter turns on.  </a:t>
            </a:r>
            <a:r>
              <a:rPr sz="1400">
                <a:solidFill>
                  <a:srgbClr val="A6B1C8"/>
                </a:solidFill>
                <a:latin typeface="Calibri"/>
              </a:rPr>
              <a:t>The Lord Himself picked him to stay. So everything that happens next happens to someone the Lord chose — which is why “could this happen to me?” is a real question, not a rhetorical 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bala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measure of his strength</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The Bhāgavatam does not just say he was strong. It gives numbers, twice. That strength is what his pride was made of, and the pride is the first link in the chain.</a:t>
            </a:r>
          </a:p>
        </p:txBody>
      </p:sp>
      <p:sp>
        <p:nvSpPr>
          <p:cNvPr id="6" name="TextBox 5"/>
          <p:cNvSpPr txBox="1"/>
          <p:nvPr/>
        </p:nvSpPr>
        <p:spPr>
          <a:xfrm>
            <a:off x="868680" y="2331720"/>
            <a:ext cx="10515600" cy="274320"/>
          </a:xfrm>
          <a:prstGeom prst="rect">
            <a:avLst/>
          </a:prstGeom>
          <a:noFill/>
        </p:spPr>
        <p:txBody>
          <a:bodyPr wrap="square" lIns="0" rIns="0" tIns="0" bIns="0">
            <a:spAutoFit/>
          </a:bodyPr>
          <a:lstStyle/>
          <a:p>
            <a:pPr algn="l">
              <a:spcBef>
                <a:spcPts val="0"/>
              </a:spcBef>
              <a:spcAft>
                <a:spcPts val="0"/>
              </a:spcAft>
            </a:pPr>
            <a:r>
              <a:rPr sz="1050" b="0" i="0">
                <a:solidFill>
                  <a:srgbClr val="6D7791"/>
                </a:solidFill>
                <a:latin typeface="Consolas"/>
              </a:rPr>
              <a:t>THE JUMPING CONTEST AT THE SOUTHERN SHORE — WHO CAN CROSS 100 YOJANAS (≈800 MILES)?</a:t>
            </a:r>
          </a:p>
        </p:txBody>
      </p:sp>
      <p:sp>
        <p:nvSpPr>
          <p:cNvPr id="7" name="TextBox 6"/>
          <p:cNvSpPr txBox="1"/>
          <p:nvPr/>
        </p:nvSpPr>
        <p:spPr>
          <a:xfrm>
            <a:off x="868680" y="2697480"/>
            <a:ext cx="1188720" cy="274320"/>
          </a:xfrm>
          <a:prstGeom prst="rect">
            <a:avLst/>
          </a:prstGeom>
          <a:noFill/>
        </p:spPr>
        <p:txBody>
          <a:bodyPr wrap="square" lIns="0" rIns="0" tIns="0" bIns="0">
            <a:spAutoFit/>
          </a:bodyPr>
          <a:lstStyle/>
          <a:p>
            <a:pPr algn="r">
              <a:spcBef>
                <a:spcPts val="0"/>
              </a:spcBef>
              <a:spcAft>
                <a:spcPts val="0"/>
              </a:spcAft>
            </a:pPr>
            <a:r>
              <a:rPr sz="1300" b="1" i="0">
                <a:solidFill>
                  <a:srgbClr val="EEF1F7"/>
                </a:solidFill>
                <a:latin typeface="Calibri"/>
              </a:rPr>
              <a:t>Gaja</a:t>
            </a:r>
          </a:p>
        </p:txBody>
      </p:sp>
      <p:sp>
        <p:nvSpPr>
          <p:cNvPr id="8" name="Rectangle 7"/>
          <p:cNvSpPr/>
          <p:nvPr/>
        </p:nvSpPr>
        <p:spPr>
          <a:xfrm>
            <a:off x="2148840" y="2670048"/>
            <a:ext cx="585216" cy="237744"/>
          </a:xfrm>
          <a:prstGeom prst="rect">
            <a:avLst/>
          </a:prstGeom>
          <a:solidFill>
            <a:srgbClr val="3D4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843784" y="2688336"/>
            <a:ext cx="4206240" cy="274320"/>
          </a:xfrm>
          <a:prstGeom prst="rect">
            <a:avLst/>
          </a:prstGeom>
          <a:noFill/>
        </p:spPr>
        <p:txBody>
          <a:bodyPr wrap="square" lIns="0" rIns="0" tIns="0" bIns="0">
            <a:spAutoFit/>
          </a:bodyPr>
          <a:lstStyle/>
          <a:p>
            <a:pPr algn="l">
              <a:spcBef>
                <a:spcPts val="0"/>
              </a:spcBef>
              <a:spcAft>
                <a:spcPts val="0"/>
              </a:spcAft>
            </a:pPr>
            <a:r>
              <a:rPr sz="1150" b="0" i="0">
                <a:solidFill>
                  <a:srgbClr val="6D7791"/>
                </a:solidFill>
                <a:latin typeface="Consolas"/>
              </a:rPr>
              <a:t>10 yojanas · 80 mi</a:t>
            </a:r>
          </a:p>
        </p:txBody>
      </p:sp>
      <p:sp>
        <p:nvSpPr>
          <p:cNvPr id="10" name="TextBox 9"/>
          <p:cNvSpPr txBox="1"/>
          <p:nvPr/>
        </p:nvSpPr>
        <p:spPr>
          <a:xfrm>
            <a:off x="868680" y="3099816"/>
            <a:ext cx="1188720" cy="274320"/>
          </a:xfrm>
          <a:prstGeom prst="rect">
            <a:avLst/>
          </a:prstGeom>
          <a:noFill/>
        </p:spPr>
        <p:txBody>
          <a:bodyPr wrap="square" lIns="0" rIns="0" tIns="0" bIns="0">
            <a:spAutoFit/>
          </a:bodyPr>
          <a:lstStyle/>
          <a:p>
            <a:pPr algn="r">
              <a:spcBef>
                <a:spcPts val="0"/>
              </a:spcBef>
              <a:spcAft>
                <a:spcPts val="0"/>
              </a:spcAft>
            </a:pPr>
            <a:r>
              <a:rPr sz="1300" b="1" i="0">
                <a:solidFill>
                  <a:srgbClr val="EEF1F7"/>
                </a:solidFill>
                <a:latin typeface="Calibri"/>
              </a:rPr>
              <a:t>Gavākṣa</a:t>
            </a:r>
          </a:p>
        </p:txBody>
      </p:sp>
      <p:sp>
        <p:nvSpPr>
          <p:cNvPr id="11" name="Rectangle 10"/>
          <p:cNvSpPr/>
          <p:nvPr/>
        </p:nvSpPr>
        <p:spPr>
          <a:xfrm>
            <a:off x="2148840" y="3072384"/>
            <a:ext cx="1170432" cy="237744"/>
          </a:xfrm>
          <a:prstGeom prst="rect">
            <a:avLst/>
          </a:prstGeom>
          <a:solidFill>
            <a:srgbClr val="3D4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429000" y="3090672"/>
            <a:ext cx="4206240" cy="274320"/>
          </a:xfrm>
          <a:prstGeom prst="rect">
            <a:avLst/>
          </a:prstGeom>
          <a:noFill/>
        </p:spPr>
        <p:txBody>
          <a:bodyPr wrap="square" lIns="0" rIns="0" tIns="0" bIns="0">
            <a:spAutoFit/>
          </a:bodyPr>
          <a:lstStyle/>
          <a:p>
            <a:pPr algn="l">
              <a:spcBef>
                <a:spcPts val="0"/>
              </a:spcBef>
              <a:spcAft>
                <a:spcPts val="0"/>
              </a:spcAft>
            </a:pPr>
            <a:r>
              <a:rPr sz="1150" b="0" i="0">
                <a:solidFill>
                  <a:srgbClr val="6D7791"/>
                </a:solidFill>
                <a:latin typeface="Consolas"/>
              </a:rPr>
              <a:t>20 yojanas · 160 mi</a:t>
            </a:r>
          </a:p>
        </p:txBody>
      </p:sp>
      <p:sp>
        <p:nvSpPr>
          <p:cNvPr id="13" name="TextBox 12"/>
          <p:cNvSpPr txBox="1"/>
          <p:nvPr/>
        </p:nvSpPr>
        <p:spPr>
          <a:xfrm>
            <a:off x="868680" y="3502152"/>
            <a:ext cx="1188720" cy="274320"/>
          </a:xfrm>
          <a:prstGeom prst="rect">
            <a:avLst/>
          </a:prstGeom>
          <a:noFill/>
        </p:spPr>
        <p:txBody>
          <a:bodyPr wrap="square" lIns="0" rIns="0" tIns="0" bIns="0">
            <a:spAutoFit/>
          </a:bodyPr>
          <a:lstStyle/>
          <a:p>
            <a:pPr algn="r">
              <a:spcBef>
                <a:spcPts val="0"/>
              </a:spcBef>
              <a:spcAft>
                <a:spcPts val="0"/>
              </a:spcAft>
            </a:pPr>
            <a:r>
              <a:rPr sz="1300" b="1" i="0">
                <a:solidFill>
                  <a:srgbClr val="EEF1F7"/>
                </a:solidFill>
                <a:latin typeface="Calibri"/>
              </a:rPr>
              <a:t>Mainda</a:t>
            </a:r>
          </a:p>
        </p:txBody>
      </p:sp>
      <p:sp>
        <p:nvSpPr>
          <p:cNvPr id="14" name="Rectangle 13"/>
          <p:cNvSpPr/>
          <p:nvPr/>
        </p:nvSpPr>
        <p:spPr>
          <a:xfrm>
            <a:off x="2148840" y="3474720"/>
            <a:ext cx="3511296" cy="237744"/>
          </a:xfrm>
          <a:prstGeom prst="rect">
            <a:avLst/>
          </a:prstGeom>
          <a:solidFill>
            <a:srgbClr val="8E86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769864" y="3493008"/>
            <a:ext cx="4206240" cy="274320"/>
          </a:xfrm>
          <a:prstGeom prst="rect">
            <a:avLst/>
          </a:prstGeom>
          <a:noFill/>
        </p:spPr>
        <p:txBody>
          <a:bodyPr wrap="square" lIns="0" rIns="0" tIns="0" bIns="0">
            <a:spAutoFit/>
          </a:bodyPr>
          <a:lstStyle/>
          <a:p>
            <a:pPr algn="l">
              <a:spcBef>
                <a:spcPts val="0"/>
              </a:spcBef>
              <a:spcAft>
                <a:spcPts val="0"/>
              </a:spcAft>
            </a:pPr>
            <a:r>
              <a:rPr sz="1150" b="0" i="0">
                <a:solidFill>
                  <a:srgbClr val="8E86BB"/>
                </a:solidFill>
                <a:latin typeface="Consolas"/>
              </a:rPr>
              <a:t>60 yojanas · 480 mi — “I am capable”</a:t>
            </a:r>
          </a:p>
        </p:txBody>
      </p:sp>
      <p:sp>
        <p:nvSpPr>
          <p:cNvPr id="16" name="TextBox 15"/>
          <p:cNvSpPr txBox="1"/>
          <p:nvPr/>
        </p:nvSpPr>
        <p:spPr>
          <a:xfrm>
            <a:off x="868680" y="3904488"/>
            <a:ext cx="1188720" cy="274320"/>
          </a:xfrm>
          <a:prstGeom prst="rect">
            <a:avLst/>
          </a:prstGeom>
          <a:noFill/>
        </p:spPr>
        <p:txBody>
          <a:bodyPr wrap="square" lIns="0" rIns="0" tIns="0" bIns="0">
            <a:spAutoFit/>
          </a:bodyPr>
          <a:lstStyle/>
          <a:p>
            <a:pPr algn="r">
              <a:spcBef>
                <a:spcPts val="0"/>
              </a:spcBef>
              <a:spcAft>
                <a:spcPts val="0"/>
              </a:spcAft>
            </a:pPr>
            <a:r>
              <a:rPr sz="1300" b="1" i="0">
                <a:solidFill>
                  <a:srgbClr val="EEF1F7"/>
                </a:solidFill>
                <a:latin typeface="Calibri"/>
              </a:rPr>
              <a:t>Dvivida</a:t>
            </a:r>
          </a:p>
        </p:txBody>
      </p:sp>
      <p:sp>
        <p:nvSpPr>
          <p:cNvPr id="17" name="Rectangle 16"/>
          <p:cNvSpPr/>
          <p:nvPr/>
        </p:nvSpPr>
        <p:spPr>
          <a:xfrm>
            <a:off x="2148840" y="3877056"/>
            <a:ext cx="4096512" cy="237744"/>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5080" y="3895344"/>
            <a:ext cx="4206240" cy="274320"/>
          </a:xfrm>
          <a:prstGeom prst="rect">
            <a:avLst/>
          </a:prstGeom>
          <a:noFill/>
        </p:spPr>
        <p:txBody>
          <a:bodyPr wrap="square" lIns="0" rIns="0" tIns="0" bIns="0">
            <a:spAutoFit/>
          </a:bodyPr>
          <a:lstStyle/>
          <a:p>
            <a:pPr algn="l">
              <a:spcBef>
                <a:spcPts val="0"/>
              </a:spcBef>
              <a:spcAft>
                <a:spcPts val="0"/>
              </a:spcAft>
            </a:pPr>
            <a:r>
              <a:rPr sz="1150" b="0" i="0">
                <a:solidFill>
                  <a:srgbClr val="C2624A"/>
                </a:solidFill>
                <a:latin typeface="Consolas"/>
              </a:rPr>
              <a:t>70 yojanas · 560 mi — “Mainda was not as strong as me”</a:t>
            </a:r>
          </a:p>
        </p:txBody>
      </p:sp>
      <p:sp>
        <p:nvSpPr>
          <p:cNvPr id="19" name="TextBox 18"/>
          <p:cNvSpPr txBox="1"/>
          <p:nvPr/>
        </p:nvSpPr>
        <p:spPr>
          <a:xfrm>
            <a:off x="868680" y="4306824"/>
            <a:ext cx="1188720" cy="274320"/>
          </a:xfrm>
          <a:prstGeom prst="rect">
            <a:avLst/>
          </a:prstGeom>
          <a:noFill/>
        </p:spPr>
        <p:txBody>
          <a:bodyPr wrap="square" lIns="0" rIns="0" tIns="0" bIns="0">
            <a:spAutoFit/>
          </a:bodyPr>
          <a:lstStyle/>
          <a:p>
            <a:pPr algn="r">
              <a:spcBef>
                <a:spcPts val="0"/>
              </a:spcBef>
              <a:spcAft>
                <a:spcPts val="0"/>
              </a:spcAft>
            </a:pPr>
            <a:r>
              <a:rPr sz="1300" b="1" i="0">
                <a:solidFill>
                  <a:srgbClr val="EEF1F7"/>
                </a:solidFill>
                <a:latin typeface="Calibri"/>
              </a:rPr>
              <a:t>Hanumān</a:t>
            </a:r>
          </a:p>
        </p:txBody>
      </p:sp>
      <p:sp>
        <p:nvSpPr>
          <p:cNvPr id="20" name="Rectangle 19"/>
          <p:cNvSpPr/>
          <p:nvPr/>
        </p:nvSpPr>
        <p:spPr>
          <a:xfrm>
            <a:off x="2148840" y="4279392"/>
            <a:ext cx="5852160" cy="237744"/>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10728" y="4297680"/>
            <a:ext cx="4206240" cy="274320"/>
          </a:xfrm>
          <a:prstGeom prst="rect">
            <a:avLst/>
          </a:prstGeom>
          <a:noFill/>
        </p:spPr>
        <p:txBody>
          <a:bodyPr wrap="square" lIns="0" rIns="0" tIns="0" bIns="0">
            <a:spAutoFit/>
          </a:bodyPr>
          <a:lstStyle/>
          <a:p>
            <a:pPr algn="l">
              <a:spcBef>
                <a:spcPts val="0"/>
              </a:spcBef>
              <a:spcAft>
                <a:spcPts val="0"/>
              </a:spcAft>
            </a:pPr>
            <a:r>
              <a:rPr sz="1150" b="0" i="0">
                <a:solidFill>
                  <a:srgbClr val="EEF1F7"/>
                </a:solidFill>
                <a:latin typeface="Consolas"/>
              </a:rPr>
              <a:t>“a hundred yojanas — and back again.” The only one who did not compare himself.</a:t>
            </a:r>
          </a:p>
        </p:txBody>
      </p:sp>
      <p:sp>
        <p:nvSpPr>
          <p:cNvPr id="22" name="Rounded Rectangle 21"/>
          <p:cNvSpPr/>
          <p:nvPr/>
        </p:nvSpPr>
        <p:spPr>
          <a:xfrm>
            <a:off x="868680" y="4846320"/>
            <a:ext cx="10515600" cy="9601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868680" y="4846320"/>
            <a:ext cx="38100" cy="96012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69848" y="4992624"/>
            <a:ext cx="10104120" cy="685800"/>
          </a:xfrm>
          <a:prstGeom prst="rect">
            <a:avLst/>
          </a:prstGeom>
          <a:noFill/>
        </p:spPr>
        <p:txBody>
          <a:bodyPr wrap="square" lIns="0" rIns="0" tIns="0" bIns="0">
            <a:spAutoFit/>
          </a:bodyPr>
          <a:lstStyle/>
          <a:p>
            <a:pPr algn="l">
              <a:lnSpc>
                <a:spcPct val="115000"/>
              </a:lnSpc>
            </a:pPr>
            <a:r>
              <a:rPr sz="1400" b="1">
                <a:solidFill>
                  <a:srgbClr val="D9A441"/>
                </a:solidFill>
                <a:latin typeface="Calibri"/>
              </a:rPr>
              <a:t>Listen to how they say it.  </a:t>
            </a:r>
            <a:r>
              <a:rPr sz="1400">
                <a:solidFill>
                  <a:srgbClr val="A6B1C8"/>
                </a:solidFill>
                <a:latin typeface="Calibri"/>
              </a:rPr>
              <a:t>Mainda says what he can do. Dvivida says he can do more than Mainda. That comparison is the moment strength turns into pride in strength — bala into bala-abhimāna.</a:t>
            </a:r>
          </a:p>
        </p:txBody>
      </p:sp>
      <p:sp>
        <p:nvSpPr>
          <p:cNvPr id="25" name="Rounded Rectangle 24"/>
          <p:cNvSpPr/>
          <p:nvPr/>
        </p:nvSpPr>
        <p:spPr>
          <a:xfrm>
            <a:off x="868680" y="5897880"/>
            <a:ext cx="10515600" cy="77724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868680" y="5897880"/>
            <a:ext cx="38100" cy="777240"/>
          </a:xfrm>
          <a:prstGeom prst="rect">
            <a:avLst/>
          </a:prstGeom>
          <a:solidFill>
            <a:srgbClr val="A6B1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69848" y="6044184"/>
            <a:ext cx="10104120" cy="502920"/>
          </a:xfrm>
          <a:prstGeom prst="rect">
            <a:avLst/>
          </a:prstGeom>
          <a:noFill/>
        </p:spPr>
        <p:txBody>
          <a:bodyPr wrap="square" lIns="0" rIns="0" tIns="0" bIns="0">
            <a:spAutoFit/>
          </a:bodyPr>
          <a:lstStyle/>
          <a:p>
            <a:pPr algn="l">
              <a:lnSpc>
                <a:spcPct val="115000"/>
              </a:lnSpc>
            </a:pPr>
            <a:r>
              <a:rPr sz="1400" b="1">
                <a:solidFill>
                  <a:srgbClr val="A6B1C8"/>
                </a:solidFill>
                <a:latin typeface="Calibri"/>
              </a:rPr>
              <a:t>The second number —  </a:t>
            </a:r>
            <a:r>
              <a:rPr sz="1400">
                <a:solidFill>
                  <a:srgbClr val="A6B1C8"/>
                </a:solidFill>
                <a:latin typeface="Calibri"/>
              </a:rPr>
              <a:t>by this chapter he churns the ocean with the strength of ten thousand elephants, pulls up mountains, and rips down śāla hardwood with one hand. SB 10.2 already lists him among the demons Kaṁsa could call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nitya-siddha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Was he an eternal associate? The hard question</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The commentaries say Mainda and Dvivida are eternally liberated — attendants worshipped along with Rāmacandra. But souls in the Lord's abode don't fall down. So what happened here?</a:t>
            </a:r>
          </a:p>
        </p:txBody>
      </p:sp>
      <p:sp>
        <p:nvSpPr>
          <p:cNvPr id="6" name="TextBox 5"/>
          <p:cNvSpPr txBox="1"/>
          <p:nvPr/>
        </p:nvSpPr>
        <p:spPr>
          <a:xfrm>
            <a:off x="868680" y="2377440"/>
            <a:ext cx="10515600" cy="4023360"/>
          </a:xfrm>
          <a:prstGeom prst="rect">
            <a:avLst/>
          </a:prstGeom>
          <a:noFill/>
        </p:spPr>
        <p:txBody>
          <a:bodyPr wrap="square" lIns="0" rIns="0" tIns="0" bIns="0">
            <a:spAutoFit/>
          </a:bodyPr>
          <a:lstStyle/>
          <a:p>
            <a:pPr algn="l">
              <a:lnSpc>
                <a:spcPct val="118000"/>
              </a:lnSpc>
              <a:spcBef>
                <a:spcPts val="0"/>
              </a:spcBef>
            </a:pPr>
            <a:r>
              <a:rPr sz="1450" b="1">
                <a:solidFill>
                  <a:srgbClr val="EEF1F7"/>
                </a:solidFill>
                <a:latin typeface="Calibri"/>
              </a:rPr>
              <a:t>— Jīva Gosvāmī, Bhakti-sandarbha:  </a:t>
            </a:r>
            <a:r>
              <a:rPr sz="1450">
                <a:solidFill>
                  <a:srgbClr val="A6B1C8"/>
                </a:solidFill>
                <a:latin typeface="Calibri"/>
              </a:rPr>
              <a:t>they are worshipped as āvaraṇa-devatās — attendants who surround the Lord and belong to His entourage, without showing Viṣṇu's own fullness.</a:t>
            </a:r>
          </a:p>
          <a:p>
            <a:pPr>
              <a:lnSpc>
                <a:spcPct val="118000"/>
              </a:lnSpc>
              <a:spcBef>
                <a:spcPts val="1100"/>
              </a:spcBef>
            </a:pPr>
            <a:r>
              <a:rPr sz="1450" b="1">
                <a:solidFill>
                  <a:srgbClr val="EEF1F7"/>
                </a:solidFill>
                <a:latin typeface="Calibri"/>
              </a:rPr>
              <a:t>— Jīva Gosvāmī on this very chapter:  </a:t>
            </a:r>
            <a:r>
              <a:rPr sz="1450">
                <a:solidFill>
                  <a:srgbClr val="A6B1C8"/>
                </a:solidFill>
                <a:latin typeface="Calibri"/>
              </a:rPr>
              <a:t>“…persons endowed with śakti from the spiritual realm. Because they did not respect Lakṣmaṇa — like Jaya and Vijaya — they appeared as demons in order to show the result of committing offences.”</a:t>
            </a:r>
          </a:p>
          <a:p>
            <a:pPr>
              <a:lnSpc>
                <a:spcPct val="118000"/>
              </a:lnSpc>
              <a:spcBef>
                <a:spcPts val="1100"/>
              </a:spcBef>
            </a:pPr>
            <a:r>
              <a:rPr sz="1450" b="1">
                <a:solidFill>
                  <a:srgbClr val="EEF1F7"/>
                </a:solidFill>
                <a:latin typeface="Calibri"/>
              </a:rPr>
              <a:t>— The distinction that resolves it:  </a:t>
            </a:r>
            <a:r>
              <a:rPr sz="1450">
                <a:solidFill>
                  <a:srgbClr val="A6B1C8"/>
                </a:solidFill>
                <a:latin typeface="Calibri"/>
              </a:rPr>
              <a:t>some jīvas are given a portion of an eternal associate's power and carry the same name. Those jīvas can be corrupted, because they are still jīvas.</a:t>
            </a:r>
          </a:p>
          <a:p>
            <a:pPr>
              <a:lnSpc>
                <a:spcPct val="118000"/>
              </a:lnSpc>
              <a:spcBef>
                <a:spcPts val="1100"/>
              </a:spcBef>
            </a:pPr>
            <a:r>
              <a:rPr sz="1450" b="1">
                <a:solidFill>
                  <a:srgbClr val="EEF1F7"/>
                </a:solidFill>
                <a:latin typeface="Calibri"/>
              </a:rPr>
              <a:t>— Viśvanātha Cakravartī Ṭhākura:  </a:t>
            </a:r>
            <a:r>
              <a:rPr sz="1450">
                <a:solidFill>
                  <a:srgbClr val="A6B1C8"/>
                </a:solidFill>
                <a:latin typeface="Calibri"/>
              </a:rPr>
              <a:t>“the Lord arranged their degradation to show the evil of the bad association that results from offending great personalities.”</a:t>
            </a:r>
          </a:p>
        </p:txBody>
      </p:sp>
      <p:sp>
        <p:nvSpPr>
          <p:cNvPr id="7" name="Rounded Rectangle 6"/>
          <p:cNvSpPr/>
          <p:nvPr/>
        </p:nvSpPr>
        <p:spPr>
          <a:xfrm>
            <a:off x="868680" y="5532120"/>
            <a:ext cx="10515600" cy="105156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5532120"/>
            <a:ext cx="38100" cy="105156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5678424"/>
            <a:ext cx="10104120" cy="777239"/>
          </a:xfrm>
          <a:prstGeom prst="rect">
            <a:avLst/>
          </a:prstGeom>
          <a:noFill/>
        </p:spPr>
        <p:txBody>
          <a:bodyPr wrap="square" lIns="0" rIns="0" tIns="0" bIns="0">
            <a:spAutoFit/>
          </a:bodyPr>
          <a:lstStyle/>
          <a:p>
            <a:pPr algn="l">
              <a:lnSpc>
                <a:spcPct val="115000"/>
              </a:lnSpc>
            </a:pPr>
            <a:r>
              <a:rPr sz="1400" b="1">
                <a:solidFill>
                  <a:srgbClr val="C2624A"/>
                </a:solidFill>
                <a:latin typeface="Calibri"/>
              </a:rPr>
              <a:t>Please don't turn this into a general theory.  </a:t>
            </a:r>
            <a:r>
              <a:rPr sz="1400">
                <a:solidFill>
                  <a:srgbClr val="A6B1C8"/>
                </a:solidFill>
                <a:latin typeface="Calibri"/>
              </a:rPr>
              <a:t>We were not all once living in Vaikuṇṭha and then fell. Jaya and Vijaya were an exception arranged to teach us something, and so is Dvivida — “it's the exception, it's not the rule.” Take the lesson, not a theory about where you came from.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aparādha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two offences</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Pride by itself was not the offence. Pride was the condition he was in. The offences are what the pride made him say and think — two of them, both about Lakṣmaṇa, both easy to read past in the Rāmāyaṇa.</a:t>
            </a:r>
          </a:p>
        </p:txBody>
      </p:sp>
      <p:sp>
        <p:nvSpPr>
          <p:cNvPr id="6" name="TextBox 5"/>
          <p:cNvSpPr txBox="1"/>
          <p:nvPr/>
        </p:nvSpPr>
        <p:spPr>
          <a:xfrm>
            <a:off x="868680" y="2377440"/>
            <a:ext cx="5029200" cy="274320"/>
          </a:xfrm>
          <a:prstGeom prst="rect">
            <a:avLst/>
          </a:prstGeom>
          <a:noFill/>
        </p:spPr>
        <p:txBody>
          <a:bodyPr wrap="square" lIns="0" rIns="0" tIns="0" bIns="0">
            <a:spAutoFit/>
          </a:bodyPr>
          <a:lstStyle/>
          <a:p>
            <a:pPr algn="l">
              <a:spcBef>
                <a:spcPts val="0"/>
              </a:spcBef>
              <a:spcAft>
                <a:spcPts val="0"/>
              </a:spcAft>
            </a:pPr>
            <a:r>
              <a:rPr sz="1100" b="0" i="0">
                <a:solidFill>
                  <a:srgbClr val="C2624A"/>
                </a:solidFill>
                <a:latin typeface="Consolas"/>
              </a:rPr>
              <a:t>OFFENCE ONE — THE INTRODUCTION</a:t>
            </a:r>
          </a:p>
        </p:txBody>
      </p:sp>
      <p:sp>
        <p:nvSpPr>
          <p:cNvPr id="7" name="Rounded Rectangle 6"/>
          <p:cNvSpPr/>
          <p:nvPr/>
        </p:nvSpPr>
        <p:spPr>
          <a:xfrm>
            <a:off x="868680" y="2697480"/>
            <a:ext cx="5029200" cy="1417320"/>
          </a:xfrm>
          <a:prstGeom prst="roundRect">
            <a:avLst/>
          </a:prstGeom>
          <a:solidFill>
            <a:srgbClr val="141A2B"/>
          </a:solidFill>
          <a:ln w="1524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51560" y="2852928"/>
            <a:ext cx="4663440" cy="1143000"/>
          </a:xfrm>
          <a:prstGeom prst="rect">
            <a:avLst/>
          </a:prstGeom>
          <a:noFill/>
        </p:spPr>
        <p:txBody>
          <a:bodyPr wrap="square" lIns="0" rIns="0" tIns="0" bIns="0">
            <a:spAutoFit/>
          </a:bodyPr>
          <a:lstStyle/>
          <a:p>
            <a:pPr algn="l">
              <a:lnSpc>
                <a:spcPct val="112000"/>
              </a:lnSpc>
              <a:spcBef>
                <a:spcPts val="0"/>
              </a:spcBef>
              <a:spcAft>
                <a:spcPts val="0"/>
              </a:spcAft>
            </a:pPr>
            <a:r>
              <a:rPr sz="1500" b="0" i="1">
                <a:solidFill>
                  <a:srgbClr val="DBE2EE"/>
                </a:solidFill>
                <a:latin typeface="Georgia"/>
              </a:rPr>
              <a:t>“Give your full, undivided attention to Rāma. The other fellow with Him — Lakṣmaṇa — is not so important.”</a:t>
            </a:r>
          </a:p>
          <a:p>
            <a:pPr>
              <a:spcBef>
                <a:spcPts val="800"/>
              </a:spcBef>
              <a:spcAft>
                <a:spcPts val="0"/>
              </a:spcAft>
            </a:pPr>
            <a:r>
              <a:rPr sz="1200" b="0" i="0">
                <a:solidFill>
                  <a:srgbClr val="6D7791"/>
                </a:solidFill>
                <a:latin typeface="Calibri"/>
              </a:rPr>
              <a:t>Said to Sugrīva while introducing him to Rāma — while doing service, and meaning well.</a:t>
            </a:r>
          </a:p>
        </p:txBody>
      </p:sp>
      <p:sp>
        <p:nvSpPr>
          <p:cNvPr id="9" name="TextBox 8"/>
          <p:cNvSpPr txBox="1"/>
          <p:nvPr/>
        </p:nvSpPr>
        <p:spPr>
          <a:xfrm>
            <a:off x="6309360" y="2377440"/>
            <a:ext cx="5029200" cy="274320"/>
          </a:xfrm>
          <a:prstGeom prst="rect">
            <a:avLst/>
          </a:prstGeom>
          <a:noFill/>
        </p:spPr>
        <p:txBody>
          <a:bodyPr wrap="square" lIns="0" rIns="0" tIns="0" bIns="0">
            <a:spAutoFit/>
          </a:bodyPr>
          <a:lstStyle/>
          <a:p>
            <a:pPr algn="l">
              <a:spcBef>
                <a:spcPts val="0"/>
              </a:spcBef>
              <a:spcAft>
                <a:spcPts val="0"/>
              </a:spcAft>
            </a:pPr>
            <a:r>
              <a:rPr sz="1100" b="0" i="0">
                <a:solidFill>
                  <a:srgbClr val="C2624A"/>
                </a:solidFill>
                <a:latin typeface="Consolas"/>
              </a:rPr>
              <a:t>OFFENCE TWO — THE BATTLEFIELD JUDGMENT</a:t>
            </a:r>
          </a:p>
        </p:txBody>
      </p:sp>
      <p:sp>
        <p:nvSpPr>
          <p:cNvPr id="10" name="Rounded Rectangle 9"/>
          <p:cNvSpPr/>
          <p:nvPr/>
        </p:nvSpPr>
        <p:spPr>
          <a:xfrm>
            <a:off x="6309360" y="2697480"/>
            <a:ext cx="5029200" cy="1417320"/>
          </a:xfrm>
          <a:prstGeom prst="roundRect">
            <a:avLst/>
          </a:prstGeom>
          <a:solidFill>
            <a:srgbClr val="141A2B"/>
          </a:solidFill>
          <a:ln w="1524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92240" y="2852928"/>
            <a:ext cx="4663440" cy="1143000"/>
          </a:xfrm>
          <a:prstGeom prst="rect">
            <a:avLst/>
          </a:prstGeom>
          <a:noFill/>
        </p:spPr>
        <p:txBody>
          <a:bodyPr wrap="square" lIns="0" rIns="0" tIns="0" bIns="0">
            <a:spAutoFit/>
          </a:bodyPr>
          <a:lstStyle/>
          <a:p>
            <a:pPr algn="l">
              <a:lnSpc>
                <a:spcPct val="112000"/>
              </a:lnSpc>
              <a:spcBef>
                <a:spcPts val="0"/>
              </a:spcBef>
              <a:spcAft>
                <a:spcPts val="0"/>
              </a:spcAft>
            </a:pPr>
            <a:r>
              <a:rPr sz="1500" b="0" i="1">
                <a:solidFill>
                  <a:srgbClr val="DBE2EE"/>
                </a:solidFill>
                <a:latin typeface="Georgia"/>
              </a:rPr>
              <a:t>“What kind of great hero is this?”</a:t>
            </a:r>
          </a:p>
          <a:p>
            <a:pPr>
              <a:spcBef>
                <a:spcPts val="800"/>
              </a:spcBef>
              <a:spcAft>
                <a:spcPts val="0"/>
              </a:spcAft>
            </a:pPr>
            <a:r>
              <a:rPr sz="1200" b="0" i="0">
                <a:solidFill>
                  <a:srgbClr val="6D7791"/>
                </a:solidFill>
                <a:latin typeface="Calibri"/>
              </a:rPr>
              <a:t>Thought, not said. Lakṣmaṇa was lying in great pain, hit by the śakti weapon. Nobody heard this.</a:t>
            </a:r>
          </a:p>
        </p:txBody>
      </p:sp>
      <p:sp>
        <p:nvSpPr>
          <p:cNvPr id="12" name="Rounded Rectangle 11"/>
          <p:cNvSpPr/>
          <p:nvPr/>
        </p:nvSpPr>
        <p:spPr>
          <a:xfrm>
            <a:off x="868680" y="4434840"/>
            <a:ext cx="10515600" cy="91440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68680" y="4434840"/>
            <a:ext cx="38100" cy="91440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69848" y="4581144"/>
            <a:ext cx="10104120" cy="640080"/>
          </a:xfrm>
          <a:prstGeom prst="rect">
            <a:avLst/>
          </a:prstGeom>
          <a:noFill/>
        </p:spPr>
        <p:txBody>
          <a:bodyPr wrap="square" lIns="0" rIns="0" tIns="0" bIns="0">
            <a:spAutoFit/>
          </a:bodyPr>
          <a:lstStyle/>
          <a:p>
            <a:pPr algn="l">
              <a:lnSpc>
                <a:spcPct val="115000"/>
              </a:lnSpc>
            </a:pPr>
            <a:r>
              <a:rPr sz="1400" b="1">
                <a:solidFill>
                  <a:srgbClr val="C2624A"/>
                </a:solidFill>
                <a:latin typeface="Calibri"/>
              </a:rPr>
              <a:t>Neither one was hostile. Neither one was heard.  </a:t>
            </a:r>
            <a:r>
              <a:rPr sz="1400">
                <a:solidFill>
                  <a:srgbClr val="A6B1C8"/>
                </a:solidFill>
                <a:latin typeface="Calibri"/>
              </a:rPr>
              <a:t>The first was friendly advice. The second was a private thought. Both still counted. Offending a devotee does not need anger, volume, or an audience.</a:t>
            </a:r>
          </a:p>
        </p:txBody>
      </p:sp>
      <p:sp>
        <p:nvSpPr>
          <p:cNvPr id="15" name="Rounded Rectangle 14"/>
          <p:cNvSpPr/>
          <p:nvPr/>
        </p:nvSpPr>
        <p:spPr>
          <a:xfrm>
            <a:off x="868680" y="5486400"/>
            <a:ext cx="10515600" cy="91440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68680" y="5486400"/>
            <a:ext cx="38100" cy="91440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69848" y="5632704"/>
            <a:ext cx="10104120" cy="640080"/>
          </a:xfrm>
          <a:prstGeom prst="rect">
            <a:avLst/>
          </a:prstGeom>
          <a:noFill/>
        </p:spPr>
        <p:txBody>
          <a:bodyPr wrap="square" lIns="0" rIns="0" tIns="0" bIns="0">
            <a:spAutoFit/>
          </a:bodyPr>
          <a:lstStyle/>
          <a:p>
            <a:pPr algn="l">
              <a:lnSpc>
                <a:spcPct val="115000"/>
              </a:lnSpc>
            </a:pPr>
            <a:r>
              <a:rPr sz="1400" b="1">
                <a:solidFill>
                  <a:srgbClr val="D9A441"/>
                </a:solidFill>
                <a:latin typeface="Calibri"/>
              </a:rPr>
              <a:t>Both come from the same place.  </a:t>
            </a:r>
            <a:r>
              <a:rPr sz="1400">
                <a:solidFill>
                  <a:srgbClr val="A6B1C8"/>
                </a:solidFill>
                <a:latin typeface="Calibri"/>
              </a:rPr>
              <a:t>He measured Lakṣmaṇa against himself — first not important enough, then not heroic enough. That is what pride actually does: it makes you the yardstick.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guru-tattva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Why Lakṣmaṇa, of all people</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If we shorten this to “don't offend Lakṣmaṇa,” it is easy to answer: fine, I'm not likely to meet him. But Lakṣmaṇa is here as an example of something much wider.</a:t>
            </a:r>
          </a:p>
        </p:txBody>
      </p:sp>
      <p:sp>
        <p:nvSpPr>
          <p:cNvPr id="6" name="Rounded Rectangle 5"/>
          <p:cNvSpPr/>
          <p:nvPr/>
        </p:nvSpPr>
        <p:spPr>
          <a:xfrm>
            <a:off x="868680" y="2468880"/>
            <a:ext cx="10515600" cy="1188720"/>
          </a:xfrm>
          <a:prstGeom prst="roundRect">
            <a:avLst/>
          </a:prstGeom>
          <a:solidFill>
            <a:srgbClr val="1B2338"/>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24712" y="2633472"/>
            <a:ext cx="10012680" cy="914400"/>
          </a:xfrm>
          <a:prstGeom prst="rect">
            <a:avLst/>
          </a:prstGeom>
          <a:noFill/>
        </p:spPr>
        <p:txBody>
          <a:bodyPr wrap="square" lIns="0" rIns="0" tIns="0" bIns="0">
            <a:spAutoFit/>
          </a:bodyPr>
          <a:lstStyle/>
          <a:p>
            <a:pPr algn="l">
              <a:lnSpc>
                <a:spcPct val="115000"/>
              </a:lnSpc>
              <a:spcBef>
                <a:spcPts val="0"/>
              </a:spcBef>
              <a:spcAft>
                <a:spcPts val="0"/>
              </a:spcAft>
            </a:pPr>
            <a:r>
              <a:rPr sz="1600" b="0" i="1">
                <a:solidFill>
                  <a:srgbClr val="DBE2EE"/>
                </a:solidFill>
                <a:latin typeface="Georgia"/>
              </a:rPr>
              <a:t>Guru-tattva — the Lord's representative. The one who introduces you to the Supreme Lord, instructs you, and gives you His association. Lakṣmaṇa is that to Rāma. Balarāma is that to Kṛṣṇa. So is Nanda Mahārāja.</a:t>
            </a:r>
          </a:p>
          <a:p>
            <a:pPr>
              <a:spcBef>
                <a:spcPts val="800"/>
              </a:spcBef>
              <a:spcAft>
                <a:spcPts val="0"/>
              </a:spcAft>
            </a:pPr>
            <a:r>
              <a:rPr sz="1000" b="0" i="0">
                <a:solidFill>
                  <a:srgbClr val="6D7791"/>
                </a:solidFill>
                <a:latin typeface="Consolas"/>
              </a:rPr>
              <a:t>THE CATEGORY, NOT THE PERSON</a:t>
            </a:r>
          </a:p>
        </p:txBody>
      </p:sp>
      <p:sp>
        <p:nvSpPr>
          <p:cNvPr id="8" name="TextBox 7"/>
          <p:cNvSpPr txBox="1"/>
          <p:nvPr/>
        </p:nvSpPr>
        <p:spPr>
          <a:xfrm>
            <a:off x="868680" y="3931920"/>
            <a:ext cx="10515600" cy="4023360"/>
          </a:xfrm>
          <a:prstGeom prst="rect">
            <a:avLst/>
          </a:prstGeom>
          <a:noFill/>
        </p:spPr>
        <p:txBody>
          <a:bodyPr wrap="square" lIns="0" rIns="0" tIns="0" bIns="0">
            <a:spAutoFit/>
          </a:bodyPr>
          <a:lstStyle/>
          <a:p>
            <a:pPr algn="l">
              <a:lnSpc>
                <a:spcPct val="118000"/>
              </a:lnSpc>
              <a:spcBef>
                <a:spcPts val="0"/>
              </a:spcBef>
            </a:pPr>
            <a:r>
              <a:rPr sz="1600" b="1">
                <a:solidFill>
                  <a:srgbClr val="EEF1F7"/>
                </a:solidFill>
                <a:latin typeface="Calibri"/>
              </a:rPr>
              <a:t>— What he actually did:  </a:t>
            </a:r>
            <a:r>
              <a:rPr sz="1600">
                <a:solidFill>
                  <a:srgbClr val="A6B1C8"/>
                </a:solidFill>
                <a:latin typeface="Calibri"/>
              </a:rPr>
              <a:t>he pointed everyone towards the Lord and put down the person who was making that introduction possible. He kept the Lord and threw away the connection to Him.</a:t>
            </a:r>
          </a:p>
          <a:p>
            <a:pPr>
              <a:lnSpc>
                <a:spcPct val="118000"/>
              </a:lnSpc>
              <a:spcBef>
                <a:spcPts val="1200"/>
              </a:spcBef>
            </a:pPr>
            <a:r>
              <a:rPr sz="1600" b="1">
                <a:solidFill>
                  <a:srgbClr val="EEF1F7"/>
                </a:solidFill>
                <a:latin typeface="Calibri"/>
              </a:rPr>
              <a:t>— And look how it comes back:  </a:t>
            </a:r>
            <a:r>
              <a:rPr sz="1600">
                <a:solidFill>
                  <a:srgbClr val="A6B1C8"/>
                </a:solidFill>
                <a:latin typeface="Calibri"/>
              </a:rPr>
              <a:t>he offends the guru-tattva in Rāma's pastimes, and is killed by the guru-tattva in Kṛṣṇa's. Yugas later, the same principle he brushed aside is the one that deals with him.</a:t>
            </a:r>
          </a:p>
        </p:txBody>
      </p:sp>
      <p:sp>
        <p:nvSpPr>
          <p:cNvPr id="9" name="Rounded Rectangle 8"/>
          <p:cNvSpPr/>
          <p:nvPr/>
        </p:nvSpPr>
        <p:spPr>
          <a:xfrm>
            <a:off x="868680" y="5440680"/>
            <a:ext cx="10515600" cy="100584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868680" y="5440680"/>
            <a:ext cx="38100" cy="100584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69848" y="5586984"/>
            <a:ext cx="10104120" cy="731520"/>
          </a:xfrm>
          <a:prstGeom prst="rect">
            <a:avLst/>
          </a:prstGeom>
          <a:noFill/>
        </p:spPr>
        <p:txBody>
          <a:bodyPr wrap="square" lIns="0" rIns="0" tIns="0" bIns="0">
            <a:spAutoFit/>
          </a:bodyPr>
          <a:lstStyle/>
          <a:p>
            <a:pPr algn="l">
              <a:lnSpc>
                <a:spcPct val="115000"/>
              </a:lnSpc>
            </a:pPr>
            <a:r>
              <a:rPr sz="1400" b="1">
                <a:solidFill>
                  <a:srgbClr val="C2624A"/>
                </a:solidFill>
                <a:latin typeface="Calibri"/>
              </a:rPr>
              <a:t>The point I want to insist on:  </a:t>
            </a:r>
            <a:r>
              <a:rPr sz="1400">
                <a:solidFill>
                  <a:srgbClr val="A6B1C8"/>
                </a:solidFill>
                <a:latin typeface="Calibri"/>
              </a:rPr>
              <a:t>“It's not just that you're not Lakṣmaṇa, so I can mess with you.” The principle is vaiṣṇava-aparādha — offending any devotee — and you can lose your spiritual standing 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anartha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mechanism of degradation</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Viśvanātha Cakravartī Ṭhākura gives the whole sequence in one sentence, and every step causes the next. Watch the order carefully: bad association is the punishment for the offence, not the reason for it.</a:t>
            </a:r>
          </a:p>
        </p:txBody>
      </p:sp>
      <p:sp>
        <p:nvSpPr>
          <p:cNvPr id="6" name="Rounded Rectangle 5"/>
          <p:cNvSpPr/>
          <p:nvPr/>
        </p:nvSpPr>
        <p:spPr>
          <a:xfrm>
            <a:off x="868680" y="2286000"/>
            <a:ext cx="4572000" cy="384048"/>
          </a:xfrm>
          <a:prstGeom prst="roundRect">
            <a:avLst/>
          </a:prstGeom>
          <a:solidFill>
            <a:srgbClr val="141A2B"/>
          </a:solidFill>
          <a:ln w="1651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14984" y="2331720"/>
            <a:ext cx="4297680" cy="310896"/>
          </a:xfrm>
          <a:prstGeom prst="rect">
            <a:avLst/>
          </a:prstGeom>
          <a:noFill/>
        </p:spPr>
        <p:txBody>
          <a:bodyPr wrap="square" lIns="0" rIns="0" tIns="0" bIns="0">
            <a:spAutoFit/>
          </a:bodyPr>
          <a:lstStyle/>
          <a:p>
            <a:pPr algn="l"/>
            <a:r>
              <a:rPr sz="1250" b="1">
                <a:solidFill>
                  <a:srgbClr val="EEF1F7"/>
                </a:solidFill>
                <a:latin typeface="Calibri"/>
              </a:rPr>
              <a:t>Attendant in the Lord's abode   </a:t>
            </a:r>
            <a:r>
              <a:rPr sz="1000">
                <a:solidFill>
                  <a:srgbClr val="6D7791"/>
                </a:solidFill>
                <a:latin typeface="Consolas"/>
              </a:rPr>
              <a:t>āvaraṇa-devatā · eternally situated</a:t>
            </a:r>
          </a:p>
        </p:txBody>
      </p:sp>
      <p:sp>
        <p:nvSpPr>
          <p:cNvPr id="8" name="Rounded Rectangle 7"/>
          <p:cNvSpPr/>
          <p:nvPr/>
        </p:nvSpPr>
        <p:spPr>
          <a:xfrm>
            <a:off x="1143000" y="2715768"/>
            <a:ext cx="4572000" cy="384048"/>
          </a:xfrm>
          <a:prstGeom prst="roundRect">
            <a:avLst/>
          </a:prstGeom>
          <a:solidFill>
            <a:srgbClr val="141A2B"/>
          </a:solidFill>
          <a:ln w="1651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289304" y="2761488"/>
            <a:ext cx="4297680" cy="310896"/>
          </a:xfrm>
          <a:prstGeom prst="rect">
            <a:avLst/>
          </a:prstGeom>
          <a:noFill/>
        </p:spPr>
        <p:txBody>
          <a:bodyPr wrap="square" lIns="0" rIns="0" tIns="0" bIns="0">
            <a:spAutoFit/>
          </a:bodyPr>
          <a:lstStyle/>
          <a:p>
            <a:pPr algn="l"/>
            <a:r>
              <a:rPr sz="1250" b="1">
                <a:solidFill>
                  <a:srgbClr val="EEF1F7"/>
                </a:solidFill>
                <a:latin typeface="Calibri"/>
              </a:rPr>
              <a:t>Minister of Sugrīva, servant of Rāma   </a:t>
            </a:r>
            <a:r>
              <a:rPr sz="1000">
                <a:solidFill>
                  <a:srgbClr val="6D7791"/>
                </a:solidFill>
                <a:latin typeface="Consolas"/>
              </a:rPr>
              <a:t>made for this service</a:t>
            </a:r>
          </a:p>
        </p:txBody>
      </p:sp>
      <p:sp>
        <p:nvSpPr>
          <p:cNvPr id="10" name="Rounded Rectangle 9"/>
          <p:cNvSpPr/>
          <p:nvPr/>
        </p:nvSpPr>
        <p:spPr>
          <a:xfrm>
            <a:off x="1417319" y="3145536"/>
            <a:ext cx="4572000" cy="384048"/>
          </a:xfrm>
          <a:prstGeom prst="roundRect">
            <a:avLst/>
          </a:prstGeom>
          <a:solidFill>
            <a:srgbClr val="141A2B"/>
          </a:solidFill>
          <a:ln w="16510">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563623" y="3191256"/>
            <a:ext cx="4297680" cy="310896"/>
          </a:xfrm>
          <a:prstGeom prst="rect">
            <a:avLst/>
          </a:prstGeom>
          <a:noFill/>
        </p:spPr>
        <p:txBody>
          <a:bodyPr wrap="square" lIns="0" rIns="0" tIns="0" bIns="0">
            <a:spAutoFit/>
          </a:bodyPr>
          <a:lstStyle/>
          <a:p>
            <a:pPr algn="l"/>
            <a:r>
              <a:rPr sz="1250" b="1">
                <a:solidFill>
                  <a:srgbClr val="EEF1F7"/>
                </a:solidFill>
                <a:latin typeface="Calibri"/>
              </a:rPr>
              <a:t>Pride in his own strength   </a:t>
            </a:r>
            <a:r>
              <a:rPr sz="1000">
                <a:solidFill>
                  <a:srgbClr val="6D7791"/>
                </a:solidFill>
                <a:latin typeface="Consolas"/>
              </a:rPr>
              <a:t>bala-abhimāna · the condition, not yet an offence</a:t>
            </a:r>
          </a:p>
        </p:txBody>
      </p:sp>
      <p:sp>
        <p:nvSpPr>
          <p:cNvPr id="12" name="Rounded Rectangle 11"/>
          <p:cNvSpPr/>
          <p:nvPr/>
        </p:nvSpPr>
        <p:spPr>
          <a:xfrm>
            <a:off x="1691639" y="3575304"/>
            <a:ext cx="4572000" cy="384048"/>
          </a:xfrm>
          <a:prstGeom prst="roundRect">
            <a:avLst/>
          </a:prstGeom>
          <a:solidFill>
            <a:srgbClr val="141A2B"/>
          </a:solidFill>
          <a:ln w="1651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37943" y="3621024"/>
            <a:ext cx="4297680" cy="310896"/>
          </a:xfrm>
          <a:prstGeom prst="rect">
            <a:avLst/>
          </a:prstGeom>
          <a:noFill/>
        </p:spPr>
        <p:txBody>
          <a:bodyPr wrap="square" lIns="0" rIns="0" tIns="0" bIns="0">
            <a:spAutoFit/>
          </a:bodyPr>
          <a:lstStyle/>
          <a:p>
            <a:pPr algn="l"/>
            <a:r>
              <a:rPr sz="1250" b="1">
                <a:solidFill>
                  <a:srgbClr val="EEF1F7"/>
                </a:solidFill>
                <a:latin typeface="Calibri"/>
              </a:rPr>
              <a:t>Offence I — “Lakṣmaṇa is not important”   </a:t>
            </a:r>
            <a:r>
              <a:rPr sz="1000">
                <a:solidFill>
                  <a:srgbClr val="6D7791"/>
                </a:solidFill>
                <a:latin typeface="Consolas"/>
              </a:rPr>
              <a:t>spoken while rendering service</a:t>
            </a:r>
          </a:p>
        </p:txBody>
      </p:sp>
      <p:sp>
        <p:nvSpPr>
          <p:cNvPr id="14" name="Rounded Rectangle 13"/>
          <p:cNvSpPr/>
          <p:nvPr/>
        </p:nvSpPr>
        <p:spPr>
          <a:xfrm>
            <a:off x="1965960" y="4005072"/>
            <a:ext cx="4572000" cy="384048"/>
          </a:xfrm>
          <a:prstGeom prst="roundRect">
            <a:avLst/>
          </a:prstGeom>
          <a:solidFill>
            <a:srgbClr val="141A2B"/>
          </a:solidFill>
          <a:ln w="1651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12264" y="4050792"/>
            <a:ext cx="4297680" cy="310896"/>
          </a:xfrm>
          <a:prstGeom prst="rect">
            <a:avLst/>
          </a:prstGeom>
          <a:noFill/>
        </p:spPr>
        <p:txBody>
          <a:bodyPr wrap="square" lIns="0" rIns="0" tIns="0" bIns="0">
            <a:spAutoFit/>
          </a:bodyPr>
          <a:lstStyle/>
          <a:p>
            <a:pPr algn="l"/>
            <a:r>
              <a:rPr sz="1250" b="1">
                <a:solidFill>
                  <a:srgbClr val="EEF1F7"/>
                </a:solidFill>
                <a:latin typeface="Calibri"/>
              </a:rPr>
              <a:t>Offence II — “What kind of hero is this?”   </a:t>
            </a:r>
            <a:r>
              <a:rPr sz="1000">
                <a:solidFill>
                  <a:srgbClr val="6D7791"/>
                </a:solidFill>
                <a:latin typeface="Consolas"/>
              </a:rPr>
              <a:t>thought only in the mind</a:t>
            </a:r>
          </a:p>
        </p:txBody>
      </p:sp>
      <p:sp>
        <p:nvSpPr>
          <p:cNvPr id="16" name="Rounded Rectangle 15"/>
          <p:cNvSpPr/>
          <p:nvPr/>
        </p:nvSpPr>
        <p:spPr>
          <a:xfrm>
            <a:off x="2240280" y="4434840"/>
            <a:ext cx="4572000" cy="384048"/>
          </a:xfrm>
          <a:prstGeom prst="roundRect">
            <a:avLst/>
          </a:prstGeom>
          <a:solidFill>
            <a:srgbClr val="141A2B"/>
          </a:solidFill>
          <a:ln w="1651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86584" y="4480560"/>
            <a:ext cx="4297680" cy="310896"/>
          </a:xfrm>
          <a:prstGeom prst="rect">
            <a:avLst/>
          </a:prstGeom>
          <a:noFill/>
        </p:spPr>
        <p:txBody>
          <a:bodyPr wrap="square" lIns="0" rIns="0" tIns="0" bIns="0">
            <a:spAutoFit/>
          </a:bodyPr>
          <a:lstStyle/>
          <a:p>
            <a:pPr algn="l"/>
            <a:r>
              <a:rPr sz="1250" b="1">
                <a:solidFill>
                  <a:srgbClr val="EEF1F7"/>
                </a:solidFill>
                <a:latin typeface="Calibri"/>
              </a:rPr>
              <a:t>His spiritual strength is taken away   </a:t>
            </a:r>
            <a:r>
              <a:rPr sz="1000">
                <a:solidFill>
                  <a:srgbClr val="6D7791"/>
                </a:solidFill>
                <a:latin typeface="Consolas"/>
              </a:rPr>
              <a:t>the reaction · this is literal</a:t>
            </a:r>
          </a:p>
        </p:txBody>
      </p:sp>
      <p:sp>
        <p:nvSpPr>
          <p:cNvPr id="18" name="Rounded Rectangle 17"/>
          <p:cNvSpPr/>
          <p:nvPr/>
        </p:nvSpPr>
        <p:spPr>
          <a:xfrm>
            <a:off x="2514600" y="4864608"/>
            <a:ext cx="4572000" cy="384048"/>
          </a:xfrm>
          <a:prstGeom prst="roundRect">
            <a:avLst/>
          </a:prstGeom>
          <a:solidFill>
            <a:srgbClr val="141A2B"/>
          </a:solidFill>
          <a:ln w="1651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660904" y="4910328"/>
            <a:ext cx="4297680" cy="310896"/>
          </a:xfrm>
          <a:prstGeom prst="rect">
            <a:avLst/>
          </a:prstGeom>
          <a:noFill/>
        </p:spPr>
        <p:txBody>
          <a:bodyPr wrap="square" lIns="0" rIns="0" tIns="0" bIns="0">
            <a:spAutoFit/>
          </a:bodyPr>
          <a:lstStyle/>
          <a:p>
            <a:pPr algn="l"/>
            <a:r>
              <a:rPr sz="1250" b="1">
                <a:solidFill>
                  <a:srgbClr val="EEF1F7"/>
                </a:solidFill>
                <a:latin typeface="Calibri"/>
              </a:rPr>
              <a:t>Now bad association can get at him   </a:t>
            </a:r>
            <a:r>
              <a:rPr sz="1000">
                <a:solidFill>
                  <a:srgbClr val="6D7791"/>
                </a:solidFill>
                <a:latin typeface="Consolas"/>
              </a:rPr>
              <a:t>→ close friendship with Narakāsura</a:t>
            </a:r>
          </a:p>
        </p:txBody>
      </p:sp>
      <p:sp>
        <p:nvSpPr>
          <p:cNvPr id="20" name="Rounded Rectangle 19"/>
          <p:cNvSpPr/>
          <p:nvPr/>
        </p:nvSpPr>
        <p:spPr>
          <a:xfrm>
            <a:off x="2788920" y="5294376"/>
            <a:ext cx="4572000" cy="384048"/>
          </a:xfrm>
          <a:prstGeom prst="roundRect">
            <a:avLst/>
          </a:prstGeom>
          <a:solidFill>
            <a:srgbClr val="141A2B"/>
          </a:solidFill>
          <a:ln w="1651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35224" y="5340096"/>
            <a:ext cx="4297680" cy="310896"/>
          </a:xfrm>
          <a:prstGeom prst="rect">
            <a:avLst/>
          </a:prstGeom>
          <a:noFill/>
        </p:spPr>
        <p:txBody>
          <a:bodyPr wrap="square" lIns="0" rIns="0" tIns="0" bIns="0">
            <a:spAutoFit/>
          </a:bodyPr>
          <a:lstStyle/>
          <a:p>
            <a:pPr algn="l"/>
            <a:r>
              <a:rPr sz="1250" b="1">
                <a:solidFill>
                  <a:srgbClr val="EEF1F7"/>
                </a:solidFill>
                <a:latin typeface="Calibri"/>
              </a:rPr>
              <a:t>Unwanted things fill his heart   </a:t>
            </a:r>
            <a:r>
              <a:rPr sz="1000">
                <a:solidFill>
                  <a:srgbClr val="6D7791"/>
                </a:solidFill>
                <a:latin typeface="Consolas"/>
              </a:rPr>
              <a:t>revenge · arson · sacrilege · molesting women</a:t>
            </a:r>
          </a:p>
        </p:txBody>
      </p:sp>
      <p:sp>
        <p:nvSpPr>
          <p:cNvPr id="22" name="Rounded Rectangle 21"/>
          <p:cNvSpPr/>
          <p:nvPr/>
        </p:nvSpPr>
        <p:spPr>
          <a:xfrm>
            <a:off x="3063239" y="5724144"/>
            <a:ext cx="4572000" cy="384048"/>
          </a:xfrm>
          <a:prstGeom prst="roundRect">
            <a:avLst/>
          </a:prstGeom>
          <a:solidFill>
            <a:srgbClr val="141A2B"/>
          </a:solidFill>
          <a:ln w="1651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09543" y="5769864"/>
            <a:ext cx="4297680" cy="310896"/>
          </a:xfrm>
          <a:prstGeom prst="rect">
            <a:avLst/>
          </a:prstGeom>
          <a:noFill/>
        </p:spPr>
        <p:txBody>
          <a:bodyPr wrap="square" lIns="0" rIns="0" tIns="0" bIns="0">
            <a:spAutoFit/>
          </a:bodyPr>
          <a:lstStyle/>
          <a:p>
            <a:pPr algn="l"/>
            <a:r>
              <a:rPr sz="1250" b="1">
                <a:solidFill>
                  <a:srgbClr val="EEF1F7"/>
                </a:solidFill>
                <a:latin typeface="Calibri"/>
              </a:rPr>
              <a:t>More offences, with no bottom to it   </a:t>
            </a:r>
            <a:r>
              <a:rPr sz="1000">
                <a:solidFill>
                  <a:srgbClr val="6D7791"/>
                </a:solidFill>
                <a:latin typeface="Consolas"/>
              </a:rPr>
              <a:t>and round it goes again</a:t>
            </a:r>
          </a:p>
        </p:txBody>
      </p:sp>
      <p:sp>
        <p:nvSpPr>
          <p:cNvPr id="24" name="Rounded Rectangle 23"/>
          <p:cNvSpPr/>
          <p:nvPr/>
        </p:nvSpPr>
        <p:spPr>
          <a:xfrm>
            <a:off x="7680960" y="2286000"/>
            <a:ext cx="3657600" cy="1234440"/>
          </a:xfrm>
          <a:prstGeom prst="roundRect">
            <a:avLst/>
          </a:prstGeom>
          <a:solidFill>
            <a:srgbClr val="1B2338"/>
          </a:solidFill>
          <a:ln w="2286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882127" y="2450592"/>
            <a:ext cx="3291840" cy="960120"/>
          </a:xfrm>
          <a:prstGeom prst="rect">
            <a:avLst/>
          </a:prstGeom>
          <a:noFill/>
        </p:spPr>
        <p:txBody>
          <a:bodyPr wrap="square" lIns="0" rIns="0" tIns="0" bIns="0">
            <a:spAutoFit/>
          </a:bodyPr>
          <a:lstStyle/>
          <a:p>
            <a:pPr algn="l">
              <a:lnSpc>
                <a:spcPct val="110000"/>
              </a:lnSpc>
              <a:spcBef>
                <a:spcPts val="0"/>
              </a:spcBef>
              <a:spcAft>
                <a:spcPts val="0"/>
              </a:spcAft>
            </a:pPr>
            <a:r>
              <a:rPr sz="1400" b="1" i="0">
                <a:solidFill>
                  <a:srgbClr val="EEF1F7"/>
                </a:solidFill>
                <a:latin typeface="Calibri"/>
              </a:rPr>
              <a:t>Back home — brahmajyoti or Vaikuṇṭha</a:t>
            </a:r>
          </a:p>
          <a:p>
            <a:pPr>
              <a:lnSpc>
                <a:spcPct val="110000"/>
              </a:lnSpc>
              <a:spcBef>
                <a:spcPts val="600"/>
              </a:spcBef>
              <a:spcAft>
                <a:spcPts val="0"/>
              </a:spcAft>
            </a:pPr>
            <a:r>
              <a:rPr sz="1200" b="0" i="0">
                <a:solidFill>
                  <a:srgbClr val="A6B1C8"/>
                </a:solidFill>
                <a:latin typeface="Calibri"/>
              </a:rPr>
              <a:t>Killed by Balarāma's bare hands, and liberated by it. SB 2.7.34–35.</a:t>
            </a:r>
          </a:p>
        </p:txBody>
      </p:sp>
      <p:sp>
        <p:nvSpPr>
          <p:cNvPr id="26" name="TextBox 25"/>
          <p:cNvSpPr txBox="1"/>
          <p:nvPr/>
        </p:nvSpPr>
        <p:spPr>
          <a:xfrm>
            <a:off x="7680960" y="3840480"/>
            <a:ext cx="3657600" cy="219456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D9A441"/>
                </a:solidFill>
                <a:latin typeface="Georgia"/>
              </a:rPr>
              <a:t>He went all the way down, and he still got back.</a:t>
            </a:r>
          </a:p>
          <a:p>
            <a:pPr>
              <a:lnSpc>
                <a:spcPct val="120000"/>
              </a:lnSpc>
              <a:spcBef>
                <a:spcPts val="1200"/>
              </a:spcBef>
              <a:spcAft>
                <a:spcPts val="0"/>
              </a:spcAft>
            </a:pPr>
            <a:r>
              <a:rPr sz="1300" b="0" i="0">
                <a:solidFill>
                  <a:srgbClr val="A6B1C8"/>
                </a:solidFill>
                <a:latin typeface="Calibri"/>
              </a:rPr>
              <a:t>There is only one step on this chain that you choose — the offence. After that, it runs on its own.</a:t>
            </a:r>
          </a:p>
          <a:p>
            <a:pPr>
              <a:lnSpc>
                <a:spcPct val="120000"/>
              </a:lnSpc>
              <a:spcBef>
                <a:spcPts val="900"/>
              </a:spcBef>
              <a:spcAft>
                <a:spcPts val="0"/>
              </a:spcAft>
            </a:pPr>
            <a:r>
              <a:rPr sz="1300" b="0" i="0">
                <a:solidFill>
                  <a:srgbClr val="A6B1C8"/>
                </a:solidFill>
                <a:latin typeface="Calibri"/>
              </a:rPr>
              <a:t>Once your spiritual strength is gone, resisting bad association is not a question of willpower. Willpower is the thing that was taken away.</a:t>
            </a:r>
          </a:p>
          <a:p>
            <a:pPr>
              <a:lnSpc>
                <a:spcPct val="120000"/>
              </a:lnSpc>
              <a:spcBef>
                <a:spcPts val="900"/>
              </a:spcBef>
              <a:spcAft>
                <a:spcPts val="0"/>
              </a:spcAft>
            </a:pPr>
            <a:r>
              <a:rPr sz="1300" b="1" i="0">
                <a:solidFill>
                  <a:srgbClr val="C2624A"/>
                </a:solidFill>
                <a:latin typeface="Calibri"/>
              </a:rPr>
              <a:t>Only the first three steps are ones you can do anything about.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saṅga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Narakāsura: the association</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The friend who ruined Dvivida had been ruined the same way himself.</a:t>
            </a:r>
          </a:p>
        </p:txBody>
      </p:sp>
      <p:sp>
        <p:nvSpPr>
          <p:cNvPr id="6" name="TextBox 5"/>
          <p:cNvSpPr txBox="1"/>
          <p:nvPr/>
        </p:nvSpPr>
        <p:spPr>
          <a:xfrm>
            <a:off x="868680" y="2377440"/>
            <a:ext cx="10515600" cy="4023360"/>
          </a:xfrm>
          <a:prstGeom prst="rect">
            <a:avLst/>
          </a:prstGeom>
          <a:noFill/>
        </p:spPr>
        <p:txBody>
          <a:bodyPr wrap="square" lIns="0" rIns="0" tIns="0" bIns="0">
            <a:spAutoFit/>
          </a:bodyPr>
          <a:lstStyle/>
          <a:p>
            <a:pPr algn="l">
              <a:lnSpc>
                <a:spcPct val="118000"/>
              </a:lnSpc>
              <a:spcBef>
                <a:spcPts val="0"/>
              </a:spcBef>
            </a:pPr>
            <a:r>
              <a:rPr sz="1550" b="1">
                <a:solidFill>
                  <a:srgbClr val="EEF1F7"/>
                </a:solidFill>
                <a:latin typeface="Calibri"/>
              </a:rPr>
              <a:t>— He was not born a demon either.  </a:t>
            </a:r>
            <a:r>
              <a:rPr sz="1550">
                <a:solidFill>
                  <a:srgbClr val="A6B1C8"/>
                </a:solidFill>
                <a:latin typeface="Calibri"/>
              </a:rPr>
              <a:t>His name was Naraka. His mother was Bhūmi — the earth herself. His father was Lord Varāha. You cannot get better parents than that.</a:t>
            </a:r>
          </a:p>
          <a:p>
            <a:pPr>
              <a:lnSpc>
                <a:spcPct val="118000"/>
              </a:lnSpc>
              <a:spcBef>
                <a:spcPts val="1100"/>
              </a:spcBef>
            </a:pPr>
            <a:r>
              <a:rPr sz="1550" b="1">
                <a:solidFill>
                  <a:srgbClr val="EEF1F7"/>
                </a:solidFill>
                <a:latin typeface="Calibri"/>
              </a:rPr>
              <a:t>— He went bad the same way Dvivida did —  </a:t>
            </a:r>
            <a:r>
              <a:rPr sz="1550">
                <a:solidFill>
                  <a:srgbClr val="A6B1C8"/>
                </a:solidFill>
                <a:latin typeface="Calibri"/>
              </a:rPr>
              <a:t>by bad association. By SB 10.59 he is Narakāsura, keeping 16,100 princesses locked up. They appealed to Kṛṣṇa, and to free them Kṛṣṇa had to kill him.</a:t>
            </a:r>
          </a:p>
          <a:p>
            <a:pPr>
              <a:lnSpc>
                <a:spcPct val="118000"/>
              </a:lnSpc>
              <a:spcBef>
                <a:spcPts val="1100"/>
              </a:spcBef>
            </a:pPr>
            <a:r>
              <a:rPr sz="1550" b="1">
                <a:solidFill>
                  <a:srgbClr val="EEF1F7"/>
                </a:solidFill>
                <a:latin typeface="Calibri"/>
              </a:rPr>
              <a:t>— Then Dvivida takes his decision.  </a:t>
            </a:r>
            <a:r>
              <a:rPr sz="1550">
                <a:solidFill>
                  <a:srgbClr val="A6B1C8"/>
                </a:solidFill>
                <a:latin typeface="Calibri"/>
              </a:rPr>
              <a:t>“He killed my best friend. I am going to get back at him.” And he set out to wreck Kṛṣṇa's flourishing kingdom.</a:t>
            </a:r>
          </a:p>
        </p:txBody>
      </p:sp>
      <p:sp>
        <p:nvSpPr>
          <p:cNvPr id="7" name="Rounded Rectangle 6"/>
          <p:cNvSpPr/>
          <p:nvPr/>
        </p:nvSpPr>
        <p:spPr>
          <a:xfrm>
            <a:off x="868680" y="4526280"/>
            <a:ext cx="10515600" cy="9601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4526280"/>
            <a:ext cx="38100" cy="96012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4672584"/>
            <a:ext cx="10104120" cy="685800"/>
          </a:xfrm>
          <a:prstGeom prst="rect">
            <a:avLst/>
          </a:prstGeom>
          <a:noFill/>
        </p:spPr>
        <p:txBody>
          <a:bodyPr wrap="square" lIns="0" rIns="0" tIns="0" bIns="0">
            <a:spAutoFit/>
          </a:bodyPr>
          <a:lstStyle/>
          <a:p>
            <a:pPr algn="l">
              <a:lnSpc>
                <a:spcPct val="115000"/>
              </a:lnSpc>
            </a:pPr>
            <a:r>
              <a:rPr sz="1400" b="1">
                <a:solidFill>
                  <a:srgbClr val="D9A441"/>
                </a:solidFill>
                <a:latin typeface="Calibri"/>
              </a:rPr>
              <a:t>Notice how it passes along.  </a:t>
            </a:r>
            <a:r>
              <a:rPr sz="1400">
                <a:solidFill>
                  <a:srgbClr val="A6B1C8"/>
                </a:solidFill>
                <a:latin typeface="Calibri"/>
              </a:rPr>
              <a:t>Naraka was spoiled by bad association. Then Dvivida was spoiled by associating with Naraka. It spreads — which is why association is treated as a serious spiritual matter and not just a social one.</a:t>
            </a:r>
          </a:p>
        </p:txBody>
      </p:sp>
      <p:sp>
        <p:nvSpPr>
          <p:cNvPr id="10" name="Rounded Rectangle 9"/>
          <p:cNvSpPr/>
          <p:nvPr/>
        </p:nvSpPr>
        <p:spPr>
          <a:xfrm>
            <a:off x="868680" y="5577840"/>
            <a:ext cx="10515600" cy="91440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868680" y="5577840"/>
            <a:ext cx="38100" cy="914400"/>
          </a:xfrm>
          <a:prstGeom prst="rect">
            <a:avLst/>
          </a:prstGeom>
          <a:solidFill>
            <a:srgbClr val="5F9C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69848" y="5724144"/>
            <a:ext cx="10104120" cy="640080"/>
          </a:xfrm>
          <a:prstGeom prst="rect">
            <a:avLst/>
          </a:prstGeom>
          <a:noFill/>
        </p:spPr>
        <p:txBody>
          <a:bodyPr wrap="square" lIns="0" rIns="0" tIns="0" bIns="0">
            <a:spAutoFit/>
          </a:bodyPr>
          <a:lstStyle/>
          <a:p>
            <a:pPr algn="l">
              <a:lnSpc>
                <a:spcPct val="115000"/>
              </a:lnSpc>
            </a:pPr>
            <a:r>
              <a:rPr sz="1400" b="1">
                <a:solidFill>
                  <a:srgbClr val="5F9C78"/>
                </a:solidFill>
                <a:latin typeface="Calibri"/>
              </a:rPr>
              <a:t>And notice why he does it.  </a:t>
            </a:r>
            <a:r>
              <a:rPr sz="1400">
                <a:solidFill>
                  <a:srgbClr val="A6B1C8"/>
                </a:solidFill>
                <a:latin typeface="Calibri"/>
              </a:rPr>
              <a:t>This is not hunger and it is not madness. It is revenge, for somebody he loved. That is the hardest kind to catch in yourself, because it never feels like a fault. It feels like loyalty.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Ānarta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rampage on Ānarta</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He went for the region around Dvārakā. The Bhāgavatam lists the damage one item at a time, and it is worth reading slowly — this is what a chain of unwanted things looks like once nobody is stopping it.</a:t>
            </a:r>
          </a:p>
        </p:txBody>
      </p:sp>
      <p:sp>
        <p:nvSpPr>
          <p:cNvPr id="6" name="TextBox 5"/>
          <p:cNvSpPr txBox="1"/>
          <p:nvPr/>
        </p:nvSpPr>
        <p:spPr>
          <a:xfrm>
            <a:off x="868680" y="2377440"/>
            <a:ext cx="10515600" cy="4023360"/>
          </a:xfrm>
          <a:prstGeom prst="rect">
            <a:avLst/>
          </a:prstGeom>
          <a:noFill/>
        </p:spPr>
        <p:txBody>
          <a:bodyPr wrap="square" lIns="0" rIns="0" tIns="0" bIns="0">
            <a:spAutoFit/>
          </a:bodyPr>
          <a:lstStyle/>
          <a:p>
            <a:pPr algn="l">
              <a:lnSpc>
                <a:spcPct val="118000"/>
              </a:lnSpc>
              <a:spcBef>
                <a:spcPts val="0"/>
              </a:spcBef>
              <a:spcAft>
                <a:spcPts val="0"/>
              </a:spcAft>
            </a:pPr>
            <a:r>
              <a:rPr sz="1450" b="0" i="0">
                <a:solidFill>
                  <a:srgbClr val="A6B1C8"/>
                </a:solidFill>
                <a:latin typeface="Calibri"/>
              </a:rPr>
              <a:t>— He set fires. Cities burned, villages burned, mines burned, the cowherds' settlements burned.</a:t>
            </a:r>
          </a:p>
          <a:p>
            <a:pPr>
              <a:lnSpc>
                <a:spcPct val="118000"/>
              </a:lnSpc>
              <a:spcBef>
                <a:spcPts val="700"/>
              </a:spcBef>
              <a:spcAft>
                <a:spcPts val="0"/>
              </a:spcAft>
            </a:pPr>
            <a:r>
              <a:rPr sz="1450" b="0" i="0">
                <a:solidFill>
                  <a:srgbClr val="A6B1C8"/>
                </a:solidFill>
                <a:latin typeface="Calibri"/>
              </a:rPr>
              <a:t>— He pulled up whole mountains and threw them at the neighbouring kingdoms — Ānarta most of all, because that is where Hari lives.</a:t>
            </a:r>
          </a:p>
          <a:p>
            <a:pPr>
              <a:lnSpc>
                <a:spcPct val="118000"/>
              </a:lnSpc>
              <a:spcBef>
                <a:spcPts val="700"/>
              </a:spcBef>
              <a:spcAft>
                <a:spcPts val="0"/>
              </a:spcAft>
            </a:pPr>
            <a:r>
              <a:rPr sz="1450" b="0" i="0">
                <a:solidFill>
                  <a:srgbClr val="A6B1C8"/>
                </a:solidFill>
                <a:latin typeface="Calibri"/>
              </a:rPr>
              <a:t>— He walked into the ocean and churned the water with his arms until the coast went under.</a:t>
            </a:r>
          </a:p>
          <a:p>
            <a:pPr>
              <a:lnSpc>
                <a:spcPct val="118000"/>
              </a:lnSpc>
              <a:spcBef>
                <a:spcPts val="700"/>
              </a:spcBef>
              <a:spcAft>
                <a:spcPts val="0"/>
              </a:spcAft>
            </a:pPr>
            <a:r>
              <a:rPr sz="1450" b="0" i="0">
                <a:solidFill>
                  <a:srgbClr val="A6B1C8"/>
                </a:solidFill>
                <a:latin typeface="Calibri"/>
              </a:rPr>
              <a:t>— He tore down the trees around the sages' huts, and fouled their sacrificial fires with his excrement and urine. He wore a belt of skulls.</a:t>
            </a:r>
          </a:p>
          <a:p>
            <a:pPr>
              <a:lnSpc>
                <a:spcPct val="118000"/>
              </a:lnSpc>
              <a:spcBef>
                <a:spcPts val="700"/>
              </a:spcBef>
              <a:spcAft>
                <a:spcPts val="0"/>
              </a:spcAft>
            </a:pPr>
            <a:r>
              <a:rPr sz="1450" b="0" i="0">
                <a:solidFill>
                  <a:srgbClr val="A6B1C8"/>
                </a:solidFill>
                <a:latin typeface="Calibri"/>
              </a:rPr>
              <a:t>— He shut men and women into mountain caves and rolled boulders across the mouths — “as a wasp imprisons smaller insects.”</a:t>
            </a:r>
          </a:p>
          <a:p>
            <a:pPr>
              <a:lnSpc>
                <a:spcPct val="118000"/>
              </a:lnSpc>
              <a:spcBef>
                <a:spcPts val="700"/>
              </a:spcBef>
              <a:spcAft>
                <a:spcPts val="0"/>
              </a:spcAft>
            </a:pPr>
            <a:r>
              <a:rPr sz="1450" b="0" i="0">
                <a:solidFill>
                  <a:srgbClr val="A6B1C8"/>
                </a:solidFill>
                <a:latin typeface="Calibri"/>
              </a:rPr>
              <a:t>— He took an enormous form, looted the crops until people went hungry, and polluted women from respectable families.</a:t>
            </a:r>
          </a:p>
        </p:txBody>
      </p:sp>
      <p:graphicFrame>
        <p:nvGraphicFramePr>
          <p:cNvPr id="7" name="Table 6"/>
          <p:cNvGraphicFramePr>
            <a:graphicFrameLocks noGrp="1"/>
          </p:cNvGraphicFramePr>
          <p:nvPr/>
        </p:nvGraphicFramePr>
        <p:xfrm>
          <a:off x="868680" y="4480560"/>
          <a:ext cx="10515600" cy="2194560"/>
        </p:xfrm>
        <a:graphic>
          <a:graphicData uri="http://schemas.openxmlformats.org/drawingml/2006/table">
            <a:tbl>
              <a:tblPr firstRow="1" bandRow="1">
                <a:tableStyleId>{5C22544A-7EE6-4342-B048-85BDC9FD1C3A}</a:tableStyleId>
              </a:tblPr>
              <a:tblGrid>
                <a:gridCol w="2194560"/>
                <a:gridCol w="8321040"/>
              </a:tblGrid>
              <a:tr h="438912">
                <a:tc>
                  <a:txBody>
                    <a:bodyPr wrap="square"/>
                    <a:lstStyle/>
                    <a:p>
                      <a:pPr>
                        <a:lnSpc>
                          <a:spcPct val="108000"/>
                        </a:lnSpc>
                      </a:pPr>
                      <a:r>
                        <a:rPr sz="1050" b="1">
                          <a:solidFill>
                            <a:srgbClr val="6D7791"/>
                          </a:solidFill>
                          <a:latin typeface="Consolas"/>
                        </a:rPr>
                        <a:t>PLACE</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WHAT IT IS</a:t>
                      </a:r>
                    </a:p>
                  </a:txBody>
                  <a:tcPr marL="100584" marR="100584" marT="45720" marB="45720" anchor="t">
                    <a:solidFill>
                      <a:srgbClr val="1B2338"/>
                    </a:solidFill>
                  </a:tcPr>
                </a:tc>
              </a:tr>
              <a:tr h="438912">
                <a:tc>
                  <a:txBody>
                    <a:bodyPr wrap="square"/>
                    <a:lstStyle/>
                    <a:p>
                      <a:pPr>
                        <a:lnSpc>
                          <a:spcPct val="108000"/>
                        </a:lnSpc>
                      </a:pPr>
                      <a:r>
                        <a:rPr sz="1200" b="0">
                          <a:solidFill>
                            <a:srgbClr val="EEF1F7"/>
                          </a:solidFill>
                          <a:latin typeface="Calibri"/>
                        </a:rPr>
                        <a:t>Dvārakā</a:t>
                      </a:r>
                    </a:p>
                  </a:txBody>
                  <a:tcPr marL="100584" marR="100584" marT="45720" marB="45720" anchor="t">
                    <a:solidFill>
                      <a:srgbClr val="141A2B"/>
                    </a:solidFill>
                  </a:tcPr>
                </a:tc>
                <a:tc>
                  <a:txBody>
                    <a:bodyPr wrap="square"/>
                    <a:lstStyle/>
                    <a:p>
                      <a:pPr>
                        <a:lnSpc>
                          <a:spcPct val="108000"/>
                        </a:lnSpc>
                      </a:pPr>
                      <a:r>
                        <a:rPr sz="1200" b="0">
                          <a:solidFill>
                            <a:srgbClr val="A6B1C8"/>
                          </a:solidFill>
                          <a:latin typeface="Calibri"/>
                        </a:rPr>
                        <a:t>The island capital where Kṛṣṇa and Balarāma reside; Ugrasena rules over subordinate kings.</a:t>
                      </a:r>
                    </a:p>
                  </a:txBody>
                  <a:tcPr marL="100584" marR="100584" marT="45720" marB="45720" anchor="t">
                    <a:solidFill>
                      <a:srgbClr val="141A2B"/>
                    </a:solidFill>
                  </a:tcPr>
                </a:tc>
              </a:tr>
              <a:tr h="438912">
                <a:tc>
                  <a:txBody>
                    <a:bodyPr wrap="square"/>
                    <a:lstStyle/>
                    <a:p>
                      <a:pPr>
                        <a:lnSpc>
                          <a:spcPct val="108000"/>
                        </a:lnSpc>
                      </a:pPr>
                      <a:r>
                        <a:rPr sz="1200" b="0">
                          <a:solidFill>
                            <a:srgbClr val="EEF1F7"/>
                          </a:solidFill>
                          <a:latin typeface="Calibri"/>
                        </a:rPr>
                        <a:t>Prabhāsa</a:t>
                      </a:r>
                    </a:p>
                  </a:txBody>
                  <a:tcPr marL="100584" marR="100584" marT="45720" marB="45720" anchor="t">
                    <a:solidFill>
                      <a:srgbClr val="0B0D14"/>
                    </a:solidFill>
                  </a:tcPr>
                </a:tc>
                <a:tc>
                  <a:txBody>
                    <a:bodyPr wrap="square"/>
                    <a:lstStyle/>
                    <a:p>
                      <a:pPr>
                        <a:lnSpc>
                          <a:spcPct val="108000"/>
                        </a:lnSpc>
                      </a:pPr>
                      <a:r>
                        <a:rPr sz="1200" b="0">
                          <a:solidFill>
                            <a:srgbClr val="A6B1C8"/>
                          </a:solidFill>
                          <a:latin typeface="Calibri"/>
                        </a:rPr>
                        <a:t>A holy place on the coast, within the same province.</a:t>
                      </a:r>
                    </a:p>
                  </a:txBody>
                  <a:tcPr marL="100584" marR="100584" marT="45720" marB="45720" anchor="t">
                    <a:solidFill>
                      <a:srgbClr val="0B0D14"/>
                    </a:solidFill>
                  </a:tcPr>
                </a:tc>
              </a:tr>
              <a:tr h="438912">
                <a:tc>
                  <a:txBody>
                    <a:bodyPr wrap="square"/>
                    <a:lstStyle/>
                    <a:p>
                      <a:pPr>
                        <a:lnSpc>
                          <a:spcPct val="108000"/>
                        </a:lnSpc>
                      </a:pPr>
                      <a:r>
                        <a:rPr sz="1200" b="0">
                          <a:solidFill>
                            <a:srgbClr val="EEF1F7"/>
                          </a:solidFill>
                          <a:latin typeface="Calibri"/>
                        </a:rPr>
                        <a:t>Raivataka Mountain</a:t>
                      </a:r>
                    </a:p>
                  </a:txBody>
                  <a:tcPr marL="100584" marR="100584" marT="45720" marB="45720" anchor="t">
                    <a:solidFill>
                      <a:srgbClr val="141A2B"/>
                    </a:solidFill>
                  </a:tcPr>
                </a:tc>
                <a:tc>
                  <a:txBody>
                    <a:bodyPr wrap="square"/>
                    <a:lstStyle/>
                    <a:p>
                      <a:pPr>
                        <a:lnSpc>
                          <a:spcPct val="108000"/>
                        </a:lnSpc>
                      </a:pPr>
                      <a:r>
                        <a:rPr sz="1200" b="0">
                          <a:solidFill>
                            <a:srgbClr val="A6B1C8"/>
                          </a:solidFill>
                          <a:latin typeface="Calibri"/>
                        </a:rPr>
                        <a:t>In King Raivata's province — where Balarāma is found dancing. Revatī, Balarāma's wife, is his daughter.</a:t>
                      </a:r>
                    </a:p>
                  </a:txBody>
                  <a:tcPr marL="100584" marR="100584" marT="45720" marB="45720" anchor="t">
                    <a:solidFill>
                      <a:srgbClr val="141A2B"/>
                    </a:solidFill>
                  </a:tcPr>
                </a:tc>
              </a:tr>
              <a:tr h="438912">
                <a:tc>
                  <a:txBody>
                    <a:bodyPr wrap="square"/>
                    <a:lstStyle/>
                    <a:p>
                      <a:pPr>
                        <a:lnSpc>
                          <a:spcPct val="108000"/>
                        </a:lnSpc>
                      </a:pPr>
                      <a:r>
                        <a:rPr sz="1200" b="0">
                          <a:solidFill>
                            <a:srgbClr val="EEF1F7"/>
                          </a:solidFill>
                          <a:latin typeface="Calibri"/>
                        </a:rPr>
                        <a:t>Ānarta vs. anartha</a:t>
                      </a:r>
                    </a:p>
                  </a:txBody>
                  <a:tcPr marL="100584" marR="100584" marT="45720" marB="45720" anchor="t">
                    <a:solidFill>
                      <a:srgbClr val="0B0D14"/>
                    </a:solidFill>
                  </a:tcPr>
                </a:tc>
                <a:tc>
                  <a:txBody>
                    <a:bodyPr wrap="square"/>
                    <a:lstStyle/>
                    <a:p>
                      <a:pPr>
                        <a:lnSpc>
                          <a:spcPct val="108000"/>
                        </a:lnSpc>
                      </a:pPr>
                      <a:r>
                        <a:rPr sz="1200" b="0">
                          <a:solidFill>
                            <a:srgbClr val="A6B1C8"/>
                          </a:solidFill>
                          <a:latin typeface="Calibri"/>
                        </a:rPr>
                        <a:t>Ānarta is the province. Anartha is the unwanted thing. Prabhupāda once named a disciple Ānartā, to general alarm — until the province was recalled.</a:t>
                      </a:r>
                    </a:p>
                  </a:txBody>
                  <a:tcPr marL="100584" marR="100584" marT="45720" marB="45720" anchor="t">
                    <a:solidFill>
                      <a:srgbClr val="0B0D14"/>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līlā</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Raivataka: the scene he walked into</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He heard sweet singing coming from Raivataka Mountain, so he went to see what it was. What he found was Balarāma enjoying Himself — and every detail of that scene is about to become a target.</a:t>
            </a:r>
          </a:p>
        </p:txBody>
      </p:sp>
      <p:sp>
        <p:nvSpPr>
          <p:cNvPr id="6" name="Rounded Rectangle 5"/>
          <p:cNvSpPr/>
          <p:nvPr/>
        </p:nvSpPr>
        <p:spPr>
          <a:xfrm>
            <a:off x="868680" y="2423160"/>
            <a:ext cx="10515600" cy="1325880"/>
          </a:xfrm>
          <a:prstGeom prst="roundRect">
            <a:avLst/>
          </a:prstGeom>
          <a:solidFill>
            <a:srgbClr val="1B2338"/>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24712" y="2587752"/>
            <a:ext cx="10012680" cy="1051560"/>
          </a:xfrm>
          <a:prstGeom prst="rect">
            <a:avLst/>
          </a:prstGeom>
          <a:noFill/>
        </p:spPr>
        <p:txBody>
          <a:bodyPr wrap="square" lIns="0" rIns="0" tIns="0" bIns="0">
            <a:spAutoFit/>
          </a:bodyPr>
          <a:lstStyle/>
          <a:p>
            <a:pPr algn="l">
              <a:lnSpc>
                <a:spcPct val="115000"/>
              </a:lnSpc>
              <a:spcBef>
                <a:spcPts val="0"/>
              </a:spcBef>
              <a:spcAft>
                <a:spcPts val="0"/>
              </a:spcAft>
            </a:pPr>
            <a:r>
              <a:rPr sz="1600" b="0" i="1">
                <a:solidFill>
                  <a:srgbClr val="DBE2EE"/>
                </a:solidFill>
                <a:latin typeface="Georgia"/>
              </a:rPr>
              <a:t>There he saw Śrī Balarāma, adorned with a garland of lotuses and appearing most attractive in every limb. He was singing amidst a crowd of young women, and since He had drunk vāruṇī liquor, His eyes rolled as if He were intoxicated. His body shone brilliantly as He behaved like an elephant in mada.</a:t>
            </a:r>
          </a:p>
          <a:p>
            <a:pPr>
              <a:spcBef>
                <a:spcPts val="800"/>
              </a:spcBef>
              <a:spcAft>
                <a:spcPts val="0"/>
              </a:spcAft>
            </a:pPr>
            <a:r>
              <a:rPr sz="1000" b="0" i="0">
                <a:solidFill>
                  <a:srgbClr val="6D7791"/>
                </a:solidFill>
                <a:latin typeface="Consolas"/>
              </a:rPr>
              <a:t>THE SCENE AT RAIVATAKA · SB 10.67</a:t>
            </a:r>
          </a:p>
        </p:txBody>
      </p:sp>
      <p:graphicFrame>
        <p:nvGraphicFramePr>
          <p:cNvPr id="8" name="Table 7"/>
          <p:cNvGraphicFramePr>
            <a:graphicFrameLocks noGrp="1"/>
          </p:cNvGraphicFramePr>
          <p:nvPr/>
        </p:nvGraphicFramePr>
        <p:xfrm>
          <a:off x="868680" y="3886200"/>
          <a:ext cx="10515599" cy="2743200"/>
        </p:xfrm>
        <a:graphic>
          <a:graphicData uri="http://schemas.openxmlformats.org/drawingml/2006/table">
            <a:tbl>
              <a:tblPr firstRow="1" bandRow="1">
                <a:tableStyleId>{5C22544A-7EE6-4342-B048-85BDC9FD1C3A}</a:tableStyleId>
              </a:tblPr>
              <a:tblGrid>
                <a:gridCol w="2103119"/>
                <a:gridCol w="4754880"/>
                <a:gridCol w="3657600"/>
              </a:tblGrid>
              <a:tr h="548640">
                <a:tc>
                  <a:txBody>
                    <a:bodyPr wrap="square"/>
                    <a:lstStyle/>
                    <a:p>
                      <a:pPr>
                        <a:lnSpc>
                          <a:spcPct val="108000"/>
                        </a:lnSpc>
                      </a:pPr>
                      <a:r>
                        <a:rPr sz="1050" b="1">
                          <a:solidFill>
                            <a:srgbClr val="6D7791"/>
                          </a:solidFill>
                          <a:latin typeface="Consolas"/>
                        </a:rPr>
                        <a:t>ELEMENT</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WHAT IT IS</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WHY IT'S THERE</a:t>
                      </a:r>
                    </a:p>
                  </a:txBody>
                  <a:tcPr marL="100584" marR="100584" marT="45720" marB="45720" anchor="t">
                    <a:solidFill>
                      <a:srgbClr val="1B2338"/>
                    </a:solidFill>
                  </a:tcPr>
                </a:tc>
              </a:tr>
              <a:tr h="548640">
                <a:tc>
                  <a:txBody>
                    <a:bodyPr wrap="square"/>
                    <a:lstStyle/>
                    <a:p>
                      <a:pPr>
                        <a:lnSpc>
                          <a:spcPct val="108000"/>
                        </a:lnSpc>
                      </a:pPr>
                      <a:r>
                        <a:rPr sz="1200" b="0">
                          <a:solidFill>
                            <a:srgbClr val="EEF1F7"/>
                          </a:solidFill>
                          <a:latin typeface="Calibri"/>
                        </a:rPr>
                        <a:t>Revatī</a:t>
                      </a:r>
                    </a:p>
                  </a:txBody>
                  <a:tcPr marL="100584" marR="100584" marT="45720" marB="45720" anchor="t">
                    <a:solidFill>
                      <a:srgbClr val="141A2B"/>
                    </a:solidFill>
                  </a:tcPr>
                </a:tc>
                <a:tc>
                  <a:txBody>
                    <a:bodyPr wrap="square"/>
                    <a:lstStyle/>
                    <a:p>
                      <a:pPr>
                        <a:lnSpc>
                          <a:spcPct val="108000"/>
                        </a:lnSpc>
                      </a:pPr>
                      <a:r>
                        <a:rPr sz="1200" b="0">
                          <a:solidFill>
                            <a:srgbClr val="A6B1C8"/>
                          </a:solidFill>
                          <a:latin typeface="Calibri"/>
                        </a:rPr>
                        <a:t>Daughter of King Raivata (Kakudmī), and Balarāma's wife. One of the women there.</a:t>
                      </a:r>
                    </a:p>
                  </a:txBody>
                  <a:tcPr marL="100584" marR="100584" marT="45720" marB="45720" anchor="t">
                    <a:solidFill>
                      <a:srgbClr val="141A2B"/>
                    </a:solidFill>
                  </a:tcPr>
                </a:tc>
                <a:tc>
                  <a:txBody>
                    <a:bodyPr wrap="square"/>
                    <a:lstStyle/>
                    <a:p>
                      <a:pPr>
                        <a:lnSpc>
                          <a:spcPct val="108000"/>
                        </a:lnSpc>
                      </a:pPr>
                      <a:r>
                        <a:rPr sz="1200" b="0">
                          <a:solidFill>
                            <a:srgbClr val="A6B1C8"/>
                          </a:solidFill>
                          <a:latin typeface="Calibri"/>
                        </a:rPr>
                        <a:t>That marriage is the reason Balarāma is on this mountain in the first place.</a:t>
                      </a:r>
                    </a:p>
                  </a:txBody>
                  <a:tcPr marL="100584" marR="100584" marT="45720" marB="45720" anchor="t">
                    <a:solidFill>
                      <a:srgbClr val="141A2B"/>
                    </a:solidFill>
                  </a:tcPr>
                </a:tc>
              </a:tr>
              <a:tr h="548640">
                <a:tc>
                  <a:txBody>
                    <a:bodyPr wrap="square"/>
                    <a:lstStyle/>
                    <a:p>
                      <a:pPr>
                        <a:lnSpc>
                          <a:spcPct val="108000"/>
                        </a:lnSpc>
                      </a:pPr>
                      <a:r>
                        <a:rPr sz="1200" b="0">
                          <a:solidFill>
                            <a:srgbClr val="EEF1F7"/>
                          </a:solidFill>
                          <a:latin typeface="Calibri"/>
                        </a:rPr>
                        <a:t>Vāruṇī</a:t>
                      </a:r>
                    </a:p>
                  </a:txBody>
                  <a:tcPr marL="100584" marR="100584" marT="45720" marB="45720" anchor="t">
                    <a:solidFill>
                      <a:srgbClr val="0B0D14"/>
                    </a:solidFill>
                  </a:tcPr>
                </a:tc>
                <a:tc>
                  <a:txBody>
                    <a:bodyPr wrap="square"/>
                    <a:lstStyle/>
                    <a:p>
                      <a:pPr>
                        <a:lnSpc>
                          <a:spcPct val="108000"/>
                        </a:lnSpc>
                      </a:pPr>
                      <a:r>
                        <a:rPr sz="1200" b="0">
                          <a:solidFill>
                            <a:srgbClr val="A6B1C8"/>
                          </a:solidFill>
                          <a:latin typeface="Calibri"/>
                        </a:rPr>
                        <a:t>A fragrant drink. Two chapters earlier Varuṇa had it collect in a tree hollow so Balarāma could dance.</a:t>
                      </a:r>
                    </a:p>
                  </a:txBody>
                  <a:tcPr marL="100584" marR="100584" marT="45720" marB="45720" anchor="t">
                    <a:solidFill>
                      <a:srgbClr val="0B0D14"/>
                    </a:solidFill>
                  </a:tcPr>
                </a:tc>
                <a:tc>
                  <a:txBody>
                    <a:bodyPr wrap="square"/>
                    <a:lstStyle/>
                    <a:p>
                      <a:pPr>
                        <a:lnSpc>
                          <a:spcPct val="108000"/>
                        </a:lnSpc>
                      </a:pPr>
                      <a:r>
                        <a:rPr sz="1200" b="0">
                          <a:solidFill>
                            <a:srgbClr val="A6B1C8"/>
                          </a:solidFill>
                          <a:latin typeface="Calibri"/>
                        </a:rPr>
                        <a:t>How it turns up again here is not explained. It just does.</a:t>
                      </a:r>
                    </a:p>
                  </a:txBody>
                  <a:tcPr marL="100584" marR="100584" marT="45720" marB="45720" anchor="t">
                    <a:solidFill>
                      <a:srgbClr val="0B0D14"/>
                    </a:solidFill>
                  </a:tcPr>
                </a:tc>
              </a:tr>
              <a:tr h="548640">
                <a:tc>
                  <a:txBody>
                    <a:bodyPr wrap="square"/>
                    <a:lstStyle/>
                    <a:p>
                      <a:pPr>
                        <a:lnSpc>
                          <a:spcPct val="108000"/>
                        </a:lnSpc>
                      </a:pPr>
                      <a:r>
                        <a:rPr sz="1200" b="0">
                          <a:solidFill>
                            <a:srgbClr val="EEF1F7"/>
                          </a:solidFill>
                          <a:latin typeface="Calibri"/>
                        </a:rPr>
                        <a:t>Mada</a:t>
                      </a:r>
                    </a:p>
                  </a:txBody>
                  <a:tcPr marL="100584" marR="100584" marT="45720" marB="45720" anchor="t">
                    <a:solidFill>
                      <a:srgbClr val="141A2B"/>
                    </a:solidFill>
                  </a:tcPr>
                </a:tc>
                <a:tc>
                  <a:txBody>
                    <a:bodyPr wrap="square"/>
                    <a:lstStyle/>
                    <a:p>
                      <a:pPr>
                        <a:lnSpc>
                          <a:spcPct val="108000"/>
                        </a:lnSpc>
                      </a:pPr>
                      <a:r>
                        <a:rPr sz="1200" b="0">
                          <a:solidFill>
                            <a:srgbClr val="A6B1C8"/>
                          </a:solidFill>
                          <a:latin typeface="Calibri"/>
                        </a:rPr>
                        <a:t>The scented fluid that runs from a bull elephant's temples when he is in rut.</a:t>
                      </a:r>
                    </a:p>
                  </a:txBody>
                  <a:tcPr marL="100584" marR="100584" marT="45720" marB="45720" anchor="t">
                    <a:solidFill>
                      <a:srgbClr val="141A2B"/>
                    </a:solidFill>
                  </a:tcPr>
                </a:tc>
                <a:tc>
                  <a:txBody>
                    <a:bodyPr wrap="square"/>
                    <a:lstStyle/>
                    <a:p>
                      <a:pPr>
                        <a:lnSpc>
                          <a:spcPct val="108000"/>
                        </a:lnSpc>
                      </a:pPr>
                      <a:r>
                        <a:rPr sz="1200" b="0">
                          <a:solidFill>
                            <a:srgbClr val="A6B1C8"/>
                          </a:solidFill>
                          <a:latin typeface="Calibri"/>
                        </a:rPr>
                        <a:t>The verse's own comparison for great strength in a happy, unguarded mood.</a:t>
                      </a:r>
                    </a:p>
                  </a:txBody>
                  <a:tcPr marL="100584" marR="100584" marT="45720" marB="45720" anchor="t">
                    <a:solidFill>
                      <a:srgbClr val="141A2B"/>
                    </a:solidFill>
                  </a:tcPr>
                </a:tc>
              </a:tr>
              <a:tr h="548640">
                <a:tc>
                  <a:txBody>
                    <a:bodyPr wrap="square"/>
                    <a:lstStyle/>
                    <a:p>
                      <a:pPr>
                        <a:lnSpc>
                          <a:spcPct val="108000"/>
                        </a:lnSpc>
                      </a:pPr>
                      <a:r>
                        <a:rPr sz="1200" b="0">
                          <a:solidFill>
                            <a:srgbClr val="EEF1F7"/>
                          </a:solidFill>
                          <a:latin typeface="Calibri"/>
                        </a:rPr>
                        <a:t>Plough &amp; club Sunanda</a:t>
                      </a:r>
                    </a:p>
                  </a:txBody>
                  <a:tcPr marL="100584" marR="100584" marT="45720" marB="45720" anchor="t">
                    <a:solidFill>
                      <a:srgbClr val="0B0D14"/>
                    </a:solidFill>
                  </a:tcPr>
                </a:tc>
                <a:tc>
                  <a:txBody>
                    <a:bodyPr wrap="square"/>
                    <a:lstStyle/>
                    <a:p>
                      <a:pPr>
                        <a:lnSpc>
                          <a:spcPct val="108000"/>
                        </a:lnSpc>
                      </a:pPr>
                      <a:r>
                        <a:rPr sz="1200" b="0">
                          <a:solidFill>
                            <a:srgbClr val="A6B1C8"/>
                          </a:solidFill>
                          <a:latin typeface="Calibri"/>
                        </a:rPr>
                        <a:t>Both there — but not in His hands. He is dancing.</a:t>
                      </a:r>
                    </a:p>
                  </a:txBody>
                  <a:tcPr marL="100584" marR="100584" marT="45720" marB="45720" anchor="t">
                    <a:solidFill>
                      <a:srgbClr val="0B0D14"/>
                    </a:solidFill>
                  </a:tcPr>
                </a:tc>
                <a:tc>
                  <a:txBody>
                    <a:bodyPr wrap="square"/>
                    <a:lstStyle/>
                    <a:p>
                      <a:pPr>
                        <a:lnSpc>
                          <a:spcPct val="108000"/>
                        </a:lnSpc>
                      </a:pPr>
                      <a:r>
                        <a:rPr sz="1200" b="0">
                          <a:solidFill>
                            <a:srgbClr val="A6B1C8"/>
                          </a:solidFill>
                          <a:latin typeface="Calibri"/>
                        </a:rPr>
                        <a:t>That is exactly what makes the next scene possible.</a:t>
                      </a:r>
                    </a:p>
                  </a:txBody>
                  <a:tcPr marL="100584" marR="100584" marT="45720" marB="45720" anchor="t">
                    <a:solidFill>
                      <a:srgbClr val="0B0D14"/>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avajñā</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provocation</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Watch what he does, because he does not attack. He heckles — and each thing he does is one step worse than the last.</a:t>
            </a:r>
          </a:p>
        </p:txBody>
      </p:sp>
      <p:sp>
        <p:nvSpPr>
          <p:cNvPr id="6" name="TextBox 5"/>
          <p:cNvSpPr txBox="1"/>
          <p:nvPr/>
        </p:nvSpPr>
        <p:spPr>
          <a:xfrm>
            <a:off x="868680" y="2286000"/>
            <a:ext cx="10515600" cy="4023360"/>
          </a:xfrm>
          <a:prstGeom prst="rect">
            <a:avLst/>
          </a:prstGeom>
          <a:noFill/>
        </p:spPr>
        <p:txBody>
          <a:bodyPr wrap="square" lIns="0" rIns="0" tIns="0" bIns="0">
            <a:spAutoFit/>
          </a:bodyPr>
          <a:lstStyle/>
          <a:p>
            <a:pPr algn="l">
              <a:lnSpc>
                <a:spcPct val="118000"/>
              </a:lnSpc>
              <a:spcBef>
                <a:spcPts val="0"/>
              </a:spcBef>
              <a:spcAft>
                <a:spcPts val="0"/>
              </a:spcAft>
            </a:pPr>
            <a:r>
              <a:rPr sz="1400" b="0" i="0">
                <a:solidFill>
                  <a:srgbClr val="A6B1C8"/>
                </a:solidFill>
                <a:latin typeface="Calibri"/>
              </a:rPr>
              <a:t>— He climbs onto a branch, shakes the trees, and makes the sound kilakilā — a gorilla sound.</a:t>
            </a:r>
          </a:p>
          <a:p>
            <a:pPr>
              <a:lnSpc>
                <a:spcPct val="118000"/>
              </a:lnSpc>
              <a:spcBef>
                <a:spcPts val="700"/>
              </a:spcBef>
              <a:spcAft>
                <a:spcPts val="0"/>
              </a:spcAft>
            </a:pPr>
            <a:r>
              <a:rPr sz="1400" b="0" i="0">
                <a:solidFill>
                  <a:srgbClr val="A6B1C8"/>
                </a:solidFill>
                <a:latin typeface="Calibri"/>
              </a:rPr>
              <a:t>— The girls with Balarāma laugh at his cheek. They are young, they like a joke, they are a little silly.</a:t>
            </a:r>
          </a:p>
          <a:p>
            <a:pPr>
              <a:lnSpc>
                <a:spcPct val="118000"/>
              </a:lnSpc>
              <a:spcBef>
                <a:spcPts val="700"/>
              </a:spcBef>
              <a:spcAft>
                <a:spcPts val="0"/>
              </a:spcAft>
            </a:pPr>
            <a:r>
              <a:rPr sz="1400" b="0" i="0">
                <a:solidFill>
                  <a:srgbClr val="A6B1C8"/>
                </a:solidFill>
                <a:latin typeface="Calibri"/>
              </a:rPr>
              <a:t>— Being laughed at is what sets him off. Now he insults the girls — pulling faces with his eyebrows, walking about absurdly, exposing himself and urinating, and all of this while Balarāma is watching him.</a:t>
            </a:r>
          </a:p>
          <a:p>
            <a:pPr>
              <a:lnSpc>
                <a:spcPct val="118000"/>
              </a:lnSpc>
              <a:spcBef>
                <a:spcPts val="700"/>
              </a:spcBef>
              <a:spcAft>
                <a:spcPts val="0"/>
              </a:spcAft>
            </a:pPr>
            <a:r>
              <a:rPr sz="1400" b="0" i="0">
                <a:solidFill>
                  <a:srgbClr val="A6B1C8"/>
                </a:solidFill>
                <a:latin typeface="Calibri"/>
              </a:rPr>
              <a:t>— Viśvanātha Cakravartī Ṭhākura points out the worst part: he did not even glance at Balarāma.</a:t>
            </a:r>
          </a:p>
          <a:p>
            <a:pPr>
              <a:lnSpc>
                <a:spcPct val="118000"/>
              </a:lnSpc>
              <a:spcBef>
                <a:spcPts val="700"/>
              </a:spcBef>
              <a:spcAft>
                <a:spcPts val="0"/>
              </a:spcAft>
            </a:pPr>
            <a:r>
              <a:rPr sz="1400" b="0" i="0">
                <a:solidFill>
                  <a:srgbClr val="A6B1C8"/>
                </a:solidFill>
                <a:latin typeface="Calibri"/>
              </a:rPr>
              <a:t>— Balarāma throws a rock at him. He dodges it and grabs the pot of vāruṇī.</a:t>
            </a:r>
          </a:p>
          <a:p>
            <a:pPr>
              <a:lnSpc>
                <a:spcPct val="118000"/>
              </a:lnSpc>
              <a:spcBef>
                <a:spcPts val="700"/>
              </a:spcBef>
              <a:spcAft>
                <a:spcPts val="0"/>
              </a:spcAft>
            </a:pPr>
            <a:r>
              <a:rPr sz="1400" b="0" i="0">
                <a:solidFill>
                  <a:srgbClr val="A6B1C8"/>
                </a:solidFill>
                <a:latin typeface="Calibri"/>
              </a:rPr>
              <a:t>— He smashes the pot, then starts pulling at the girls' clothes, laughing at Him the whole time.</a:t>
            </a:r>
          </a:p>
        </p:txBody>
      </p:sp>
      <p:sp>
        <p:nvSpPr>
          <p:cNvPr id="7" name="Rounded Rectangle 6"/>
          <p:cNvSpPr/>
          <p:nvPr/>
        </p:nvSpPr>
        <p:spPr>
          <a:xfrm>
            <a:off x="868680" y="4343400"/>
            <a:ext cx="10515600" cy="9601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4343400"/>
            <a:ext cx="38100" cy="96012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4489704"/>
            <a:ext cx="10104120" cy="685800"/>
          </a:xfrm>
          <a:prstGeom prst="rect">
            <a:avLst/>
          </a:prstGeom>
          <a:noFill/>
        </p:spPr>
        <p:txBody>
          <a:bodyPr wrap="square" lIns="0" rIns="0" tIns="0" bIns="0">
            <a:spAutoFit/>
          </a:bodyPr>
          <a:lstStyle/>
          <a:p>
            <a:pPr algn="l">
              <a:lnSpc>
                <a:spcPct val="115000"/>
              </a:lnSpc>
            </a:pPr>
            <a:r>
              <a:rPr sz="1400" b="1">
                <a:solidFill>
                  <a:srgbClr val="C2624A"/>
                </a:solidFill>
                <a:latin typeface="Calibri"/>
              </a:rPr>
              <a:t>The one detail worth this whole slide.  </a:t>
            </a:r>
            <a:r>
              <a:rPr sz="1400">
                <a:solidFill>
                  <a:srgbClr val="A6B1C8"/>
                </a:solidFill>
                <a:latin typeface="Calibri"/>
              </a:rPr>
              <a:t>Balarāma's first move is a rock — not His club. The commentary says why: because of Dvivida's previous position as a devotee. Even now, He remembers who this used to be.</a:t>
            </a:r>
          </a:p>
        </p:txBody>
      </p:sp>
      <p:sp>
        <p:nvSpPr>
          <p:cNvPr id="10" name="Rounded Rectangle 9"/>
          <p:cNvSpPr/>
          <p:nvPr/>
        </p:nvSpPr>
        <p:spPr>
          <a:xfrm>
            <a:off x="868680" y="5394960"/>
            <a:ext cx="10515600" cy="9601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868680" y="5394960"/>
            <a:ext cx="38100" cy="96012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69848" y="5541264"/>
            <a:ext cx="10104120" cy="685800"/>
          </a:xfrm>
          <a:prstGeom prst="rect">
            <a:avLst/>
          </a:prstGeom>
          <a:noFill/>
        </p:spPr>
        <p:txBody>
          <a:bodyPr wrap="square" lIns="0" rIns="0" tIns="0" bIns="0">
            <a:spAutoFit/>
          </a:bodyPr>
          <a:lstStyle/>
          <a:p>
            <a:pPr algn="l">
              <a:lnSpc>
                <a:spcPct val="115000"/>
              </a:lnSpc>
            </a:pPr>
            <a:r>
              <a:rPr sz="1400" b="1">
                <a:solidFill>
                  <a:srgbClr val="D9A441"/>
                </a:solidFill>
                <a:latin typeface="Calibri"/>
              </a:rPr>
              <a:t>And this is not what He decides on.  </a:t>
            </a:r>
            <a:r>
              <a:rPr sz="1400">
                <a:solidFill>
                  <a:srgbClr val="A6B1C8"/>
                </a:solidFill>
                <a:latin typeface="Calibri"/>
              </a:rPr>
              <a:t>Only after seeing all this rudeness does Balarāma think of the wrecked kingdoms all around — and then He picks up His club and plough. He decides on the ruined province, not the ruined party.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yuddha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fight, blow by blow</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Dvivida keeps reaching for something bigger until he runs out of things to throw, while Balarāma keeps putting weapons down until He has none left.</a:t>
            </a:r>
          </a:p>
        </p:txBody>
      </p:sp>
      <p:sp>
        <p:nvSpPr>
          <p:cNvPr id="6" name="TextBox 5"/>
          <p:cNvSpPr txBox="1"/>
          <p:nvPr/>
        </p:nvSpPr>
        <p:spPr>
          <a:xfrm>
            <a:off x="868680" y="2286000"/>
            <a:ext cx="5120640" cy="274320"/>
          </a:xfrm>
          <a:prstGeom prst="rect">
            <a:avLst/>
          </a:prstGeom>
          <a:noFill/>
        </p:spPr>
        <p:txBody>
          <a:bodyPr wrap="square" lIns="0" rIns="0" tIns="0" bIns="0">
            <a:spAutoFit/>
          </a:bodyPr>
          <a:lstStyle/>
          <a:p>
            <a:pPr algn="l">
              <a:spcBef>
                <a:spcPts val="0"/>
              </a:spcBef>
              <a:spcAft>
                <a:spcPts val="0"/>
              </a:spcAft>
            </a:pPr>
            <a:r>
              <a:rPr sz="1100" b="0" i="0">
                <a:solidFill>
                  <a:srgbClr val="C2624A"/>
                </a:solidFill>
                <a:latin typeface="Consolas"/>
              </a:rPr>
              <a:t>DVIVIDA — ESCALATING</a:t>
            </a:r>
          </a:p>
        </p:txBody>
      </p:sp>
      <p:sp>
        <p:nvSpPr>
          <p:cNvPr id="7" name="TextBox 6"/>
          <p:cNvSpPr txBox="1"/>
          <p:nvPr/>
        </p:nvSpPr>
        <p:spPr>
          <a:xfrm>
            <a:off x="6263640" y="2286000"/>
            <a:ext cx="5120640" cy="274320"/>
          </a:xfrm>
          <a:prstGeom prst="rect">
            <a:avLst/>
          </a:prstGeom>
          <a:noFill/>
        </p:spPr>
        <p:txBody>
          <a:bodyPr wrap="square" lIns="0" rIns="0" tIns="0" bIns="0">
            <a:spAutoFit/>
          </a:bodyPr>
          <a:lstStyle/>
          <a:p>
            <a:pPr algn="l">
              <a:spcBef>
                <a:spcPts val="0"/>
              </a:spcBef>
              <a:spcAft>
                <a:spcPts val="0"/>
              </a:spcAft>
            </a:pPr>
            <a:r>
              <a:rPr sz="1100" b="0" i="0">
                <a:solidFill>
                  <a:srgbClr val="EEF1F7"/>
                </a:solidFill>
                <a:latin typeface="Consolas"/>
              </a:rPr>
              <a:t>BALARĀMA — DISARMING</a:t>
            </a:r>
          </a:p>
        </p:txBody>
      </p:sp>
      <p:sp>
        <p:nvSpPr>
          <p:cNvPr id="8" name="Rounded Rectangle 7"/>
          <p:cNvSpPr/>
          <p:nvPr/>
        </p:nvSpPr>
        <p:spPr>
          <a:xfrm>
            <a:off x="868680" y="2633472"/>
            <a:ext cx="5120640" cy="566928"/>
          </a:xfrm>
          <a:prstGeom prst="roundRect">
            <a:avLst/>
          </a:prstGeom>
          <a:solidFill>
            <a:srgbClr val="141A2B"/>
          </a:solidFill>
          <a:ln w="1397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24128" y="2724912"/>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Pulls up a śāla tree with one hand and hits Him on the head</a:t>
            </a:r>
          </a:p>
        </p:txBody>
      </p:sp>
      <p:sp>
        <p:nvSpPr>
          <p:cNvPr id="10" name="Rounded Rectangle 9"/>
          <p:cNvSpPr/>
          <p:nvPr/>
        </p:nvSpPr>
        <p:spPr>
          <a:xfrm>
            <a:off x="6263640" y="2633472"/>
            <a:ext cx="5120640" cy="566928"/>
          </a:xfrm>
          <a:prstGeom prst="roundRect">
            <a:avLst/>
          </a:prstGeom>
          <a:solidFill>
            <a:srgbClr val="141A2B"/>
          </a:solidFill>
          <a:ln w="1397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19088" y="2724912"/>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Does not move — stands like a mountain — and catches the tree</a:t>
            </a:r>
          </a:p>
        </p:txBody>
      </p:sp>
      <p:sp>
        <p:nvSpPr>
          <p:cNvPr id="12" name="Rounded Rectangle 11"/>
          <p:cNvSpPr/>
          <p:nvPr/>
        </p:nvSpPr>
        <p:spPr>
          <a:xfrm>
            <a:off x="868680" y="3291839"/>
            <a:ext cx="5120640" cy="566928"/>
          </a:xfrm>
          <a:prstGeom prst="roundRect">
            <a:avLst/>
          </a:prstGeom>
          <a:solidFill>
            <a:srgbClr val="141A2B"/>
          </a:solidFill>
          <a:ln w="1397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24128" y="3383279"/>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Does not even notice his own wound. Another tree, then another</a:t>
            </a:r>
          </a:p>
        </p:txBody>
      </p:sp>
      <p:sp>
        <p:nvSpPr>
          <p:cNvPr id="14" name="Rounded Rectangle 13"/>
          <p:cNvSpPr/>
          <p:nvPr/>
        </p:nvSpPr>
        <p:spPr>
          <a:xfrm>
            <a:off x="6263640" y="3291839"/>
            <a:ext cx="5120640" cy="566928"/>
          </a:xfrm>
          <a:prstGeom prst="roundRect">
            <a:avLst/>
          </a:prstGeom>
          <a:solidFill>
            <a:srgbClr val="141A2B"/>
          </a:solidFill>
          <a:ln w="1397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19088" y="3383279"/>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Hits his skull with the club Sunanda — “a mountain beautified by streaks of red oxide”</a:t>
            </a:r>
          </a:p>
        </p:txBody>
      </p:sp>
      <p:sp>
        <p:nvSpPr>
          <p:cNvPr id="16" name="Rounded Rectangle 15"/>
          <p:cNvSpPr/>
          <p:nvPr/>
        </p:nvSpPr>
        <p:spPr>
          <a:xfrm>
            <a:off x="868680" y="3950208"/>
            <a:ext cx="5120640" cy="566928"/>
          </a:xfrm>
          <a:prstGeom prst="roundRect">
            <a:avLst/>
          </a:prstGeom>
          <a:solidFill>
            <a:srgbClr val="141A2B"/>
          </a:solidFill>
          <a:ln w="1397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24128" y="4041648"/>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No trees left in the forest, so he throws stones</a:t>
            </a:r>
          </a:p>
        </p:txBody>
      </p:sp>
      <p:sp>
        <p:nvSpPr>
          <p:cNvPr id="18" name="Rounded Rectangle 17"/>
          <p:cNvSpPr/>
          <p:nvPr/>
        </p:nvSpPr>
        <p:spPr>
          <a:xfrm>
            <a:off x="6263640" y="3950208"/>
            <a:ext cx="5120640" cy="566928"/>
          </a:xfrm>
          <a:prstGeom prst="roundRect">
            <a:avLst/>
          </a:prstGeom>
          <a:solidFill>
            <a:srgbClr val="141A2B"/>
          </a:solidFill>
          <a:ln w="1397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19088" y="4041648"/>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Breaks up every tree he throws, then every stone</a:t>
            </a:r>
          </a:p>
        </p:txBody>
      </p:sp>
      <p:sp>
        <p:nvSpPr>
          <p:cNvPr id="20" name="Rounded Rectangle 19"/>
          <p:cNvSpPr/>
          <p:nvPr/>
        </p:nvSpPr>
        <p:spPr>
          <a:xfrm>
            <a:off x="868680" y="4608576"/>
            <a:ext cx="5120640" cy="566928"/>
          </a:xfrm>
          <a:prstGeom prst="roundRect">
            <a:avLst/>
          </a:prstGeom>
          <a:solidFill>
            <a:srgbClr val="141A2B"/>
          </a:solidFill>
          <a:ln w="1397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24128" y="4700016"/>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Closes his fists and beats on the Lord's body</a:t>
            </a:r>
          </a:p>
        </p:txBody>
      </p:sp>
      <p:sp>
        <p:nvSpPr>
          <p:cNvPr id="22" name="Rounded Rectangle 21"/>
          <p:cNvSpPr/>
          <p:nvPr/>
        </p:nvSpPr>
        <p:spPr>
          <a:xfrm>
            <a:off x="6263640" y="4608576"/>
            <a:ext cx="5120640" cy="566928"/>
          </a:xfrm>
          <a:prstGeom prst="roundRect">
            <a:avLst/>
          </a:prstGeom>
          <a:solidFill>
            <a:srgbClr val="141A2B"/>
          </a:solidFill>
          <a:ln w="1397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19088" y="4700016"/>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Puts club and plough aside — bare hands only, arms like palm trees</a:t>
            </a:r>
          </a:p>
        </p:txBody>
      </p:sp>
      <p:sp>
        <p:nvSpPr>
          <p:cNvPr id="24" name="Rounded Rectangle 23"/>
          <p:cNvSpPr/>
          <p:nvPr/>
        </p:nvSpPr>
        <p:spPr>
          <a:xfrm>
            <a:off x="868680" y="5266944"/>
            <a:ext cx="5120640" cy="566928"/>
          </a:xfrm>
          <a:prstGeom prst="roundRect">
            <a:avLst/>
          </a:prstGeom>
          <a:solidFill>
            <a:srgbClr val="141A2B"/>
          </a:solidFill>
          <a:ln w="2032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24128" y="5358384"/>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1" i="0">
                <a:solidFill>
                  <a:srgbClr val="EEF1F7"/>
                </a:solidFill>
                <a:latin typeface="Calibri"/>
              </a:rPr>
              <a:t>Falls down vomiting blood. The mountain shakes “like a boat tossed about at sea.”</a:t>
            </a:r>
          </a:p>
        </p:txBody>
      </p:sp>
      <p:sp>
        <p:nvSpPr>
          <p:cNvPr id="26" name="Rounded Rectangle 25"/>
          <p:cNvSpPr/>
          <p:nvPr/>
        </p:nvSpPr>
        <p:spPr>
          <a:xfrm>
            <a:off x="6263640" y="5266944"/>
            <a:ext cx="5120640" cy="566928"/>
          </a:xfrm>
          <a:prstGeom prst="roundRect">
            <a:avLst/>
          </a:prstGeom>
          <a:solidFill>
            <a:srgbClr val="1B2338"/>
          </a:solidFill>
          <a:ln w="2286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19088" y="5358384"/>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1" i="0">
                <a:solidFill>
                  <a:srgbClr val="EEF1F7"/>
                </a:solidFill>
                <a:latin typeface="Calibri"/>
              </a:rPr>
              <a:t>One blow to the collarbone</a:t>
            </a:r>
          </a:p>
        </p:txBody>
      </p:sp>
      <p:sp>
        <p:nvSpPr>
          <p:cNvPr id="28" name="TextBox 27"/>
          <p:cNvSpPr txBox="1"/>
          <p:nvPr/>
        </p:nvSpPr>
        <p:spPr>
          <a:xfrm>
            <a:off x="868680" y="6053328"/>
            <a:ext cx="10515600" cy="548640"/>
          </a:xfrm>
          <a:prstGeom prst="rect">
            <a:avLst/>
          </a:prstGeom>
          <a:noFill/>
        </p:spPr>
        <p:txBody>
          <a:bodyPr wrap="square" lIns="0" rIns="0" tIns="0" bIns="0">
            <a:spAutoFit/>
          </a:bodyPr>
          <a:lstStyle/>
          <a:p>
            <a:pPr algn="l">
              <a:spcBef>
                <a:spcPts val="0"/>
              </a:spcBef>
              <a:spcAft>
                <a:spcPts val="0"/>
              </a:spcAft>
            </a:pPr>
            <a:r>
              <a:rPr sz="1350" b="0" i="1">
                <a:solidFill>
                  <a:srgbClr val="D9A441"/>
                </a:solidFill>
                <a:latin typeface="Georgia"/>
              </a:rPr>
              <a:t>The two sides move in opposite directions. He goes tree → stone → fist; the Lord goes club → nothing at all — and that is when it finishes. The demigods called out, “Victory to You! Well done!” and showered flowers.</a:t>
            </a:r>
          </a:p>
          <a:p>
            <a:pPr>
              <a:spcBef>
                <a:spcPts val="500"/>
              </a:spcBef>
              <a:spcAft>
                <a:spcPts val="0"/>
              </a:spcAft>
            </a:pPr>
            <a:r>
              <a:rPr sz="1200" b="0" i="0">
                <a:solidFill>
                  <a:srgbClr val="6D7791"/>
                </a:solidFill>
                <a:latin typeface="Calibri"/>
              </a:rPr>
              <a:t>Then He let out the people who had been sealed in the caves, and went back to His capital while everyone sang His glories.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mukti</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Killed, and therefore liberated</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There is one point at the end that changes how you read every killing in the Tenth Canto. It comes from SB 2.7, where the Lord's coming appearances are listed in advance.</a:t>
            </a:r>
          </a:p>
        </p:txBody>
      </p:sp>
      <p:sp>
        <p:nvSpPr>
          <p:cNvPr id="6" name="Rounded Rectangle 5"/>
          <p:cNvSpPr/>
          <p:nvPr/>
        </p:nvSpPr>
        <p:spPr>
          <a:xfrm>
            <a:off x="868680" y="2377440"/>
            <a:ext cx="10515600" cy="1737360"/>
          </a:xfrm>
          <a:prstGeom prst="roundRect">
            <a:avLst/>
          </a:prstGeom>
          <a:solidFill>
            <a:srgbClr val="1B2338"/>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24712" y="2542032"/>
            <a:ext cx="10012680" cy="1463039"/>
          </a:xfrm>
          <a:prstGeom prst="rect">
            <a:avLst/>
          </a:prstGeom>
          <a:noFill/>
        </p:spPr>
        <p:txBody>
          <a:bodyPr wrap="square" lIns="0" rIns="0" tIns="0" bIns="0">
            <a:spAutoFit/>
          </a:bodyPr>
          <a:lstStyle/>
          <a:p>
            <a:pPr algn="l">
              <a:lnSpc>
                <a:spcPct val="115000"/>
              </a:lnSpc>
              <a:spcBef>
                <a:spcPts val="0"/>
              </a:spcBef>
              <a:spcAft>
                <a:spcPts val="0"/>
              </a:spcAft>
            </a:pPr>
            <a:r>
              <a:rPr sz="1600" b="0" i="1">
                <a:solidFill>
                  <a:srgbClr val="DBE2EE"/>
                </a:solidFill>
                <a:latin typeface="Georgia"/>
              </a:rPr>
              <a:t>All these demoniac personalities — Pralamba, Dhenuka, Baka, Keśī, Ariṣṭa, Cāṇūra, Muṣṭika, Kuvalayāpīḍa, Kaṁsa, Yavana, Narakāsura, Pauṇḍraka; marshals like Śālva, Dvivida the monkey, Balvala, Dantavakra, the seven bulls, Śambara, Vidūratha and Rukmī — would all fight vigorously with the Lord Hari, or with Him under the names Baladeva, Arjuna, Bhīma; and the demons, being thus killed, would attain either the impersonal brahmajyoti or His personal abode in the Vaikuṇṭha planets.</a:t>
            </a:r>
          </a:p>
          <a:p>
            <a:pPr>
              <a:spcBef>
                <a:spcPts val="800"/>
              </a:spcBef>
              <a:spcAft>
                <a:spcPts val="0"/>
              </a:spcAft>
            </a:pPr>
            <a:r>
              <a:rPr sz="1000" b="0" i="0">
                <a:solidFill>
                  <a:srgbClr val="6D7791"/>
                </a:solidFill>
                <a:latin typeface="Consolas"/>
              </a:rPr>
              <a:t>SB 2.7.34–35 · THE SCHEDULED INCARNATIONS</a:t>
            </a:r>
          </a:p>
        </p:txBody>
      </p:sp>
      <p:sp>
        <p:nvSpPr>
          <p:cNvPr id="8" name="Rounded Rectangle 7"/>
          <p:cNvSpPr/>
          <p:nvPr/>
        </p:nvSpPr>
        <p:spPr>
          <a:xfrm>
            <a:off x="868680" y="4343400"/>
            <a:ext cx="10515600" cy="7315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868680" y="4343400"/>
            <a:ext cx="38100" cy="731520"/>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69848" y="4489704"/>
            <a:ext cx="10104120" cy="457200"/>
          </a:xfrm>
          <a:prstGeom prst="rect">
            <a:avLst/>
          </a:prstGeom>
          <a:noFill/>
        </p:spPr>
        <p:txBody>
          <a:bodyPr wrap="square" lIns="0" rIns="0" tIns="0" bIns="0">
            <a:spAutoFit/>
          </a:bodyPr>
          <a:lstStyle/>
          <a:p>
            <a:pPr algn="l">
              <a:lnSpc>
                <a:spcPct val="115000"/>
              </a:lnSpc>
            </a:pPr>
            <a:r>
              <a:rPr sz="1400" b="1">
                <a:solidFill>
                  <a:srgbClr val="EEF1F7"/>
                </a:solidFill>
                <a:latin typeface="Calibri"/>
              </a:rPr>
              <a:t>So he went down, and he came back.  </a:t>
            </a:r>
            <a:r>
              <a:rPr sz="1400">
                <a:solidFill>
                  <a:srgbClr val="A6B1C8"/>
                </a:solidFill>
                <a:latin typeface="Calibri"/>
              </a:rPr>
              <a:t>The soul who lost his place as an attendant in the Lord's abode is put back there — by being killed by the Lord.</a:t>
            </a:r>
          </a:p>
        </p:txBody>
      </p:sp>
      <p:sp>
        <p:nvSpPr>
          <p:cNvPr id="11" name="Rounded Rectangle 10"/>
          <p:cNvSpPr/>
          <p:nvPr/>
        </p:nvSpPr>
        <p:spPr>
          <a:xfrm>
            <a:off x="868680" y="5212080"/>
            <a:ext cx="10515600" cy="91440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68680" y="5212080"/>
            <a:ext cx="38100" cy="91440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69848" y="5358384"/>
            <a:ext cx="10104120" cy="640080"/>
          </a:xfrm>
          <a:prstGeom prst="rect">
            <a:avLst/>
          </a:prstGeom>
          <a:noFill/>
        </p:spPr>
        <p:txBody>
          <a:bodyPr wrap="square" lIns="0" rIns="0" tIns="0" bIns="0">
            <a:spAutoFit/>
          </a:bodyPr>
          <a:lstStyle/>
          <a:p>
            <a:pPr algn="l">
              <a:lnSpc>
                <a:spcPct val="115000"/>
              </a:lnSpc>
            </a:pPr>
            <a:r>
              <a:rPr sz="1400" b="1">
                <a:solidFill>
                  <a:srgbClr val="C2624A"/>
                </a:solidFill>
                <a:latin typeface="Calibri"/>
              </a:rPr>
              <a:t>“We don't imitate.”  </a:t>
            </a:r>
            <a:r>
              <a:rPr sz="1400">
                <a:solidFill>
                  <a:srgbClr val="A6B1C8"/>
                </a:solidFill>
                <a:latin typeface="Calibri"/>
              </a:rPr>
              <a:t>Let me stop the obvious conclusion right here. You cannot arrange to be the exception — that is what exception means. The mercy Dvivida got tells us something about the Lord. It is not a plan any of us can follow.</a:t>
            </a:r>
          </a:p>
        </p:txBody>
      </p:sp>
      <p:sp>
        <p:nvSpPr>
          <p:cNvPr id="14" name="Rounded Rectangle 13"/>
          <p:cNvSpPr/>
          <p:nvPr/>
        </p:nvSpPr>
        <p:spPr>
          <a:xfrm>
            <a:off x="868680" y="6217920"/>
            <a:ext cx="10515600" cy="566928"/>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68680" y="6217920"/>
            <a:ext cx="38100" cy="566928"/>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69848" y="6364224"/>
            <a:ext cx="10104120" cy="292608"/>
          </a:xfrm>
          <a:prstGeom prst="rect">
            <a:avLst/>
          </a:prstGeom>
          <a:noFill/>
        </p:spPr>
        <p:txBody>
          <a:bodyPr wrap="square" lIns="0" rIns="0" tIns="0" bIns="0">
            <a:spAutoFit/>
          </a:bodyPr>
          <a:lstStyle/>
          <a:p>
            <a:pPr algn="l">
              <a:lnSpc>
                <a:spcPct val="115000"/>
              </a:lnSpc>
            </a:pPr>
            <a:r>
              <a:rPr sz="1400" b="1">
                <a:solidFill>
                  <a:srgbClr val="D9A441"/>
                </a:solidFill>
                <a:latin typeface="Calibri"/>
              </a:rPr>
              <a:t>Why He comes at all — BG 4.7–8.  </a:t>
            </a:r>
            <a:r>
              <a:rPr sz="1400">
                <a:solidFill>
                  <a:srgbClr val="A6B1C8"/>
                </a:solidFill>
                <a:latin typeface="Calibri"/>
              </a:rPr>
              <a:t>Whenever religion declines and irreligion rises, He comes: to protect the devotees, finish off the miscreants, and re-establish religion, age after age. Balarāma frees the villagers from the caves and kills the ape on the same afternoon.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kavaca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Balarāma's four protections</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There is a prayer for protection in the Garga-saṁhitā that takes each demon Balarāma killed and pairs it with an enemy inside us. The pastime becomes a prayer, and the prayer tells you what is wrong with you.</a:t>
            </a:r>
          </a:p>
        </p:txBody>
      </p:sp>
      <p:graphicFrame>
        <p:nvGraphicFramePr>
          <p:cNvPr id="6" name="Table 5"/>
          <p:cNvGraphicFramePr>
            <a:graphicFrameLocks noGrp="1"/>
          </p:cNvGraphicFramePr>
          <p:nvPr/>
        </p:nvGraphicFramePr>
        <p:xfrm>
          <a:off x="868680" y="2514600"/>
          <a:ext cx="10515599" cy="3017520"/>
        </p:xfrm>
        <a:graphic>
          <a:graphicData uri="http://schemas.openxmlformats.org/drawingml/2006/table">
            <a:tbl>
              <a:tblPr firstRow="1" bandRow="1">
                <a:tableStyleId>{5C22544A-7EE6-4342-B048-85BDC9FD1C3A}</a:tableStyleId>
              </a:tblPr>
              <a:tblGrid>
                <a:gridCol w="2743200"/>
                <a:gridCol w="2103119"/>
                <a:gridCol w="5669280"/>
              </a:tblGrid>
              <a:tr h="603504">
                <a:tc>
                  <a:txBody>
                    <a:bodyPr wrap="square"/>
                    <a:lstStyle/>
                    <a:p>
                      <a:pPr>
                        <a:lnSpc>
                          <a:spcPct val="108000"/>
                        </a:lnSpc>
                      </a:pPr>
                      <a:r>
                        <a:rPr sz="1050" b="1">
                          <a:solidFill>
                            <a:srgbClr val="6D7791"/>
                          </a:solidFill>
                          <a:latin typeface="Consolas"/>
                        </a:rPr>
                        <a:t>MAY LORD BALARĀMA…</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…PROTECT ME FROM</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WHY THESE GO TOGETHER</a:t>
                      </a:r>
                    </a:p>
                  </a:txBody>
                  <a:tcPr marL="100584" marR="100584" marT="45720" marB="45720" anchor="t">
                    <a:solidFill>
                      <a:srgbClr val="1B2338"/>
                    </a:solidFill>
                  </a:tcPr>
                </a:tc>
              </a:tr>
              <a:tr h="603504">
                <a:tc>
                  <a:txBody>
                    <a:bodyPr wrap="square"/>
                    <a:lstStyle/>
                    <a:p>
                      <a:pPr>
                        <a:lnSpc>
                          <a:spcPct val="108000"/>
                        </a:lnSpc>
                      </a:pPr>
                      <a:r>
                        <a:rPr sz="1300" b="0">
                          <a:solidFill>
                            <a:srgbClr val="EEF1F7"/>
                          </a:solidFill>
                          <a:latin typeface="Calibri"/>
                        </a:rPr>
                        <a:t>the enemy of Dhenukāsura</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lust · kāma</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Lust burns like a fire. Once it is lit, whatever you feed it makes it bigger.</a:t>
                      </a:r>
                    </a:p>
                  </a:txBody>
                  <a:tcPr marL="100584" marR="100584" marT="45720" marB="45720" anchor="t">
                    <a:solidFill>
                      <a:srgbClr val="141A2B"/>
                    </a:solidFill>
                  </a:tcPr>
                </a:tc>
              </a:tr>
              <a:tr h="603504">
                <a:tc>
                  <a:txBody>
                    <a:bodyPr wrap="square"/>
                    <a:lstStyle/>
                    <a:p>
                      <a:pPr>
                        <a:lnSpc>
                          <a:spcPct val="108000"/>
                        </a:lnSpc>
                      </a:pPr>
                      <a:r>
                        <a:rPr sz="1300" b="0">
                          <a:solidFill>
                            <a:srgbClr val="EEF1F7"/>
                          </a:solidFill>
                          <a:latin typeface="Calibri"/>
                        </a:rPr>
                        <a:t>who killed Dvivida</a:t>
                      </a:r>
                    </a:p>
                  </a:txBody>
                  <a:tcPr marL="100584" marR="100584" marT="45720" marB="45720" anchor="t">
                    <a:solidFill>
                      <a:srgbClr val="0B0D14"/>
                    </a:solidFill>
                  </a:tcPr>
                </a:tc>
                <a:tc>
                  <a:txBody>
                    <a:bodyPr wrap="square"/>
                    <a:lstStyle/>
                    <a:p>
                      <a:pPr>
                        <a:lnSpc>
                          <a:spcPct val="108000"/>
                        </a:lnSpc>
                      </a:pPr>
                      <a:r>
                        <a:rPr sz="1300" b="0">
                          <a:solidFill>
                            <a:srgbClr val="A6B1C8"/>
                          </a:solidFill>
                          <a:latin typeface="Calibri"/>
                        </a:rPr>
                        <a:t>anger · krodha</a:t>
                      </a:r>
                    </a:p>
                  </a:txBody>
                  <a:tcPr marL="100584" marR="100584" marT="45720" marB="45720" anchor="t">
                    <a:solidFill>
                      <a:srgbClr val="0B0D14"/>
                    </a:solidFill>
                  </a:tcPr>
                </a:tc>
                <a:tc>
                  <a:txBody>
                    <a:bodyPr wrap="square"/>
                    <a:lstStyle/>
                    <a:p>
                      <a:pPr>
                        <a:lnSpc>
                          <a:spcPct val="108000"/>
                        </a:lnSpc>
                      </a:pPr>
                      <a:r>
                        <a:rPr sz="1300" b="0">
                          <a:solidFill>
                            <a:srgbClr val="A6B1C8"/>
                          </a:solidFill>
                          <a:latin typeface="Calibri"/>
                        </a:rPr>
                        <a:t>Our chapter. Revenge drives Dvivida from beginning to end — and once anger has you, you cannot stop it from inside.</a:t>
                      </a:r>
                    </a:p>
                  </a:txBody>
                  <a:tcPr marL="100584" marR="100584" marT="45720" marB="45720" anchor="t">
                    <a:solidFill>
                      <a:srgbClr val="0B0D14"/>
                    </a:solidFill>
                  </a:tcPr>
                </a:tc>
              </a:tr>
              <a:tr h="603504">
                <a:tc>
                  <a:txBody>
                    <a:bodyPr wrap="square"/>
                    <a:lstStyle/>
                    <a:p>
                      <a:pPr>
                        <a:lnSpc>
                          <a:spcPct val="108000"/>
                        </a:lnSpc>
                      </a:pPr>
                      <a:r>
                        <a:rPr sz="1300" b="0">
                          <a:solidFill>
                            <a:srgbClr val="EEF1F7"/>
                          </a:solidFill>
                          <a:latin typeface="Calibri"/>
                        </a:rPr>
                        <a:t>the enemy of Balvala</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greed · lobha</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Balvala fouled the sacrifices at Naimiṣāraṇya — the appetite that spoils the thing it feeds on.</a:t>
                      </a:r>
                    </a:p>
                  </a:txBody>
                  <a:tcPr marL="100584" marR="100584" marT="45720" marB="45720" anchor="t">
                    <a:solidFill>
                      <a:srgbClr val="141A2B"/>
                    </a:solidFill>
                  </a:tcPr>
                </a:tc>
              </a:tr>
              <a:tr h="603504">
                <a:tc>
                  <a:txBody>
                    <a:bodyPr wrap="square"/>
                    <a:lstStyle/>
                    <a:p>
                      <a:pPr>
                        <a:lnSpc>
                          <a:spcPct val="108000"/>
                        </a:lnSpc>
                      </a:pPr>
                      <a:r>
                        <a:rPr sz="1300" b="0">
                          <a:solidFill>
                            <a:srgbClr val="EEF1F7"/>
                          </a:solidFill>
                          <a:latin typeface="Calibri"/>
                        </a:rPr>
                        <a:t>the enemy of Jarāsandha</a:t>
                      </a:r>
                    </a:p>
                  </a:txBody>
                  <a:tcPr marL="100584" marR="100584" marT="45720" marB="45720" anchor="t">
                    <a:solidFill>
                      <a:srgbClr val="0B0D14"/>
                    </a:solidFill>
                  </a:tcPr>
                </a:tc>
                <a:tc>
                  <a:txBody>
                    <a:bodyPr wrap="square"/>
                    <a:lstStyle/>
                    <a:p>
                      <a:pPr>
                        <a:lnSpc>
                          <a:spcPct val="108000"/>
                        </a:lnSpc>
                      </a:pPr>
                      <a:r>
                        <a:rPr sz="1300" b="0">
                          <a:solidFill>
                            <a:srgbClr val="A6B1C8"/>
                          </a:solidFill>
                          <a:latin typeface="Calibri"/>
                        </a:rPr>
                        <a:t>illusion · moha</a:t>
                      </a:r>
                    </a:p>
                  </a:txBody>
                  <a:tcPr marL="100584" marR="100584" marT="45720" marB="45720" anchor="t">
                    <a:solidFill>
                      <a:srgbClr val="0B0D14"/>
                    </a:solidFill>
                  </a:tcPr>
                </a:tc>
                <a:tc>
                  <a:txBody>
                    <a:bodyPr wrap="square"/>
                    <a:lstStyle/>
                    <a:p>
                      <a:pPr>
                        <a:lnSpc>
                          <a:spcPct val="108000"/>
                        </a:lnSpc>
                      </a:pPr>
                      <a:r>
                        <a:rPr sz="1300" b="0">
                          <a:solidFill>
                            <a:srgbClr val="A6B1C8"/>
                          </a:solidFill>
                          <a:latin typeface="Calibri"/>
                        </a:rPr>
                        <a:t>Jarāsandha attacked again and again, believing every time that this time it would work.</a:t>
                      </a:r>
                    </a:p>
                  </a:txBody>
                  <a:tcPr marL="100584" marR="100584" marT="45720" marB="45720" anchor="t">
                    <a:solidFill>
                      <a:srgbClr val="0B0D14"/>
                    </a:solidFill>
                  </a:tcPr>
                </a:tc>
              </a:tr>
            </a:tbl>
          </a:graphicData>
        </a:graphic>
      </p:graphicFrame>
      <p:sp>
        <p:nvSpPr>
          <p:cNvPr id="7" name="Rounded Rectangle 6"/>
          <p:cNvSpPr/>
          <p:nvPr/>
        </p:nvSpPr>
        <p:spPr>
          <a:xfrm>
            <a:off x="868680" y="5623560"/>
            <a:ext cx="10515600" cy="9601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5623560"/>
            <a:ext cx="38100" cy="960120"/>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5769864"/>
            <a:ext cx="10104120" cy="685800"/>
          </a:xfrm>
          <a:prstGeom prst="rect">
            <a:avLst/>
          </a:prstGeom>
          <a:noFill/>
        </p:spPr>
        <p:txBody>
          <a:bodyPr wrap="square" lIns="0" rIns="0" tIns="0" bIns="0">
            <a:spAutoFit/>
          </a:bodyPr>
          <a:lstStyle/>
          <a:p>
            <a:pPr algn="l">
              <a:lnSpc>
                <a:spcPct val="115000"/>
              </a:lnSpc>
            </a:pPr>
            <a:r>
              <a:rPr sz="1400" b="1">
                <a:solidFill>
                  <a:srgbClr val="EEF1F7"/>
                </a:solidFill>
                <a:latin typeface="Calibri"/>
              </a:rPr>
              <a:t>Here is what the prayer is doing:  </a:t>
            </a:r>
            <a:r>
              <a:rPr sz="1400">
                <a:solidFill>
                  <a:srgbClr val="A6B1C8"/>
                </a:solidFill>
                <a:latin typeface="Calibri"/>
              </a:rPr>
              <a:t>Balarāma's victories are not just old news. Each one shows something He can do, and the prayer asks Him to do that same thing inside you. He has beaten anger — in public, on Raivataka Mountain — so He is the one to ask about yours.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vāk-saṁyama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Controlling the tongue</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A fair question to ask in a chapter where the first offence was a sentence somebody said. Here are four things that help.</a:t>
            </a:r>
          </a:p>
        </p:txBody>
      </p:sp>
      <p:sp>
        <p:nvSpPr>
          <p:cNvPr id="6" name="TextBox 5"/>
          <p:cNvSpPr txBox="1"/>
          <p:nvPr/>
        </p:nvSpPr>
        <p:spPr>
          <a:xfrm>
            <a:off x="868680" y="2286000"/>
            <a:ext cx="10515600" cy="4023360"/>
          </a:xfrm>
          <a:prstGeom prst="rect">
            <a:avLst/>
          </a:prstGeom>
          <a:noFill/>
        </p:spPr>
        <p:txBody>
          <a:bodyPr wrap="square" lIns="0" rIns="0" tIns="0" bIns="0">
            <a:spAutoFit/>
          </a:bodyPr>
          <a:lstStyle/>
          <a:p>
            <a:pPr algn="l">
              <a:lnSpc>
                <a:spcPct val="118000"/>
              </a:lnSpc>
              <a:spcBef>
                <a:spcPts val="0"/>
              </a:spcBef>
            </a:pPr>
            <a:r>
              <a:rPr sz="1450" b="1">
                <a:solidFill>
                  <a:srgbClr val="EEF1F7"/>
                </a:solidFill>
                <a:latin typeface="Calibri"/>
              </a:rPr>
              <a:t>— 1 · Build up the mode of goodness.  </a:t>
            </a:r>
            <a:r>
              <a:rPr sz="1450">
                <a:solidFill>
                  <a:srgbClr val="A6B1C8"/>
                </a:solidFill>
                <a:latin typeface="Calibri"/>
              </a:rPr>
              <a:t>BG 17.15 says speech should be truthful and pleasing. Both halves are the instruction. And goodness is built by habits — cleanliness, compassion, charity, truthfulness — not switched on when you need it.</a:t>
            </a:r>
          </a:p>
          <a:p>
            <a:pPr>
              <a:lnSpc>
                <a:spcPct val="118000"/>
              </a:lnSpc>
              <a:spcBef>
                <a:spcPts val="1100"/>
              </a:spcBef>
            </a:pPr>
            <a:r>
              <a:rPr sz="1450" b="1">
                <a:solidFill>
                  <a:srgbClr val="EEF1F7"/>
                </a:solidFill>
                <a:latin typeface="Calibri"/>
              </a:rPr>
              <a:t>— 2 · The tongue does two jobs —  </a:t>
            </a:r>
            <a:r>
              <a:rPr sz="1450">
                <a:solidFill>
                  <a:srgbClr val="A6B1C8"/>
                </a:solidFill>
                <a:latin typeface="Calibri"/>
              </a:rPr>
              <a:t>it tastes and it makes sound. So eat only kṛṣṇa-prasādam. Not as a rule to obey: prasādam purifies the tongue, and then control follows from the purity instead of the other way round.</a:t>
            </a:r>
          </a:p>
          <a:p>
            <a:pPr>
              <a:lnSpc>
                <a:spcPct val="118000"/>
              </a:lnSpc>
              <a:spcBef>
                <a:spcPts val="1100"/>
              </a:spcBef>
            </a:pPr>
            <a:r>
              <a:rPr sz="1450" b="1">
                <a:solidFill>
                  <a:srgbClr val="EEF1F7"/>
                </a:solidFill>
                <a:latin typeface="Calibri"/>
              </a:rPr>
              <a:t>— 3 · Learn how to talk to people.  </a:t>
            </a:r>
            <a:r>
              <a:rPr sz="1450">
                <a:solidFill>
                  <a:srgbClr val="A6B1C8"/>
                </a:solidFill>
                <a:latin typeface="Calibri"/>
              </a:rPr>
              <a:t>Non-violent communication, which devotees are taught as empathic communication. The main idea: know your own needs and take steps to meet them, instead of expecting others to. Unmet expectation is what starts the tongue going.</a:t>
            </a:r>
          </a:p>
          <a:p>
            <a:pPr>
              <a:lnSpc>
                <a:spcPct val="118000"/>
              </a:lnSpc>
              <a:spcBef>
                <a:spcPts val="1100"/>
              </a:spcBef>
            </a:pPr>
            <a:r>
              <a:rPr sz="1450" b="1">
                <a:solidFill>
                  <a:srgbClr val="EEF1F7"/>
                </a:solidFill>
                <a:latin typeface="Calibri"/>
              </a:rPr>
              <a:t>— 4 · Chant.  </a:t>
            </a:r>
            <a:r>
              <a:rPr sz="1450">
                <a:solidFill>
                  <a:srgbClr val="A6B1C8"/>
                </a:solidFill>
                <a:latin typeface="Calibri"/>
              </a:rPr>
              <a:t>The best shelter of all — and the only one that uses both of the tongue's jobs at the same time.</a:t>
            </a:r>
          </a:p>
        </p:txBody>
      </p:sp>
      <p:sp>
        <p:nvSpPr>
          <p:cNvPr id="7" name="Rounded Rectangle 6"/>
          <p:cNvSpPr/>
          <p:nvPr/>
        </p:nvSpPr>
        <p:spPr>
          <a:xfrm>
            <a:off x="868680" y="5577840"/>
            <a:ext cx="10515600" cy="100584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5577840"/>
            <a:ext cx="38100" cy="100584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5724144"/>
            <a:ext cx="10104120" cy="731520"/>
          </a:xfrm>
          <a:prstGeom prst="rect">
            <a:avLst/>
          </a:prstGeom>
          <a:noFill/>
        </p:spPr>
        <p:txBody>
          <a:bodyPr wrap="square" lIns="0" rIns="0" tIns="0" bIns="0">
            <a:spAutoFit/>
          </a:bodyPr>
          <a:lstStyle/>
          <a:p>
            <a:pPr algn="l">
              <a:lnSpc>
                <a:spcPct val="115000"/>
              </a:lnSpc>
            </a:pPr>
            <a:r>
              <a:rPr sz="1400" b="1">
                <a:solidFill>
                  <a:srgbClr val="C2624A"/>
                </a:solidFill>
                <a:latin typeface="Calibri"/>
              </a:rPr>
              <a:t>The trap in obeying only half of BG 17.15:  </a:t>
            </a:r>
            <a:r>
              <a:rPr sz="1400">
                <a:solidFill>
                  <a:srgbClr val="A6B1C8"/>
                </a:solidFill>
                <a:latin typeface="Calibri"/>
              </a:rPr>
              <a:t>“I only have to tell the truth, because I'm in the mode of goodness.” That is not the mode of goodness. Goodness includes the pleasing part. A truth used as a weapon has changed modes without changing a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krodha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Anger, and why bhakti is the cure</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The sharpest question I was asked: “I understand once anger kicks in there is no stopping point — so I think I should stop before it kicks in. But it kicks in.”</a:t>
            </a:r>
          </a:p>
        </p:txBody>
      </p:sp>
      <p:sp>
        <p:nvSpPr>
          <p:cNvPr id="6" name="TextBox 5"/>
          <p:cNvSpPr txBox="1"/>
          <p:nvPr/>
        </p:nvSpPr>
        <p:spPr>
          <a:xfrm>
            <a:off x="868680" y="2286000"/>
            <a:ext cx="10515600" cy="4023360"/>
          </a:xfrm>
          <a:prstGeom prst="rect">
            <a:avLst/>
          </a:prstGeom>
          <a:noFill/>
        </p:spPr>
        <p:txBody>
          <a:bodyPr wrap="square" lIns="0" rIns="0" tIns="0" bIns="0">
            <a:spAutoFit/>
          </a:bodyPr>
          <a:lstStyle/>
          <a:p>
            <a:pPr algn="l">
              <a:lnSpc>
                <a:spcPct val="118000"/>
              </a:lnSpc>
              <a:spcBef>
                <a:spcPts val="0"/>
              </a:spcBef>
            </a:pPr>
            <a:r>
              <a:rPr sz="1450" b="1">
                <a:solidFill>
                  <a:srgbClr val="EEF1F7"/>
                </a:solidFill>
                <a:latin typeface="Calibri"/>
              </a:rPr>
              <a:t>— What BG 2.62–63 is actually describing:  </a:t>
            </a:r>
            <a:r>
              <a:rPr sz="1450">
                <a:solidFill>
                  <a:srgbClr val="A6B1C8"/>
                </a:solidFill>
                <a:latin typeface="Calibri"/>
              </a:rPr>
              <a:t>anger produces delusion, delusion makes you forget yourself, and then intelligence is lost. So the thing you would use to stop it is the thing it switches off.</a:t>
            </a:r>
          </a:p>
          <a:p>
            <a:pPr>
              <a:lnSpc>
                <a:spcPct val="118000"/>
              </a:lnSpc>
              <a:spcBef>
                <a:spcPts val="1100"/>
              </a:spcBef>
            </a:pPr>
            <a:r>
              <a:rPr sz="1450" b="1">
                <a:solidFill>
                  <a:srgbClr val="EEF1F7"/>
                </a:solidFill>
                <a:latin typeface="Calibri"/>
              </a:rPr>
              <a:t>— The example that proves it — Bhīma and Duryodhana,  </a:t>
            </a:r>
            <a:r>
              <a:rPr sz="1450">
                <a:solidFill>
                  <a:srgbClr val="A6B1C8"/>
                </a:solidFill>
                <a:latin typeface="Calibri"/>
              </a:rPr>
              <a:t>both of them Balarāma's own students in club-fighting. Their duel went on for days. He travelled there and asked them to stop: Bhīma is stronger, Duryodhana is more skilled, neither of you can win — stop wasting your time.</a:t>
            </a:r>
          </a:p>
          <a:p>
            <a:pPr>
              <a:lnSpc>
                <a:spcPct val="118000"/>
              </a:lnSpc>
              <a:spcBef>
                <a:spcPts val="1100"/>
              </a:spcBef>
            </a:pPr>
            <a:r>
              <a:rPr sz="1450" b="1">
                <a:solidFill>
                  <a:srgbClr val="EEF1F7"/>
                </a:solidFill>
                <a:latin typeface="Calibri"/>
              </a:rPr>
              <a:t>— They could not stop.  </a:t>
            </a:r>
            <a:r>
              <a:rPr sz="1450">
                <a:solidFill>
                  <a:srgbClr val="A6B1C8"/>
                </a:solidFill>
                <a:latin typeface="Calibri"/>
              </a:rPr>
              <a:t>Not would not. Could not. When anger is running you, you cannot take good advice even from the wisest, dearest person you know. Not even from Balarāma. That is how far willpower gets you.</a:t>
            </a:r>
          </a:p>
          <a:p>
            <a:pPr>
              <a:lnSpc>
                <a:spcPct val="118000"/>
              </a:lnSpc>
              <a:spcBef>
                <a:spcPts val="1100"/>
              </a:spcBef>
            </a:pPr>
            <a:r>
              <a:rPr sz="1450" b="1">
                <a:solidFill>
                  <a:srgbClr val="EEF1F7"/>
                </a:solidFill>
                <a:latin typeface="Calibri"/>
              </a:rPr>
              <a:t>— So change the mode instead of fighting it.  </a:t>
            </a:r>
            <a:r>
              <a:rPr sz="1450">
                <a:solidFill>
                  <a:srgbClr val="A6B1C8"/>
                </a:solidFill>
                <a:latin typeface="Calibri"/>
              </a:rPr>
              <a:t>Anger is ignorance mixed with passion. SB 1.2 gives the way out — worshipping Viṣṇu raises you to goodness. Give Him your possessions, your intelligence, your energy, your work and what it earns.</a:t>
            </a:r>
          </a:p>
        </p:txBody>
      </p:sp>
      <p:sp>
        <p:nvSpPr>
          <p:cNvPr id="7" name="Rounded Rectangle 6"/>
          <p:cNvSpPr/>
          <p:nvPr/>
        </p:nvSpPr>
        <p:spPr>
          <a:xfrm>
            <a:off x="868680" y="5623560"/>
            <a:ext cx="10515600" cy="9601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5623560"/>
            <a:ext cx="38100" cy="96012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5769864"/>
            <a:ext cx="10104120" cy="685800"/>
          </a:xfrm>
          <a:prstGeom prst="rect">
            <a:avLst/>
          </a:prstGeom>
          <a:noFill/>
        </p:spPr>
        <p:txBody>
          <a:bodyPr wrap="square" lIns="0" rIns="0" tIns="0" bIns="0">
            <a:spAutoFit/>
          </a:bodyPr>
          <a:lstStyle/>
          <a:p>
            <a:pPr algn="l">
              <a:lnSpc>
                <a:spcPct val="115000"/>
              </a:lnSpc>
            </a:pPr>
            <a:r>
              <a:rPr sz="1400" b="1">
                <a:solidFill>
                  <a:srgbClr val="D9A441"/>
                </a:solidFill>
                <a:latin typeface="Calibri"/>
              </a:rPr>
              <a:t>And then just ask Him.  </a:t>
            </a:r>
            <a:r>
              <a:rPr sz="1400">
                <a:solidFill>
                  <a:srgbClr val="A6B1C8"/>
                </a:solidFill>
                <a:latin typeface="Calibri"/>
              </a:rPr>
              <a:t>Not self-improvement — the kavaca: “May Lord Balarāma, who killed Dvivida, always protect me from anger.” He can take the tendency away. He has done it before, in public, to the angriest and strongest person in the chapter. Bhakti is the cure. And don't get angry at Balarāma.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āśraya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Where I take a problem</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We are reading this on Balarāma-pūrṇimā, so let me finish where the chapter finishes — not with the ape, but with the two brothers, and with something you can actually do about the anger, the pride and the offences.</a:t>
            </a:r>
          </a:p>
        </p:txBody>
      </p:sp>
      <p:sp>
        <p:nvSpPr>
          <p:cNvPr id="6" name="TextBox 5"/>
          <p:cNvSpPr txBox="1"/>
          <p:nvPr/>
        </p:nvSpPr>
        <p:spPr>
          <a:xfrm>
            <a:off x="868680" y="2286000"/>
            <a:ext cx="10515600" cy="4023360"/>
          </a:xfrm>
          <a:prstGeom prst="rect">
            <a:avLst/>
          </a:prstGeom>
          <a:noFill/>
        </p:spPr>
        <p:txBody>
          <a:bodyPr wrap="square" lIns="0" rIns="0" tIns="0" bIns="0">
            <a:spAutoFit/>
          </a:bodyPr>
          <a:lstStyle/>
          <a:p>
            <a:pPr algn="l">
              <a:lnSpc>
                <a:spcPct val="118000"/>
              </a:lnSpc>
              <a:spcBef>
                <a:spcPts val="0"/>
              </a:spcBef>
            </a:pPr>
            <a:r>
              <a:rPr sz="1450" b="1">
                <a:solidFill>
                  <a:srgbClr val="EEF1F7"/>
                </a:solidFill>
                <a:latin typeface="Calibri"/>
              </a:rPr>
              <a:t>— Śrīla Prabhupāda was asked on a morning walk  </a:t>
            </a:r>
            <a:r>
              <a:rPr sz="1450">
                <a:solidFill>
                  <a:srgbClr val="A6B1C8"/>
                </a:solidFill>
                <a:latin typeface="Calibri"/>
              </a:rPr>
              <a:t>what to do about an obstacle you cannot get past. Go and stand before the deity — Gaurāṅga, or Kṛṣṇa-Balarāma, they are not different — and say, “Sir, I have a problem. Please help me.” And he will do the needful.</a:t>
            </a:r>
          </a:p>
          <a:p>
            <a:pPr>
              <a:lnSpc>
                <a:spcPct val="118000"/>
              </a:lnSpc>
              <a:spcBef>
                <a:spcPts val="1100"/>
              </a:spcBef>
            </a:pPr>
            <a:r>
              <a:rPr sz="1450" b="1">
                <a:solidFill>
                  <a:srgbClr val="EEF1F7"/>
                </a:solidFill>
                <a:latin typeface="Calibri"/>
              </a:rPr>
              <a:t>— He added two things.  </a:t>
            </a:r>
            <a:r>
              <a:rPr sz="1450">
                <a:solidFill>
                  <a:srgbClr val="A6B1C8"/>
                </a:solidFill>
                <a:latin typeface="Calibri"/>
              </a:rPr>
              <a:t>Not because the Lord is there to supply your orders — that is not the relationship. But because He is kind to someone who depends on Him the way a child depends on a parent. And: don't make a habit of bothering Him too many times.</a:t>
            </a:r>
          </a:p>
          <a:p>
            <a:pPr>
              <a:lnSpc>
                <a:spcPct val="118000"/>
              </a:lnSpc>
              <a:spcBef>
                <a:spcPts val="1100"/>
              </a:spcBef>
            </a:pPr>
            <a:r>
              <a:rPr sz="1450" b="1">
                <a:solidFill>
                  <a:srgbClr val="EEF1F7"/>
                </a:solidFill>
                <a:latin typeface="Calibri"/>
              </a:rPr>
              <a:t>— Somebody in the room confirmed it.  </a:t>
            </a:r>
            <a:r>
              <a:rPr sz="1450">
                <a:solidFill>
                  <a:srgbClr val="A6B1C8"/>
                </a:solidFill>
                <a:latin typeface="Calibri"/>
              </a:rPr>
              <a:t>A devotee said they pray exactly like that, and it works — not instantaneously, but it works. When you really need something, you know where to go.</a:t>
            </a:r>
          </a:p>
        </p:txBody>
      </p:sp>
      <p:sp>
        <p:nvSpPr>
          <p:cNvPr id="7" name="Rounded Rectangle 6"/>
          <p:cNvSpPr/>
          <p:nvPr/>
        </p:nvSpPr>
        <p:spPr>
          <a:xfrm>
            <a:off x="868680" y="5440680"/>
            <a:ext cx="10515600" cy="86868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5440680"/>
            <a:ext cx="38100" cy="86868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5586984"/>
            <a:ext cx="10104120" cy="594359"/>
          </a:xfrm>
          <a:prstGeom prst="rect">
            <a:avLst/>
          </a:prstGeom>
          <a:noFill/>
        </p:spPr>
        <p:txBody>
          <a:bodyPr wrap="square" lIns="0" rIns="0" tIns="0" bIns="0">
            <a:spAutoFit/>
          </a:bodyPr>
          <a:lstStyle/>
          <a:p>
            <a:pPr algn="l">
              <a:lnSpc>
                <a:spcPct val="115000"/>
              </a:lnSpc>
            </a:pPr>
            <a:r>
              <a:rPr sz="1400" b="1">
                <a:solidFill>
                  <a:srgbClr val="D9A441"/>
                </a:solidFill>
                <a:latin typeface="Calibri"/>
              </a:rPr>
              <a:t>That is a good pair to have on your side:  </a:t>
            </a:r>
            <a:r>
              <a:rPr sz="1400">
                <a:solidFill>
                  <a:srgbClr val="A6B1C8"/>
                </a:solidFill>
                <a:latin typeface="Calibri"/>
              </a:rPr>
              <a:t>Kṛṣṇa is very kind and Balarāma is all-powerful.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0" y="6821424"/>
            <a:ext cx="12191695" cy="3810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005840" y="1234440"/>
            <a:ext cx="10241280" cy="320040"/>
          </a:xfrm>
          <a:prstGeom prst="rect">
            <a:avLst/>
          </a:prstGeom>
          <a:noFill/>
        </p:spPr>
        <p:txBody>
          <a:bodyPr wrap="square" lIns="0" rIns="0" tIns="0" bIns="0">
            <a:spAutoFit/>
          </a:bodyPr>
          <a:lstStyle/>
          <a:p>
            <a:pPr algn="l">
              <a:spcBef>
                <a:spcPts val="0"/>
              </a:spcBef>
              <a:spcAft>
                <a:spcPts val="0"/>
              </a:spcAft>
            </a:pPr>
            <a:r>
              <a:rPr sz="1200" b="0" i="0">
                <a:solidFill>
                  <a:srgbClr val="D9A441"/>
                </a:solidFill>
                <a:latin typeface="Consolas"/>
              </a:rPr>
              <a:t>WHERE TO INTERVENE</a:t>
            </a:r>
          </a:p>
        </p:txBody>
      </p:sp>
      <p:sp>
        <p:nvSpPr>
          <p:cNvPr id="4" name="TextBox 3"/>
          <p:cNvSpPr txBox="1"/>
          <p:nvPr/>
        </p:nvSpPr>
        <p:spPr>
          <a:xfrm>
            <a:off x="1005840" y="1691640"/>
            <a:ext cx="9875520" cy="2011680"/>
          </a:xfrm>
          <a:prstGeom prst="rect">
            <a:avLst/>
          </a:prstGeom>
          <a:noFill/>
        </p:spPr>
        <p:txBody>
          <a:bodyPr wrap="square" lIns="0" rIns="0" tIns="0" bIns="0">
            <a:spAutoFit/>
          </a:bodyPr>
          <a:lstStyle/>
          <a:p>
            <a:pPr algn="l">
              <a:lnSpc>
                <a:spcPct val="100000"/>
              </a:lnSpc>
              <a:spcBef>
                <a:spcPts val="0"/>
              </a:spcBef>
              <a:spcAft>
                <a:spcPts val="0"/>
              </a:spcAft>
            </a:pPr>
            <a:r>
              <a:rPr sz="3400" b="0" i="0">
                <a:solidFill>
                  <a:srgbClr val="EEF1F7"/>
                </a:solidFill>
                <a:latin typeface="Georgia"/>
              </a:rPr>
              <a:t>Find the last step you can still do something about.</a:t>
            </a:r>
          </a:p>
          <a:p>
            <a:pPr>
              <a:lnSpc>
                <a:spcPct val="120000"/>
              </a:lnSpc>
              <a:spcBef>
                <a:spcPts val="1400"/>
              </a:spcBef>
              <a:spcAft>
                <a:spcPts val="0"/>
              </a:spcAft>
            </a:pPr>
            <a:r>
              <a:rPr sz="1900" b="0" i="1">
                <a:solidFill>
                  <a:srgbClr val="A6B1C8"/>
                </a:solidFill>
                <a:latin typeface="Georgia"/>
              </a:rPr>
              <a:t>It is not bad association — by the time you are there, most of it is already decided. It is pride: the habit of measuring devotees against yourself.</a:t>
            </a:r>
          </a:p>
        </p:txBody>
      </p:sp>
      <p:sp>
        <p:nvSpPr>
          <p:cNvPr id="5" name="Rectangle 4"/>
          <p:cNvSpPr/>
          <p:nvPr/>
        </p:nvSpPr>
        <p:spPr>
          <a:xfrm>
            <a:off x="1005840" y="4160520"/>
            <a:ext cx="3840480" cy="127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005840" y="4434840"/>
            <a:ext cx="10241280" cy="2011680"/>
          </a:xfrm>
          <a:prstGeom prst="rect">
            <a:avLst/>
          </a:prstGeom>
          <a:noFill/>
        </p:spPr>
        <p:txBody>
          <a:bodyPr wrap="square" lIns="0" rIns="0" tIns="0" bIns="0">
            <a:spAutoFit/>
          </a:bodyPr>
          <a:lstStyle/>
          <a:p>
            <a:pPr algn="l">
              <a:spcBef>
                <a:spcPts val="0"/>
              </a:spcBef>
              <a:spcAft>
                <a:spcPts val="0"/>
              </a:spcAft>
            </a:pPr>
            <a:r>
              <a:rPr sz="1100" b="0" i="0">
                <a:solidFill>
                  <a:srgbClr val="6D7791"/>
                </a:solidFill>
                <a:latin typeface="Consolas"/>
              </a:rPr>
              <a:t>SOURCES</a:t>
            </a:r>
          </a:p>
          <a:p>
            <a:pPr>
              <a:lnSpc>
                <a:spcPct val="120000"/>
              </a:lnSpc>
              <a:spcBef>
                <a:spcPts val="800"/>
              </a:spcBef>
              <a:spcAft>
                <a:spcPts val="0"/>
              </a:spcAft>
            </a:pPr>
            <a:r>
              <a:rPr sz="1300" b="0" i="0">
                <a:solidFill>
                  <a:srgbClr val="A6B1C8"/>
                </a:solidFill>
                <a:latin typeface="Calibri"/>
              </a:rPr>
              <a:t>From the class “SB 10.67 — Lord Balarāma slays Dvivida Gorilla,” Fort Lauderdale FL, Balarāma-pūrṇimā, 23 August 2024 (1 hr 17 min).</a:t>
            </a:r>
          </a:p>
          <a:p>
            <a:pPr>
              <a:lnSpc>
                <a:spcPct val="120000"/>
              </a:lnSpc>
              <a:spcBef>
                <a:spcPts val="700"/>
              </a:spcBef>
              <a:spcAft>
                <a:spcPts val="0"/>
              </a:spcAft>
            </a:pPr>
            <a:r>
              <a:rPr sz="1150" b="0" i="0">
                <a:solidFill>
                  <a:srgbClr val="6D7791"/>
                </a:solidFill>
                <a:latin typeface="Calibri"/>
              </a:rPr>
              <a:t>Śrīmad-Bhāgavatam 10.67 with 10.2, 10.59, 10.65, 10.66, 2.7.34–35, 1.2 · Bhagavad-gītā 2.62–63, 4.7–8, 17.15 · Vālmīki Rāmāyaṇa (Kiṣkindhā- and Uttara-kāṇḍa) · Viśvanātha Cakravartī Ṭhākura on SB 10.67 · Jīva Gosvāmī, Bhakti-sandarbha, his SB commentary and Gopāla-campū · Garga-saṁhitā · Bhaktivinoda Ṭhākura, Caitanya-śikṣāmṛta and Kṛṣṇa-saṁhitā.</a:t>
            </a:r>
          </a:p>
          <a:p>
            <a:pPr>
              <a:spcBef>
                <a:spcPts val="1000"/>
              </a:spcBef>
              <a:spcAft>
                <a:spcPts val="0"/>
              </a:spcAft>
            </a:pPr>
            <a:r>
              <a:rPr sz="1250" b="0" i="0">
                <a:solidFill>
                  <a:srgbClr val="D9A441"/>
                </a:solidFill>
                <a:latin typeface="Consolas"/>
              </a:rPr>
              <a:t>Full guide: shivamtiwar2408.github.io/quiz-app/balarama-dvivida-kb/guide/index.html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