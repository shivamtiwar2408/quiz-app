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1005840" y="1371600"/>
            <a:ext cx="10241280" cy="365760"/>
          </a:xfrm>
          <a:prstGeom prst="rect">
            <a:avLst/>
          </a:prstGeom>
          <a:noFill/>
        </p:spPr>
        <p:txBody>
          <a:bodyPr wrap="square" lIns="0" rIns="0" tIns="0" bIns="0">
            <a:spAutoFit/>
          </a:bodyPr>
          <a:lstStyle/>
          <a:p>
            <a:pPr algn="l">
              <a:spcBef>
                <a:spcPts val="0"/>
              </a:spcBef>
              <a:spcAft>
                <a:spcPts val="0"/>
              </a:spcAft>
            </a:pPr>
            <a:r>
              <a:rPr sz="1300" b="0" i="0">
                <a:solidFill>
                  <a:srgbClr val="D9A441"/>
                </a:solidFill>
                <a:latin typeface="Consolas"/>
              </a:rPr>
              <a:t>CANTO 10  ·  CHAPTER 67  ·  A CLASS IN FIRST PRINCIPLES</a:t>
            </a:r>
          </a:p>
        </p:txBody>
      </p:sp>
      <p:sp>
        <p:nvSpPr>
          <p:cNvPr id="4" name="TextBox 3"/>
          <p:cNvSpPr txBox="1"/>
          <p:nvPr/>
        </p:nvSpPr>
        <p:spPr>
          <a:xfrm>
            <a:off x="1005840" y="1965960"/>
            <a:ext cx="10241280" cy="1737360"/>
          </a:xfrm>
          <a:prstGeom prst="rect">
            <a:avLst/>
          </a:prstGeom>
          <a:noFill/>
        </p:spPr>
        <p:txBody>
          <a:bodyPr wrap="square" lIns="0" rIns="0" tIns="0" bIns="0">
            <a:spAutoFit/>
          </a:bodyPr>
          <a:lstStyle/>
          <a:p>
            <a:pPr algn="l">
              <a:lnSpc>
                <a:spcPct val="95000"/>
              </a:lnSpc>
              <a:spcBef>
                <a:spcPts val="0"/>
              </a:spcBef>
              <a:spcAft>
                <a:spcPts val="0"/>
              </a:spcAft>
            </a:pPr>
            <a:r>
              <a:rPr sz="5000" b="0" i="0">
                <a:solidFill>
                  <a:srgbClr val="EEF1F7"/>
                </a:solidFill>
                <a:latin typeface="Georgia"/>
              </a:rPr>
              <a:t>A chapter about a monster</a:t>
            </a:r>
          </a:p>
          <a:p>
            <a:pPr>
              <a:lnSpc>
                <a:spcPct val="95000"/>
              </a:lnSpc>
              <a:spcBef>
                <a:spcPts val="0"/>
              </a:spcBef>
              <a:spcAft>
                <a:spcPts val="0"/>
              </a:spcAft>
            </a:pPr>
            <a:r>
              <a:rPr sz="5000" b="0" i="1">
                <a:solidFill>
                  <a:srgbClr val="D9A441"/>
                </a:solidFill>
                <a:latin typeface="Georgia"/>
              </a:rPr>
              <a:t>is really a chapter about you</a:t>
            </a:r>
          </a:p>
        </p:txBody>
      </p:sp>
      <p:sp>
        <p:nvSpPr>
          <p:cNvPr id="5" name="TextBox 4"/>
          <p:cNvSpPr txBox="1"/>
          <p:nvPr/>
        </p:nvSpPr>
        <p:spPr>
          <a:xfrm>
            <a:off x="1005840" y="3977639"/>
            <a:ext cx="10241280" cy="457200"/>
          </a:xfrm>
          <a:prstGeom prst="rect">
            <a:avLst/>
          </a:prstGeom>
          <a:noFill/>
        </p:spPr>
        <p:txBody>
          <a:bodyPr wrap="square" lIns="0" rIns="0" tIns="0" bIns="0">
            <a:spAutoFit/>
          </a:bodyPr>
          <a:lstStyle/>
          <a:p>
            <a:pPr algn="l">
              <a:spcBef>
                <a:spcPts val="0"/>
              </a:spcBef>
              <a:spcAft>
                <a:spcPts val="0"/>
              </a:spcAft>
            </a:pPr>
            <a:r>
              <a:rPr sz="2100" b="0" i="1">
                <a:solidFill>
                  <a:srgbClr val="A6B1C8"/>
                </a:solidFill>
                <a:latin typeface="Georgia"/>
              </a:rPr>
              <a:t>Śrīmad-Bhāgavatam 10.67 — Lord Balarāma slays Dvivida</a:t>
            </a:r>
          </a:p>
        </p:txBody>
      </p:sp>
      <p:sp>
        <p:nvSpPr>
          <p:cNvPr id="6" name="Rectangle 5"/>
          <p:cNvSpPr/>
          <p:nvPr/>
        </p:nvSpPr>
        <p:spPr>
          <a:xfrm>
            <a:off x="1005840" y="4617720"/>
            <a:ext cx="3840480" cy="127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4892040"/>
            <a:ext cx="10241280" cy="1097280"/>
          </a:xfrm>
          <a:prstGeom prst="rect">
            <a:avLst/>
          </a:prstGeom>
          <a:noFill/>
        </p:spPr>
        <p:txBody>
          <a:bodyPr wrap="square" lIns="0" rIns="0" tIns="0" bIns="0">
            <a:spAutoFit/>
          </a:bodyPr>
          <a:lstStyle/>
          <a:p>
            <a:pPr algn="l">
              <a:spcBef>
                <a:spcPts val="0"/>
              </a:spcBef>
              <a:spcAft>
                <a:spcPts val="0"/>
              </a:spcAft>
            </a:pPr>
            <a:r>
              <a:rPr sz="1400" b="0" i="0">
                <a:solidFill>
                  <a:srgbClr val="A6B1C8"/>
                </a:solidFill>
                <a:latin typeface="Calibri"/>
              </a:rPr>
              <a:t>HH Romāpāda Swami  ·  Fort Lauderdale, FL  ·  23 August 2024</a:t>
            </a:r>
          </a:p>
          <a:p>
            <a:pPr>
              <a:spcBef>
                <a:spcPts val="700"/>
              </a:spcBef>
              <a:spcAft>
                <a:spcPts val="0"/>
              </a:spcAft>
            </a:pPr>
            <a:r>
              <a:rPr sz="1300" b="0" i="0">
                <a:solidFill>
                  <a:srgbClr val="6D7791"/>
                </a:solidFill>
                <a:latin typeface="Consolas"/>
              </a:rPr>
              <a:t>A study guide in 20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sāra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one idea everything hangs off</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Read at face value: thirty verses of an enormous ape wrecking a coastline until Balarāma punches him to death. Read as its commentators read it: the Bhāgavatam's most precise case study in how a soul who once stood in the Lord's own abode became a demon.</a:t>
            </a:r>
          </a:p>
        </p:txBody>
      </p:sp>
      <p:sp>
        <p:nvSpPr>
          <p:cNvPr id="6" name="Rounded Rectangle 5"/>
          <p:cNvSpPr/>
          <p:nvPr/>
        </p:nvSpPr>
        <p:spPr>
          <a:xfrm>
            <a:off x="868680" y="3063240"/>
            <a:ext cx="10515600" cy="914400"/>
          </a:xfrm>
          <a:prstGeom prst="roundRect">
            <a:avLst/>
          </a:prstGeom>
          <a:solidFill>
            <a:srgbClr val="1B2338"/>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24712" y="3227832"/>
            <a:ext cx="10012680" cy="640080"/>
          </a:xfrm>
          <a:prstGeom prst="rect">
            <a:avLst/>
          </a:prstGeom>
          <a:noFill/>
        </p:spPr>
        <p:txBody>
          <a:bodyPr wrap="square" lIns="0" rIns="0" tIns="0" bIns="0">
            <a:spAutoFit/>
          </a:bodyPr>
          <a:lstStyle/>
          <a:p>
            <a:pPr algn="l">
              <a:lnSpc>
                <a:spcPct val="115000"/>
              </a:lnSpc>
              <a:spcBef>
                <a:spcPts val="0"/>
              </a:spcBef>
              <a:spcAft>
                <a:spcPts val="0"/>
              </a:spcAft>
            </a:pPr>
            <a:r>
              <a:rPr sz="1600" b="0" i="1">
                <a:solidFill>
                  <a:srgbClr val="DBE2EE"/>
                </a:solidFill>
                <a:latin typeface="Georgia"/>
              </a:rPr>
              <a:t>Dvivida did not fall because he was weak. He fell because he was strong, was proud of it, and let that pride slight the Lord's representative.</a:t>
            </a:r>
          </a:p>
          <a:p>
            <a:pPr>
              <a:spcBef>
                <a:spcPts val="800"/>
              </a:spcBef>
              <a:spcAft>
                <a:spcPts val="0"/>
              </a:spcAft>
            </a:pPr>
            <a:r>
              <a:rPr sz="1000" b="0" i="0">
                <a:solidFill>
                  <a:srgbClr val="6D7791"/>
                </a:solidFill>
                <a:latin typeface="Consolas"/>
              </a:rPr>
              <a:t>THE THESIS OF THE CHAPTER</a:t>
            </a:r>
          </a:p>
        </p:txBody>
      </p:sp>
      <p:sp>
        <p:nvSpPr>
          <p:cNvPr id="8" name="TextBox 7"/>
          <p:cNvSpPr txBox="1"/>
          <p:nvPr/>
        </p:nvSpPr>
        <p:spPr>
          <a:xfrm>
            <a:off x="868680" y="4206240"/>
            <a:ext cx="10515600" cy="4023360"/>
          </a:xfrm>
          <a:prstGeom prst="rect">
            <a:avLst/>
          </a:prstGeom>
          <a:noFill/>
        </p:spPr>
        <p:txBody>
          <a:bodyPr wrap="square" lIns="0" rIns="0" tIns="0" bIns="0">
            <a:spAutoFit/>
          </a:bodyPr>
          <a:lstStyle/>
          <a:p>
            <a:pPr algn="l">
              <a:lnSpc>
                <a:spcPct val="118000"/>
              </a:lnSpc>
              <a:spcBef>
                <a:spcPts val="0"/>
              </a:spcBef>
            </a:pPr>
            <a:r>
              <a:rPr sz="1500" b="1">
                <a:solidFill>
                  <a:srgbClr val="EEF1F7"/>
                </a:solidFill>
                <a:latin typeface="Calibri"/>
              </a:rPr>
              <a:t>— Offence to a devotee  </a:t>
            </a:r>
            <a:r>
              <a:rPr sz="1500">
                <a:solidFill>
                  <a:srgbClr val="A6B1C8"/>
                </a:solidFill>
                <a:latin typeface="Calibri"/>
              </a:rPr>
              <a:t>drains spiritual strength.</a:t>
            </a:r>
          </a:p>
          <a:p>
            <a:pPr>
              <a:lnSpc>
                <a:spcPct val="118000"/>
              </a:lnSpc>
              <a:spcBef>
                <a:spcPts val="800"/>
              </a:spcBef>
            </a:pPr>
            <a:r>
              <a:rPr sz="1500" b="1">
                <a:solidFill>
                  <a:srgbClr val="EEF1F7"/>
                </a:solidFill>
                <a:latin typeface="Calibri"/>
              </a:rPr>
              <a:t>— Drained of strength,  </a:t>
            </a:r>
            <a:r>
              <a:rPr sz="1500">
                <a:solidFill>
                  <a:srgbClr val="A6B1C8"/>
                </a:solidFill>
                <a:latin typeface="Calibri"/>
              </a:rPr>
              <a:t>a soul cannot resist bad association.</a:t>
            </a:r>
          </a:p>
          <a:p>
            <a:pPr>
              <a:lnSpc>
                <a:spcPct val="118000"/>
              </a:lnSpc>
              <a:spcBef>
                <a:spcPts val="800"/>
              </a:spcBef>
            </a:pPr>
            <a:r>
              <a:rPr sz="1500" b="1">
                <a:solidFill>
                  <a:srgbClr val="EEF1F7"/>
                </a:solidFill>
                <a:latin typeface="Calibri"/>
              </a:rPr>
              <a:t>— Bad association  </a:t>
            </a:r>
            <a:r>
              <a:rPr sz="1500">
                <a:solidFill>
                  <a:srgbClr val="A6B1C8"/>
                </a:solidFill>
                <a:latin typeface="Calibri"/>
              </a:rPr>
              <a:t>breeds anarthas — unwanted, obstructive things.</a:t>
            </a:r>
          </a:p>
          <a:p>
            <a:pPr>
              <a:lnSpc>
                <a:spcPct val="118000"/>
              </a:lnSpc>
              <a:spcBef>
                <a:spcPts val="800"/>
              </a:spcBef>
            </a:pPr>
            <a:r>
              <a:rPr sz="1500" b="1">
                <a:solidFill>
                  <a:srgbClr val="EEF1F7"/>
                </a:solidFill>
                <a:latin typeface="Calibri"/>
              </a:rPr>
              <a:t>— Anarthas  </a:t>
            </a:r>
            <a:r>
              <a:rPr sz="1500">
                <a:solidFill>
                  <a:srgbClr val="A6B1C8"/>
                </a:solidFill>
                <a:latin typeface="Calibri"/>
              </a:rPr>
              <a:t>breed further offence, without a floor.</a:t>
            </a:r>
          </a:p>
        </p:txBody>
      </p:sp>
      <p:sp>
        <p:nvSpPr>
          <p:cNvPr id="9" name="Rounded Rectangle 8"/>
          <p:cNvSpPr/>
          <p:nvPr/>
        </p:nvSpPr>
        <p:spPr>
          <a:xfrm>
            <a:off x="868680" y="5715000"/>
            <a:ext cx="10515600" cy="64008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68680" y="5715000"/>
            <a:ext cx="38100" cy="64008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5861304"/>
            <a:ext cx="10104120" cy="365759"/>
          </a:xfrm>
          <a:prstGeom prst="rect">
            <a:avLst/>
          </a:prstGeom>
          <a:noFill/>
        </p:spPr>
        <p:txBody>
          <a:bodyPr wrap="square" lIns="0" rIns="0" tIns="0" bIns="0">
            <a:spAutoFit/>
          </a:bodyPr>
          <a:lstStyle/>
          <a:p>
            <a:pPr algn="l">
              <a:lnSpc>
                <a:spcPct val="115000"/>
              </a:lnSpc>
            </a:pPr>
            <a:r>
              <a:rPr sz="1400" b="1">
                <a:solidFill>
                  <a:srgbClr val="C2624A"/>
                </a:solidFill>
                <a:latin typeface="Calibri"/>
              </a:rPr>
              <a:t>The frame vs. the content.  </a:t>
            </a:r>
            <a:r>
              <a:rPr sz="1400">
                <a:solidFill>
                  <a:srgbClr val="A6B1C8"/>
                </a:solidFill>
                <a:latin typeface="Calibri"/>
              </a:rPr>
              <a:t>The fight is the frame. That chain is the content.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krama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Where we are in the text</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Every Bhāgavatam chapter answers a question someone actually asked. Here the questioner is Mahārāja Parīkṣit — a king with seven days left to live and no time for decoration.</a:t>
            </a:r>
          </a:p>
        </p:txBody>
      </p:sp>
      <p:sp>
        <p:nvSpPr>
          <p:cNvPr id="6" name="Rounded Rectangle 5"/>
          <p:cNvSpPr/>
          <p:nvPr/>
        </p:nvSpPr>
        <p:spPr>
          <a:xfrm>
            <a:off x="868680" y="2377440"/>
            <a:ext cx="10515600" cy="960120"/>
          </a:xfrm>
          <a:prstGeom prst="roundRect">
            <a:avLst/>
          </a:prstGeom>
          <a:solidFill>
            <a:srgbClr val="1B2338"/>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24712" y="2542032"/>
            <a:ext cx="10012680" cy="685800"/>
          </a:xfrm>
          <a:prstGeom prst="rect">
            <a:avLst/>
          </a:prstGeom>
          <a:noFill/>
        </p:spPr>
        <p:txBody>
          <a:bodyPr wrap="square" lIns="0" rIns="0" tIns="0" bIns="0">
            <a:spAutoFit/>
          </a:bodyPr>
          <a:lstStyle/>
          <a:p>
            <a:pPr algn="l">
              <a:lnSpc>
                <a:spcPct val="115000"/>
              </a:lnSpc>
              <a:spcBef>
                <a:spcPts val="0"/>
              </a:spcBef>
              <a:spcAft>
                <a:spcPts val="0"/>
              </a:spcAft>
            </a:pPr>
            <a:r>
              <a:rPr sz="1600" b="0" i="1">
                <a:solidFill>
                  <a:srgbClr val="DBE2EE"/>
                </a:solidFill>
                <a:latin typeface="Georgia"/>
              </a:rPr>
              <a:t>“I wish to hear further about Śrī Balarāma, the unlimited and immeasurable Supreme Lord, whose activities are all astounding. What else did He do?”</a:t>
            </a:r>
          </a:p>
          <a:p>
            <a:pPr>
              <a:spcBef>
                <a:spcPts val="800"/>
              </a:spcBef>
              <a:spcAft>
                <a:spcPts val="0"/>
              </a:spcAft>
            </a:pPr>
            <a:r>
              <a:rPr sz="1000" b="0" i="0">
                <a:solidFill>
                  <a:srgbClr val="6D7791"/>
                </a:solidFill>
                <a:latin typeface="Consolas"/>
              </a:rPr>
              <a:t>PARĪKṢIT'S REQUEST · SB 10.67.1</a:t>
            </a:r>
          </a:p>
        </p:txBody>
      </p:sp>
      <p:graphicFrame>
        <p:nvGraphicFramePr>
          <p:cNvPr id="8" name="Table 7"/>
          <p:cNvGraphicFramePr>
            <a:graphicFrameLocks noGrp="1"/>
          </p:cNvGraphicFramePr>
          <p:nvPr/>
        </p:nvGraphicFramePr>
        <p:xfrm>
          <a:off x="868680" y="3611880"/>
          <a:ext cx="10515599" cy="2633472"/>
        </p:xfrm>
        <a:graphic>
          <a:graphicData uri="http://schemas.openxmlformats.org/drawingml/2006/table">
            <a:tbl>
              <a:tblPr firstRow="1" bandRow="1">
                <a:tableStyleId>{5C22544A-7EE6-4342-B048-85BDC9FD1C3A}</a:tableStyleId>
              </a:tblPr>
              <a:tblGrid>
                <a:gridCol w="1101634"/>
                <a:gridCol w="4406537"/>
                <a:gridCol w="5007428"/>
              </a:tblGrid>
              <a:tr h="658368">
                <a:tc>
                  <a:txBody>
                    <a:bodyPr wrap="square"/>
                    <a:lstStyle/>
                    <a:p>
                      <a:pPr>
                        <a:lnSpc>
                          <a:spcPct val="108000"/>
                        </a:lnSpc>
                      </a:pPr>
                      <a:r>
                        <a:rPr sz="1050" b="1">
                          <a:solidFill>
                            <a:srgbClr val="6D7791"/>
                          </a:solidFill>
                          <a:latin typeface="Consolas"/>
                        </a:rPr>
                        <a:t>CHAPTER</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WHAT HAPPENS</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WHY IT MATTERS HERE</a:t>
                      </a:r>
                    </a:p>
                  </a:txBody>
                  <a:tcPr marL="100584" marR="100584" marT="45720" marB="45720" anchor="t">
                    <a:solidFill>
                      <a:srgbClr val="1B2338"/>
                    </a:solidFill>
                  </a:tcPr>
                </a:tc>
              </a:tr>
              <a:tr h="658368">
                <a:tc>
                  <a:txBody>
                    <a:bodyPr wrap="square"/>
                    <a:lstStyle/>
                    <a:p>
                      <a:pPr>
                        <a:lnSpc>
                          <a:spcPct val="108000"/>
                        </a:lnSpc>
                      </a:pPr>
                      <a:r>
                        <a:rPr sz="1300" b="0">
                          <a:solidFill>
                            <a:srgbClr val="EEF1F7"/>
                          </a:solidFill>
                          <a:latin typeface="Calibri"/>
                        </a:rPr>
                        <a:t>10.65</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Balarāma visits Vṛndāvana; dances with the gopīs, drinks vāruṇī, drags the Yamunā off course with His plough.</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Establishes the exact scene Chapter 67 repeats. Dvivida walks into a setting we have already been shown.</a:t>
                      </a:r>
                    </a:p>
                  </a:txBody>
                  <a:tcPr marL="100584" marR="100584" marT="45720" marB="45720" anchor="t">
                    <a:solidFill>
                      <a:srgbClr val="141A2B"/>
                    </a:solidFill>
                  </a:tcPr>
                </a:tc>
              </a:tr>
              <a:tr h="658368">
                <a:tc>
                  <a:txBody>
                    <a:bodyPr wrap="square"/>
                    <a:lstStyle/>
                    <a:p>
                      <a:pPr>
                        <a:lnSpc>
                          <a:spcPct val="108000"/>
                        </a:lnSpc>
                      </a:pPr>
                      <a:r>
                        <a:rPr sz="1300" b="0">
                          <a:solidFill>
                            <a:srgbClr val="EEF1F7"/>
                          </a:solidFill>
                          <a:latin typeface="Calibri"/>
                        </a:rPr>
                        <a:t>10.66</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Kṛṣṇa kills Pauṇḍraka, the impostor who dressed as Viṣṇu.</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Balarāma is still in Vṛndāvana — so Parīkṣit gets no Balarāma news, hence his renewed request.</a:t>
                      </a:r>
                    </a:p>
                  </a:txBody>
                  <a:tcPr marL="100584" marR="100584" marT="45720" marB="45720" anchor="t">
                    <a:solidFill>
                      <a:srgbClr val="0B0D14"/>
                    </a:solidFill>
                  </a:tcPr>
                </a:tc>
              </a:tr>
              <a:tr h="658368">
                <a:tc>
                  <a:txBody>
                    <a:bodyPr wrap="square"/>
                    <a:lstStyle/>
                    <a:p>
                      <a:pPr>
                        <a:lnSpc>
                          <a:spcPct val="108000"/>
                        </a:lnSpc>
                      </a:pPr>
                      <a:r>
                        <a:rPr sz="1300" b="0">
                          <a:solidFill>
                            <a:srgbClr val="EEF1F7"/>
                          </a:solidFill>
                          <a:latin typeface="Calibri"/>
                        </a:rPr>
                        <a:t>10.59</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Eight chapters earlier: Kṛṣṇa kills Narakāsura, freeing 16,100 princesses.</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The death that gives Dvivida his motive. He is not a random monster — he is a friend avenging a friend.</a:t>
                      </a:r>
                    </a:p>
                  </a:txBody>
                  <a:tcPr marL="100584" marR="100584" marT="45720" marB="45720" anchor="t">
                    <a:solidFill>
                      <a:srgbClr val="141A2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kāla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Where we are in time — and why it matters</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Dvivida serves under Sugrīva in Rāmacandra's pastimes and dies in Kṛṣṇa's. If those advents are far apart, the chapter's first factual claim is really a claim about his longevity.</a:t>
            </a:r>
          </a:p>
        </p:txBody>
      </p:sp>
      <p:sp>
        <p:nvSpPr>
          <p:cNvPr id="6" name="Rounded Rectangle 5"/>
          <p:cNvSpPr/>
          <p:nvPr/>
        </p:nvSpPr>
        <p:spPr>
          <a:xfrm>
            <a:off x="868680" y="2468880"/>
            <a:ext cx="10515600" cy="4572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619794"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2370908"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3122022"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873137"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624251"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375365"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26480"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877594"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28708"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379822"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130937"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882051"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633165" y="2468880"/>
            <a:ext cx="10160" cy="4572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375365" y="2468880"/>
            <a:ext cx="751114" cy="457200"/>
          </a:xfrm>
          <a:prstGeom prst="roundRect">
            <a:avLst/>
          </a:prstGeom>
          <a:solidFill>
            <a:srgbClr val="1B2338"/>
          </a:solidFill>
          <a:ln w="2032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68680" y="2212848"/>
            <a:ext cx="10515600" cy="237744"/>
          </a:xfrm>
          <a:prstGeom prst="rect">
            <a:avLst/>
          </a:prstGeom>
          <a:noFill/>
        </p:spPr>
        <p:txBody>
          <a:bodyPr wrap="square" lIns="0" rIns="0" tIns="0" bIns="0">
            <a:spAutoFit/>
          </a:bodyPr>
          <a:lstStyle/>
          <a:p>
            <a:pPr algn="l">
              <a:spcBef>
                <a:spcPts val="0"/>
              </a:spcBef>
              <a:spcAft>
                <a:spcPts val="0"/>
              </a:spcAft>
            </a:pPr>
            <a:r>
              <a:rPr sz="1050" b="0" i="0">
                <a:solidFill>
                  <a:srgbClr val="6D7791"/>
                </a:solidFill>
                <a:latin typeface="Consolas"/>
              </a:rPr>
              <a:t>ONE DAY OF BRAHMĀ (KALPA) — 1,000 FOUR-YUGA CYCLES · 14 MANUS · ≈71 EACH</a:t>
            </a:r>
          </a:p>
        </p:txBody>
      </p:sp>
      <p:sp>
        <p:nvSpPr>
          <p:cNvPr id="22" name="TextBox 21"/>
          <p:cNvSpPr txBox="1"/>
          <p:nvPr/>
        </p:nvSpPr>
        <p:spPr>
          <a:xfrm>
            <a:off x="4699362" y="2999232"/>
            <a:ext cx="2926080" cy="274320"/>
          </a:xfrm>
          <a:prstGeom prst="rect">
            <a:avLst/>
          </a:prstGeom>
          <a:noFill/>
        </p:spPr>
        <p:txBody>
          <a:bodyPr wrap="square" lIns="0" rIns="0" tIns="0" bIns="0">
            <a:spAutoFit/>
          </a:bodyPr>
          <a:lstStyle/>
          <a:p>
            <a:pPr algn="l">
              <a:spcBef>
                <a:spcPts val="0"/>
              </a:spcBef>
              <a:spcAft>
                <a:spcPts val="0"/>
              </a:spcAft>
            </a:pPr>
            <a:r>
              <a:rPr sz="1200" b="1" i="0">
                <a:solidFill>
                  <a:srgbClr val="EEF1F7"/>
                </a:solidFill>
                <a:latin typeface="Calibri"/>
              </a:rPr>
              <a:t>Manu 7 — Vaivasvata</a:t>
            </a:r>
          </a:p>
        </p:txBody>
      </p:sp>
      <p:sp>
        <p:nvSpPr>
          <p:cNvPr id="23" name="Rounded Rectangle 22"/>
          <p:cNvSpPr/>
          <p:nvPr/>
        </p:nvSpPr>
        <p:spPr>
          <a:xfrm>
            <a:off x="868680" y="3703320"/>
            <a:ext cx="10515600" cy="4572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8680" y="3456432"/>
            <a:ext cx="10515600" cy="237744"/>
          </a:xfrm>
          <a:prstGeom prst="rect">
            <a:avLst/>
          </a:prstGeom>
          <a:noFill/>
        </p:spPr>
        <p:txBody>
          <a:bodyPr wrap="square" lIns="0" rIns="0" tIns="0" bIns="0">
            <a:spAutoFit/>
          </a:bodyPr>
          <a:lstStyle/>
          <a:p>
            <a:pPr algn="l">
              <a:spcBef>
                <a:spcPts val="0"/>
              </a:spcBef>
              <a:spcAft>
                <a:spcPts val="0"/>
              </a:spcAft>
            </a:pPr>
            <a:r>
              <a:rPr sz="1050" b="0" i="0">
                <a:solidFill>
                  <a:srgbClr val="6D7791"/>
                </a:solidFill>
                <a:latin typeface="Consolas"/>
              </a:rPr>
              <a:t>71 FOUR-YUGA CYCLES OF VAIVASVATA MANU</a:t>
            </a:r>
          </a:p>
        </p:txBody>
      </p:sp>
      <p:sp>
        <p:nvSpPr>
          <p:cNvPr id="25" name="Rectangle 24"/>
          <p:cNvSpPr/>
          <p:nvPr/>
        </p:nvSpPr>
        <p:spPr>
          <a:xfrm>
            <a:off x="4349195" y="3703320"/>
            <a:ext cx="148107" cy="45720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941623" y="3703320"/>
            <a:ext cx="148107" cy="4572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349195" y="4224528"/>
            <a:ext cx="666481" cy="7620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297680" y="4187952"/>
            <a:ext cx="7040880" cy="548640"/>
          </a:xfrm>
          <a:prstGeom prst="rect">
            <a:avLst/>
          </a:prstGeom>
          <a:noFill/>
        </p:spPr>
        <p:txBody>
          <a:bodyPr wrap="square" lIns="0" rIns="0" tIns="0" bIns="0">
            <a:spAutoFit/>
          </a:bodyPr>
          <a:lstStyle/>
          <a:p>
            <a:pPr algn="l">
              <a:spcBef>
                <a:spcPts val="0"/>
              </a:spcBef>
              <a:spcAft>
                <a:spcPts val="0"/>
              </a:spcAft>
            </a:pPr>
            <a:r>
              <a:rPr sz="1400" b="0" i="0">
                <a:solidFill>
                  <a:srgbClr val="C2624A"/>
                </a:solidFill>
                <a:latin typeface="Calibri"/>
              </a:rPr>
              <a:t>Dvivida is alive across this entire span — ≈4 yuga-cycles, tens of millions of years.</a:t>
            </a:r>
          </a:p>
          <a:p>
            <a:pPr>
              <a:spcBef>
                <a:spcPts val="400"/>
              </a:spcBef>
              <a:spcAft>
                <a:spcPts val="0"/>
              </a:spcAft>
            </a:pPr>
            <a:r>
              <a:rPr sz="1200" b="0" i="0">
                <a:solidFill>
                  <a:srgbClr val="6D7791"/>
                </a:solidFill>
                <a:latin typeface="Consolas"/>
              </a:rPr>
              <a:t>Rāmacandra: cycle 24, Tretā-yuga.    Kṛṣṇa &amp; Balarāma: cycle 28, end of Dvāpara.</a:t>
            </a:r>
          </a:p>
        </p:txBody>
      </p:sp>
      <p:sp>
        <p:nvSpPr>
          <p:cNvPr id="29" name="Rounded Rectangle 28"/>
          <p:cNvSpPr/>
          <p:nvPr/>
        </p:nvSpPr>
        <p:spPr>
          <a:xfrm>
            <a:off x="868680" y="5074920"/>
            <a:ext cx="10515600" cy="123444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68680" y="5074920"/>
            <a:ext cx="38100" cy="123444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69848" y="5221224"/>
            <a:ext cx="10104120" cy="960120"/>
          </a:xfrm>
          <a:prstGeom prst="rect">
            <a:avLst/>
          </a:prstGeom>
          <a:noFill/>
        </p:spPr>
        <p:txBody>
          <a:bodyPr wrap="square" lIns="0" rIns="0" tIns="0" bIns="0">
            <a:spAutoFit/>
          </a:bodyPr>
          <a:lstStyle/>
          <a:p>
            <a:pPr algn="l">
              <a:lnSpc>
                <a:spcPct val="115000"/>
              </a:lnSpc>
            </a:pPr>
            <a:r>
              <a:rPr sz="1400" b="1">
                <a:solidFill>
                  <a:srgbClr val="EEF1F7"/>
                </a:solidFill>
                <a:latin typeface="Calibri"/>
              </a:rPr>
              <a:t>Cirañjīva —  </a:t>
            </a:r>
            <a:r>
              <a:rPr sz="1400">
                <a:solidFill>
                  <a:srgbClr val="A6B1C8"/>
                </a:solidFill>
                <a:latin typeface="Calibri"/>
              </a:rPr>
              <a:t>a being granted exceptional longevity, persisting across yuga-cycles. So is Jāmbavān, who fights in Rāma's pastimes and again in Kṛṣṇa's, and whose daughter Jāmbavatī becomes one of Kṛṣṇa's principal queens. The same lifespan made one the Lord's father-in-law and the other His enemy — longevity is not the deciding variable.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janma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Born to serve Rāma</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Dvivida was not made to be a demon. He was manufactured, deliberately, to help the Lord.</a:t>
            </a:r>
          </a:p>
        </p:txBody>
      </p:sp>
      <p:sp>
        <p:nvSpPr>
          <p:cNvPr id="6" name="TextBox 5"/>
          <p:cNvSpPr txBox="1"/>
          <p:nvPr/>
        </p:nvSpPr>
        <p:spPr>
          <a:xfrm>
            <a:off x="868680" y="2331720"/>
            <a:ext cx="10515600" cy="4023360"/>
          </a:xfrm>
          <a:prstGeom prst="rect">
            <a:avLst/>
          </a:prstGeom>
          <a:noFill/>
        </p:spPr>
        <p:txBody>
          <a:bodyPr wrap="square" lIns="0" rIns="0" tIns="0" bIns="0">
            <a:spAutoFit/>
          </a:bodyPr>
          <a:lstStyle/>
          <a:p>
            <a:pPr algn="l">
              <a:lnSpc>
                <a:spcPct val="118000"/>
              </a:lnSpc>
              <a:spcBef>
                <a:spcPts val="0"/>
              </a:spcBef>
            </a:pPr>
            <a:r>
              <a:rPr sz="1500" b="1">
                <a:solidFill>
                  <a:srgbClr val="EEF1F7"/>
                </a:solidFill>
                <a:latin typeface="Calibri"/>
              </a:rPr>
              <a:t>— The loophole.  </a:t>
            </a:r>
            <a:r>
              <a:rPr sz="1500">
                <a:solidFill>
                  <a:srgbClr val="A6B1C8"/>
                </a:solidFill>
                <a:latin typeface="Calibri"/>
              </a:rPr>
              <a:t>Rāvaṇa held benedictions from Brahmā making him unkillable by whole categories of being — but he never thought to exclude animals. Viṣṇu told the demigods to father offspring in the categories the benedictions missed.</a:t>
            </a:r>
          </a:p>
          <a:p>
            <a:pPr>
              <a:lnSpc>
                <a:spcPct val="118000"/>
              </a:lnSpc>
              <a:spcBef>
                <a:spcPts val="1100"/>
              </a:spcBef>
            </a:pPr>
            <a:r>
              <a:rPr sz="1500" b="1">
                <a:solidFill>
                  <a:srgbClr val="EEF1F7"/>
                </a:solidFill>
                <a:latin typeface="Calibri"/>
              </a:rPr>
              <a:t>— So the demigods fathered vānaras.  </a:t>
            </a:r>
            <a:r>
              <a:rPr sz="1500">
                <a:solidFill>
                  <a:srgbClr val="A6B1C8"/>
                </a:solidFill>
                <a:latin typeface="Calibri"/>
              </a:rPr>
              <a:t>The Aśvinī-kumāras produced two sons: Mainda and Dvivida, brothers, ministers in the court of the monkey-king Sugrīva.</a:t>
            </a:r>
          </a:p>
          <a:p>
            <a:pPr>
              <a:lnSpc>
                <a:spcPct val="118000"/>
              </a:lnSpc>
              <a:spcBef>
                <a:spcPts val="1100"/>
              </a:spcBef>
            </a:pPr>
            <a:r>
              <a:rPr sz="1500" b="1">
                <a:solidFill>
                  <a:srgbClr val="EEF1F7"/>
                </a:solidFill>
                <a:latin typeface="Calibri"/>
              </a:rPr>
              <a:t>— Service in the search for Sītā.  </a:t>
            </a:r>
            <a:r>
              <a:rPr sz="1500">
                <a:solidFill>
                  <a:srgbClr val="A6B1C8"/>
                </a:solidFill>
                <a:latin typeface="Calibri"/>
              </a:rPr>
              <a:t>Both went south with Aṅgada's party of thirty thousand — Hanumān among them — the group that Sampāti, Jaṭāyu's grounded brother, finally pointed to the Aśoka grove in Laṅkā.</a:t>
            </a:r>
          </a:p>
          <a:p>
            <a:pPr>
              <a:lnSpc>
                <a:spcPct val="118000"/>
              </a:lnSpc>
              <a:spcBef>
                <a:spcPts val="1100"/>
              </a:spcBef>
            </a:pPr>
            <a:r>
              <a:rPr sz="1500" b="1">
                <a:solidFill>
                  <a:srgbClr val="EEF1F7"/>
                </a:solidFill>
                <a:latin typeface="Calibri"/>
              </a:rPr>
              <a:t>— One of the five who remained.  </a:t>
            </a:r>
            <a:r>
              <a:rPr sz="1500">
                <a:solidFill>
                  <a:srgbClr val="A6B1C8"/>
                </a:solidFill>
                <a:latin typeface="Calibri"/>
              </a:rPr>
              <a:t>Before Rāmacandra entered the Sarayū, He designated five devotees to stay behind: Hanumān, Jāmbavān, Vibhīṣaṇa, Mainda — and Dvivida.</a:t>
            </a:r>
          </a:p>
        </p:txBody>
      </p:sp>
      <p:sp>
        <p:nvSpPr>
          <p:cNvPr id="7" name="Rounded Rectangle 6"/>
          <p:cNvSpPr/>
          <p:nvPr/>
        </p:nvSpPr>
        <p:spPr>
          <a:xfrm>
            <a:off x="868680" y="5257800"/>
            <a:ext cx="10515600" cy="105156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5257800"/>
            <a:ext cx="38100" cy="105156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5404104"/>
            <a:ext cx="10104120" cy="777239"/>
          </a:xfrm>
          <a:prstGeom prst="rect">
            <a:avLst/>
          </a:prstGeom>
          <a:noFill/>
        </p:spPr>
        <p:txBody>
          <a:bodyPr wrap="square" lIns="0" rIns="0" tIns="0" bIns="0">
            <a:spAutoFit/>
          </a:bodyPr>
          <a:lstStyle/>
          <a:p>
            <a:pPr algn="l">
              <a:lnSpc>
                <a:spcPct val="115000"/>
              </a:lnSpc>
            </a:pPr>
            <a:r>
              <a:rPr sz="1400" b="1">
                <a:solidFill>
                  <a:srgbClr val="C2624A"/>
                </a:solidFill>
                <a:latin typeface="Calibri"/>
              </a:rPr>
              <a:t>This is the fact the chapter turns on.  </a:t>
            </a:r>
            <a:r>
              <a:rPr sz="1400">
                <a:solidFill>
                  <a:srgbClr val="A6B1C8"/>
                </a:solidFill>
                <a:latin typeface="Calibri"/>
              </a:rPr>
              <a:t>Dvivida was hand-picked by the Lord Himself to stay. Whatever happens next happens to someone the Lord chose — which is why “could it happen to me?” is not a rhetorical question.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bala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measure of his strength</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Bhāgavatam does not call him strong; it quantifies him twice. His strength is the raw material of his pride, and his pride is the first link in the chain.</a:t>
            </a:r>
          </a:p>
        </p:txBody>
      </p:sp>
      <p:sp>
        <p:nvSpPr>
          <p:cNvPr id="6" name="TextBox 5"/>
          <p:cNvSpPr txBox="1"/>
          <p:nvPr/>
        </p:nvSpPr>
        <p:spPr>
          <a:xfrm>
            <a:off x="868680" y="2331720"/>
            <a:ext cx="10515600" cy="274320"/>
          </a:xfrm>
          <a:prstGeom prst="rect">
            <a:avLst/>
          </a:prstGeom>
          <a:noFill/>
        </p:spPr>
        <p:txBody>
          <a:bodyPr wrap="square" lIns="0" rIns="0" tIns="0" bIns="0">
            <a:spAutoFit/>
          </a:bodyPr>
          <a:lstStyle/>
          <a:p>
            <a:pPr algn="l">
              <a:spcBef>
                <a:spcPts val="0"/>
              </a:spcBef>
              <a:spcAft>
                <a:spcPts val="0"/>
              </a:spcAft>
            </a:pPr>
            <a:r>
              <a:rPr sz="1050" b="0" i="0">
                <a:solidFill>
                  <a:srgbClr val="6D7791"/>
                </a:solidFill>
                <a:latin typeface="Consolas"/>
              </a:rPr>
              <a:t>THE JUMPING CONTEST AT THE SOUTHERN SHORE — WHO CAN CROSS 100 YOJANAS (≈800 MILES)?</a:t>
            </a:r>
          </a:p>
        </p:txBody>
      </p:sp>
      <p:sp>
        <p:nvSpPr>
          <p:cNvPr id="7" name="TextBox 6"/>
          <p:cNvSpPr txBox="1"/>
          <p:nvPr/>
        </p:nvSpPr>
        <p:spPr>
          <a:xfrm>
            <a:off x="868680" y="2697480"/>
            <a:ext cx="1188720" cy="274320"/>
          </a:xfrm>
          <a:prstGeom prst="rect">
            <a:avLst/>
          </a:prstGeom>
          <a:noFill/>
        </p:spPr>
        <p:txBody>
          <a:bodyPr wrap="square" lIns="0" rIns="0" tIns="0" bIns="0">
            <a:spAutoFit/>
          </a:bodyPr>
          <a:lstStyle/>
          <a:p>
            <a:pPr algn="r">
              <a:spcBef>
                <a:spcPts val="0"/>
              </a:spcBef>
              <a:spcAft>
                <a:spcPts val="0"/>
              </a:spcAft>
            </a:pPr>
            <a:r>
              <a:rPr sz="1300" b="1" i="0">
                <a:solidFill>
                  <a:srgbClr val="EEF1F7"/>
                </a:solidFill>
                <a:latin typeface="Calibri"/>
              </a:rPr>
              <a:t>Gaja</a:t>
            </a:r>
          </a:p>
        </p:txBody>
      </p:sp>
      <p:sp>
        <p:nvSpPr>
          <p:cNvPr id="8" name="Rectangle 7"/>
          <p:cNvSpPr/>
          <p:nvPr/>
        </p:nvSpPr>
        <p:spPr>
          <a:xfrm>
            <a:off x="2148840" y="2670048"/>
            <a:ext cx="585216" cy="237744"/>
          </a:xfrm>
          <a:prstGeom prst="rect">
            <a:avLst/>
          </a:prstGeom>
          <a:solidFill>
            <a:srgbClr val="3D4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843784" y="2688336"/>
            <a:ext cx="4206240" cy="274320"/>
          </a:xfrm>
          <a:prstGeom prst="rect">
            <a:avLst/>
          </a:prstGeom>
          <a:noFill/>
        </p:spPr>
        <p:txBody>
          <a:bodyPr wrap="square" lIns="0" rIns="0" tIns="0" bIns="0">
            <a:spAutoFit/>
          </a:bodyPr>
          <a:lstStyle/>
          <a:p>
            <a:pPr algn="l">
              <a:spcBef>
                <a:spcPts val="0"/>
              </a:spcBef>
              <a:spcAft>
                <a:spcPts val="0"/>
              </a:spcAft>
            </a:pPr>
            <a:r>
              <a:rPr sz="1150" b="0" i="0">
                <a:solidFill>
                  <a:srgbClr val="6D7791"/>
                </a:solidFill>
                <a:latin typeface="Consolas"/>
              </a:rPr>
              <a:t>10 yojanas · 80 mi</a:t>
            </a:r>
          </a:p>
        </p:txBody>
      </p:sp>
      <p:sp>
        <p:nvSpPr>
          <p:cNvPr id="10" name="TextBox 9"/>
          <p:cNvSpPr txBox="1"/>
          <p:nvPr/>
        </p:nvSpPr>
        <p:spPr>
          <a:xfrm>
            <a:off x="868680" y="3099816"/>
            <a:ext cx="1188720" cy="274320"/>
          </a:xfrm>
          <a:prstGeom prst="rect">
            <a:avLst/>
          </a:prstGeom>
          <a:noFill/>
        </p:spPr>
        <p:txBody>
          <a:bodyPr wrap="square" lIns="0" rIns="0" tIns="0" bIns="0">
            <a:spAutoFit/>
          </a:bodyPr>
          <a:lstStyle/>
          <a:p>
            <a:pPr algn="r">
              <a:spcBef>
                <a:spcPts val="0"/>
              </a:spcBef>
              <a:spcAft>
                <a:spcPts val="0"/>
              </a:spcAft>
            </a:pPr>
            <a:r>
              <a:rPr sz="1300" b="1" i="0">
                <a:solidFill>
                  <a:srgbClr val="EEF1F7"/>
                </a:solidFill>
                <a:latin typeface="Calibri"/>
              </a:rPr>
              <a:t>Gavākṣa</a:t>
            </a:r>
          </a:p>
        </p:txBody>
      </p:sp>
      <p:sp>
        <p:nvSpPr>
          <p:cNvPr id="11" name="Rectangle 10"/>
          <p:cNvSpPr/>
          <p:nvPr/>
        </p:nvSpPr>
        <p:spPr>
          <a:xfrm>
            <a:off x="2148840" y="3072384"/>
            <a:ext cx="1170432" cy="237744"/>
          </a:xfrm>
          <a:prstGeom prst="rect">
            <a:avLst/>
          </a:prstGeom>
          <a:solidFill>
            <a:srgbClr val="3D4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429000" y="3090672"/>
            <a:ext cx="4206240" cy="274320"/>
          </a:xfrm>
          <a:prstGeom prst="rect">
            <a:avLst/>
          </a:prstGeom>
          <a:noFill/>
        </p:spPr>
        <p:txBody>
          <a:bodyPr wrap="square" lIns="0" rIns="0" tIns="0" bIns="0">
            <a:spAutoFit/>
          </a:bodyPr>
          <a:lstStyle/>
          <a:p>
            <a:pPr algn="l">
              <a:spcBef>
                <a:spcPts val="0"/>
              </a:spcBef>
              <a:spcAft>
                <a:spcPts val="0"/>
              </a:spcAft>
            </a:pPr>
            <a:r>
              <a:rPr sz="1150" b="0" i="0">
                <a:solidFill>
                  <a:srgbClr val="6D7791"/>
                </a:solidFill>
                <a:latin typeface="Consolas"/>
              </a:rPr>
              <a:t>20 yojanas · 160 mi</a:t>
            </a:r>
          </a:p>
        </p:txBody>
      </p:sp>
      <p:sp>
        <p:nvSpPr>
          <p:cNvPr id="13" name="TextBox 12"/>
          <p:cNvSpPr txBox="1"/>
          <p:nvPr/>
        </p:nvSpPr>
        <p:spPr>
          <a:xfrm>
            <a:off x="868680" y="3502152"/>
            <a:ext cx="1188720" cy="274320"/>
          </a:xfrm>
          <a:prstGeom prst="rect">
            <a:avLst/>
          </a:prstGeom>
          <a:noFill/>
        </p:spPr>
        <p:txBody>
          <a:bodyPr wrap="square" lIns="0" rIns="0" tIns="0" bIns="0">
            <a:spAutoFit/>
          </a:bodyPr>
          <a:lstStyle/>
          <a:p>
            <a:pPr algn="r">
              <a:spcBef>
                <a:spcPts val="0"/>
              </a:spcBef>
              <a:spcAft>
                <a:spcPts val="0"/>
              </a:spcAft>
            </a:pPr>
            <a:r>
              <a:rPr sz="1300" b="1" i="0">
                <a:solidFill>
                  <a:srgbClr val="EEF1F7"/>
                </a:solidFill>
                <a:latin typeface="Calibri"/>
              </a:rPr>
              <a:t>Mainda</a:t>
            </a:r>
          </a:p>
        </p:txBody>
      </p:sp>
      <p:sp>
        <p:nvSpPr>
          <p:cNvPr id="14" name="Rectangle 13"/>
          <p:cNvSpPr/>
          <p:nvPr/>
        </p:nvSpPr>
        <p:spPr>
          <a:xfrm>
            <a:off x="2148840" y="3474720"/>
            <a:ext cx="3511296" cy="237744"/>
          </a:xfrm>
          <a:prstGeom prst="rect">
            <a:avLst/>
          </a:prstGeom>
          <a:solidFill>
            <a:srgbClr val="8E86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769864" y="3493008"/>
            <a:ext cx="4206240" cy="274320"/>
          </a:xfrm>
          <a:prstGeom prst="rect">
            <a:avLst/>
          </a:prstGeom>
          <a:noFill/>
        </p:spPr>
        <p:txBody>
          <a:bodyPr wrap="square" lIns="0" rIns="0" tIns="0" bIns="0">
            <a:spAutoFit/>
          </a:bodyPr>
          <a:lstStyle/>
          <a:p>
            <a:pPr algn="l">
              <a:spcBef>
                <a:spcPts val="0"/>
              </a:spcBef>
              <a:spcAft>
                <a:spcPts val="0"/>
              </a:spcAft>
            </a:pPr>
            <a:r>
              <a:rPr sz="1150" b="0" i="0">
                <a:solidFill>
                  <a:srgbClr val="8E86BB"/>
                </a:solidFill>
                <a:latin typeface="Consolas"/>
              </a:rPr>
              <a:t>60 yojanas · 480 mi — “I am capable”</a:t>
            </a:r>
          </a:p>
        </p:txBody>
      </p:sp>
      <p:sp>
        <p:nvSpPr>
          <p:cNvPr id="16" name="TextBox 15"/>
          <p:cNvSpPr txBox="1"/>
          <p:nvPr/>
        </p:nvSpPr>
        <p:spPr>
          <a:xfrm>
            <a:off x="868680" y="3904488"/>
            <a:ext cx="1188720" cy="274320"/>
          </a:xfrm>
          <a:prstGeom prst="rect">
            <a:avLst/>
          </a:prstGeom>
          <a:noFill/>
        </p:spPr>
        <p:txBody>
          <a:bodyPr wrap="square" lIns="0" rIns="0" tIns="0" bIns="0">
            <a:spAutoFit/>
          </a:bodyPr>
          <a:lstStyle/>
          <a:p>
            <a:pPr algn="r">
              <a:spcBef>
                <a:spcPts val="0"/>
              </a:spcBef>
              <a:spcAft>
                <a:spcPts val="0"/>
              </a:spcAft>
            </a:pPr>
            <a:r>
              <a:rPr sz="1300" b="1" i="0">
                <a:solidFill>
                  <a:srgbClr val="EEF1F7"/>
                </a:solidFill>
                <a:latin typeface="Calibri"/>
              </a:rPr>
              <a:t>Dvivida</a:t>
            </a:r>
          </a:p>
        </p:txBody>
      </p:sp>
      <p:sp>
        <p:nvSpPr>
          <p:cNvPr id="17" name="Rectangle 16"/>
          <p:cNvSpPr/>
          <p:nvPr/>
        </p:nvSpPr>
        <p:spPr>
          <a:xfrm>
            <a:off x="2148840" y="3877056"/>
            <a:ext cx="4096512" cy="237744"/>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55080" y="3895344"/>
            <a:ext cx="4206240" cy="274320"/>
          </a:xfrm>
          <a:prstGeom prst="rect">
            <a:avLst/>
          </a:prstGeom>
          <a:noFill/>
        </p:spPr>
        <p:txBody>
          <a:bodyPr wrap="square" lIns="0" rIns="0" tIns="0" bIns="0">
            <a:spAutoFit/>
          </a:bodyPr>
          <a:lstStyle/>
          <a:p>
            <a:pPr algn="l">
              <a:spcBef>
                <a:spcPts val="0"/>
              </a:spcBef>
              <a:spcAft>
                <a:spcPts val="0"/>
              </a:spcAft>
            </a:pPr>
            <a:r>
              <a:rPr sz="1150" b="0" i="0">
                <a:solidFill>
                  <a:srgbClr val="C2624A"/>
                </a:solidFill>
                <a:latin typeface="Consolas"/>
              </a:rPr>
              <a:t>70 yojanas · 560 mi — “I can undoubtedly jump further”</a:t>
            </a:r>
          </a:p>
        </p:txBody>
      </p:sp>
      <p:sp>
        <p:nvSpPr>
          <p:cNvPr id="19" name="TextBox 18"/>
          <p:cNvSpPr txBox="1"/>
          <p:nvPr/>
        </p:nvSpPr>
        <p:spPr>
          <a:xfrm>
            <a:off x="868680" y="4306824"/>
            <a:ext cx="1188720" cy="274320"/>
          </a:xfrm>
          <a:prstGeom prst="rect">
            <a:avLst/>
          </a:prstGeom>
          <a:noFill/>
        </p:spPr>
        <p:txBody>
          <a:bodyPr wrap="square" lIns="0" rIns="0" tIns="0" bIns="0">
            <a:spAutoFit/>
          </a:bodyPr>
          <a:lstStyle/>
          <a:p>
            <a:pPr algn="r">
              <a:spcBef>
                <a:spcPts val="0"/>
              </a:spcBef>
              <a:spcAft>
                <a:spcPts val="0"/>
              </a:spcAft>
            </a:pPr>
            <a:r>
              <a:rPr sz="1300" b="1" i="0">
                <a:solidFill>
                  <a:srgbClr val="EEF1F7"/>
                </a:solidFill>
                <a:latin typeface="Calibri"/>
              </a:rPr>
              <a:t>Hanumān</a:t>
            </a:r>
          </a:p>
        </p:txBody>
      </p:sp>
      <p:sp>
        <p:nvSpPr>
          <p:cNvPr id="20" name="Rectangle 19"/>
          <p:cNvSpPr/>
          <p:nvPr/>
        </p:nvSpPr>
        <p:spPr>
          <a:xfrm>
            <a:off x="2148840" y="4279392"/>
            <a:ext cx="5852160" cy="237744"/>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10728" y="4297680"/>
            <a:ext cx="4206240" cy="274320"/>
          </a:xfrm>
          <a:prstGeom prst="rect">
            <a:avLst/>
          </a:prstGeom>
          <a:noFill/>
        </p:spPr>
        <p:txBody>
          <a:bodyPr wrap="square" lIns="0" rIns="0" tIns="0" bIns="0">
            <a:spAutoFit/>
          </a:bodyPr>
          <a:lstStyle/>
          <a:p>
            <a:pPr algn="l">
              <a:spcBef>
                <a:spcPts val="0"/>
              </a:spcBef>
              <a:spcAft>
                <a:spcPts val="0"/>
              </a:spcAft>
            </a:pPr>
            <a:r>
              <a:rPr sz="1150" b="0" i="0">
                <a:solidFill>
                  <a:srgbClr val="EEF1F7"/>
                </a:solidFill>
                <a:latin typeface="Consolas"/>
              </a:rPr>
              <a:t>the whole crossing — and back. The only one who did not boast.</a:t>
            </a:r>
          </a:p>
        </p:txBody>
      </p:sp>
      <p:sp>
        <p:nvSpPr>
          <p:cNvPr id="22" name="Rounded Rectangle 21"/>
          <p:cNvSpPr/>
          <p:nvPr/>
        </p:nvSpPr>
        <p:spPr>
          <a:xfrm>
            <a:off x="868680" y="484632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68680" y="4846320"/>
            <a:ext cx="38100" cy="9601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69848" y="4992624"/>
            <a:ext cx="10104120" cy="685800"/>
          </a:xfrm>
          <a:prstGeom prst="rect">
            <a:avLst/>
          </a:prstGeom>
          <a:noFill/>
        </p:spPr>
        <p:txBody>
          <a:bodyPr wrap="square" lIns="0" rIns="0" tIns="0" bIns="0">
            <a:spAutoFit/>
          </a:bodyPr>
          <a:lstStyle/>
          <a:p>
            <a:pPr algn="l">
              <a:lnSpc>
                <a:spcPct val="115000"/>
              </a:lnSpc>
            </a:pPr>
            <a:r>
              <a:rPr sz="1400" b="1">
                <a:solidFill>
                  <a:srgbClr val="D9A441"/>
                </a:solidFill>
                <a:latin typeface="Calibri"/>
              </a:rPr>
              <a:t>The tell is in the phrasing.  </a:t>
            </a:r>
            <a:r>
              <a:rPr sz="1400">
                <a:solidFill>
                  <a:srgbClr val="A6B1C8"/>
                </a:solidFill>
                <a:latin typeface="Calibri"/>
              </a:rPr>
              <a:t>Mainda says what he can do. Dvivida says what he can do more than Mainda. Comparison is where bala quietly becomes bala-abhimāna — strength becoming pride in strength.</a:t>
            </a:r>
          </a:p>
        </p:txBody>
      </p:sp>
      <p:sp>
        <p:nvSpPr>
          <p:cNvPr id="25" name="Rounded Rectangle 24"/>
          <p:cNvSpPr/>
          <p:nvPr/>
        </p:nvSpPr>
        <p:spPr>
          <a:xfrm>
            <a:off x="868680" y="5897880"/>
            <a:ext cx="10515600" cy="77724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68680" y="5897880"/>
            <a:ext cx="38100" cy="777240"/>
          </a:xfrm>
          <a:prstGeom prst="rect">
            <a:avLst/>
          </a:prstGeom>
          <a:solidFill>
            <a:srgbClr val="A6B1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69848" y="6044184"/>
            <a:ext cx="10104120" cy="502920"/>
          </a:xfrm>
          <a:prstGeom prst="rect">
            <a:avLst/>
          </a:prstGeom>
          <a:noFill/>
        </p:spPr>
        <p:txBody>
          <a:bodyPr wrap="square" lIns="0" rIns="0" tIns="0" bIns="0">
            <a:spAutoFit/>
          </a:bodyPr>
          <a:lstStyle/>
          <a:p>
            <a:pPr algn="l">
              <a:lnSpc>
                <a:spcPct val="115000"/>
              </a:lnSpc>
            </a:pPr>
            <a:r>
              <a:rPr sz="1400" b="1">
                <a:solidFill>
                  <a:srgbClr val="A6B1C8"/>
                </a:solidFill>
                <a:latin typeface="Calibri"/>
              </a:rPr>
              <a:t>The second figure —  </a:t>
            </a:r>
            <a:r>
              <a:rPr sz="1400">
                <a:solidFill>
                  <a:srgbClr val="A6B1C8"/>
                </a:solidFill>
                <a:latin typeface="Calibri"/>
              </a:rPr>
              <a:t>by Chapter 67 he churns the ocean with the strength of ten thousand elephants, uproots mountains, and tears down śāla hardwood one-handed. SB 10.2 already lists him among the demons available to Kaṁsa.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nitya-siddha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Was he an eternal associate? The hard question</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commentators state that Mainda and Dvivida are eternally liberated — attendant deities in the worship of Rāmacandra. But souls in the Lord's abode do not fall. So what happened?</a:t>
            </a:r>
          </a:p>
        </p:txBody>
      </p:sp>
      <p:sp>
        <p:nvSpPr>
          <p:cNvPr id="6" name="TextBox 5"/>
          <p:cNvSpPr txBox="1"/>
          <p:nvPr/>
        </p:nvSpPr>
        <p:spPr>
          <a:xfrm>
            <a:off x="868680" y="2377440"/>
            <a:ext cx="10515600" cy="4023360"/>
          </a:xfrm>
          <a:prstGeom prst="rect">
            <a:avLst/>
          </a:prstGeom>
          <a:noFill/>
        </p:spPr>
        <p:txBody>
          <a:bodyPr wrap="square" lIns="0" rIns="0" tIns="0" bIns="0">
            <a:spAutoFit/>
          </a:bodyPr>
          <a:lstStyle/>
          <a:p>
            <a:pPr algn="l">
              <a:lnSpc>
                <a:spcPct val="118000"/>
              </a:lnSpc>
              <a:spcBef>
                <a:spcPts val="0"/>
              </a:spcBef>
            </a:pPr>
            <a:r>
              <a:rPr sz="1450" b="1">
                <a:solidFill>
                  <a:srgbClr val="EEF1F7"/>
                </a:solidFill>
                <a:latin typeface="Calibri"/>
              </a:rPr>
              <a:t>— Jīva Gosvāmī, Bhakti-sandarbha:  </a:t>
            </a:r>
            <a:r>
              <a:rPr sz="1450">
                <a:solidFill>
                  <a:srgbClr val="A6B1C8"/>
                </a:solidFill>
                <a:latin typeface="Calibri"/>
              </a:rPr>
              <a:t>they are worshipped as āvaraṇa-devatās — “covered” attendant deities, situated in the Lord's abode as part of His retinue, not displaying Viṣṇu's fullness themselves.</a:t>
            </a:r>
          </a:p>
          <a:p>
            <a:pPr>
              <a:lnSpc>
                <a:spcPct val="118000"/>
              </a:lnSpc>
              <a:spcBef>
                <a:spcPts val="1100"/>
              </a:spcBef>
            </a:pPr>
            <a:r>
              <a:rPr sz="1450" b="1">
                <a:solidFill>
                  <a:srgbClr val="EEF1F7"/>
                </a:solidFill>
                <a:latin typeface="Calibri"/>
              </a:rPr>
              <a:t>— Jīva Gosvāmī on this chapter:  </a:t>
            </a:r>
            <a:r>
              <a:rPr sz="1450">
                <a:solidFill>
                  <a:srgbClr val="A6B1C8"/>
                </a:solidFill>
                <a:latin typeface="Calibri"/>
              </a:rPr>
              <a:t>“…persons endowed with śakti from the spiritual realm. Because they did not respect Lakṣmaṇa — like Jaya and Vijaya — they appeared as demons in order to show the result of committing offences.”</a:t>
            </a:r>
          </a:p>
          <a:p>
            <a:pPr>
              <a:lnSpc>
                <a:spcPct val="118000"/>
              </a:lnSpc>
              <a:spcBef>
                <a:spcPts val="1100"/>
              </a:spcBef>
            </a:pPr>
            <a:r>
              <a:rPr sz="1450" b="1">
                <a:solidFill>
                  <a:srgbClr val="EEF1F7"/>
                </a:solidFill>
                <a:latin typeface="Calibri"/>
              </a:rPr>
              <a:t>— The finer distinction:  </a:t>
            </a:r>
            <a:r>
              <a:rPr sz="1450">
                <a:solidFill>
                  <a:srgbClr val="A6B1C8"/>
                </a:solidFill>
                <a:latin typeface="Calibri"/>
              </a:rPr>
              <a:t>some jīvas are endowed with a portion of an eternal associate's śakti and bear the same name. Such jīvas can be corrupted — because they are jīvas.</a:t>
            </a:r>
          </a:p>
          <a:p>
            <a:pPr>
              <a:lnSpc>
                <a:spcPct val="118000"/>
              </a:lnSpc>
              <a:spcBef>
                <a:spcPts val="1100"/>
              </a:spcBef>
            </a:pPr>
            <a:r>
              <a:rPr sz="1450" b="1">
                <a:solidFill>
                  <a:srgbClr val="EEF1F7"/>
                </a:solidFill>
                <a:latin typeface="Calibri"/>
              </a:rPr>
              <a:t>— Viśvanātha Cakravartī Ṭhākura:  </a:t>
            </a:r>
            <a:r>
              <a:rPr sz="1450">
                <a:solidFill>
                  <a:srgbClr val="A6B1C8"/>
                </a:solidFill>
                <a:latin typeface="Calibri"/>
              </a:rPr>
              <a:t>“the Lord arranged their degradation to show the evil of the bad association that results from offending great personalities.”</a:t>
            </a:r>
          </a:p>
        </p:txBody>
      </p:sp>
      <p:sp>
        <p:nvSpPr>
          <p:cNvPr id="7" name="Rounded Rectangle 6"/>
          <p:cNvSpPr/>
          <p:nvPr/>
        </p:nvSpPr>
        <p:spPr>
          <a:xfrm>
            <a:off x="868680" y="5532120"/>
            <a:ext cx="10515600" cy="105156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5532120"/>
            <a:ext cx="38100" cy="105156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5678424"/>
            <a:ext cx="10104120" cy="777239"/>
          </a:xfrm>
          <a:prstGeom prst="rect">
            <a:avLst/>
          </a:prstGeom>
          <a:noFill/>
        </p:spPr>
        <p:txBody>
          <a:bodyPr wrap="square" lIns="0" rIns="0" tIns="0" bIns="0">
            <a:spAutoFit/>
          </a:bodyPr>
          <a:lstStyle/>
          <a:p>
            <a:pPr algn="l">
              <a:lnSpc>
                <a:spcPct val="115000"/>
              </a:lnSpc>
            </a:pPr>
            <a:r>
              <a:rPr sz="1400" b="1">
                <a:solidFill>
                  <a:srgbClr val="C2624A"/>
                </a:solidFill>
                <a:latin typeface="Calibri"/>
              </a:rPr>
              <a:t>Do not generalise this.  </a:t>
            </a:r>
            <a:r>
              <a:rPr sz="1400">
                <a:solidFill>
                  <a:srgbClr val="A6B1C8"/>
                </a:solidFill>
                <a:latin typeface="Calibri"/>
              </a:rPr>
              <a:t>The souls in this world were not once residents of Vaikuṇṭha who fell. Jaya and Vijaya are an exception arranged for instruction, and so is Dvivida — “it's the exception, not the rule.” Take the lesson; don't take it as a theory of where you came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aparādha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two offences</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offence is not pride itself. Pride is the condition. The offence is what pride produced — and there are two, both against Lakṣmaṇa, both easy to miss in the Rāmāyaṇa.</a:t>
            </a:r>
          </a:p>
        </p:txBody>
      </p:sp>
      <p:sp>
        <p:nvSpPr>
          <p:cNvPr id="6" name="TextBox 5"/>
          <p:cNvSpPr txBox="1"/>
          <p:nvPr/>
        </p:nvSpPr>
        <p:spPr>
          <a:xfrm>
            <a:off x="868680" y="2377440"/>
            <a:ext cx="5029200" cy="274320"/>
          </a:xfrm>
          <a:prstGeom prst="rect">
            <a:avLst/>
          </a:prstGeom>
          <a:noFill/>
        </p:spPr>
        <p:txBody>
          <a:bodyPr wrap="square" lIns="0" rIns="0" tIns="0" bIns="0">
            <a:spAutoFit/>
          </a:bodyPr>
          <a:lstStyle/>
          <a:p>
            <a:pPr algn="l">
              <a:spcBef>
                <a:spcPts val="0"/>
              </a:spcBef>
              <a:spcAft>
                <a:spcPts val="0"/>
              </a:spcAft>
            </a:pPr>
            <a:r>
              <a:rPr sz="1100" b="0" i="0">
                <a:solidFill>
                  <a:srgbClr val="C2624A"/>
                </a:solidFill>
                <a:latin typeface="Consolas"/>
              </a:rPr>
              <a:t>OFFENCE ONE — THE INTRODUCTION</a:t>
            </a:r>
          </a:p>
        </p:txBody>
      </p:sp>
      <p:sp>
        <p:nvSpPr>
          <p:cNvPr id="7" name="Rounded Rectangle 6"/>
          <p:cNvSpPr/>
          <p:nvPr/>
        </p:nvSpPr>
        <p:spPr>
          <a:xfrm>
            <a:off x="868680" y="2697480"/>
            <a:ext cx="5029200" cy="1417320"/>
          </a:xfrm>
          <a:prstGeom prst="roundRect">
            <a:avLst/>
          </a:prstGeom>
          <a:solidFill>
            <a:srgbClr val="141A2B"/>
          </a:solidFill>
          <a:ln w="1524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2852928"/>
            <a:ext cx="4663440" cy="1143000"/>
          </a:xfrm>
          <a:prstGeom prst="rect">
            <a:avLst/>
          </a:prstGeom>
          <a:noFill/>
        </p:spPr>
        <p:txBody>
          <a:bodyPr wrap="square" lIns="0" rIns="0" tIns="0" bIns="0">
            <a:spAutoFit/>
          </a:bodyPr>
          <a:lstStyle/>
          <a:p>
            <a:pPr algn="l">
              <a:lnSpc>
                <a:spcPct val="112000"/>
              </a:lnSpc>
              <a:spcBef>
                <a:spcPts val="0"/>
              </a:spcBef>
              <a:spcAft>
                <a:spcPts val="0"/>
              </a:spcAft>
            </a:pPr>
            <a:r>
              <a:rPr sz="1500" b="0" i="1">
                <a:solidFill>
                  <a:srgbClr val="DBE2EE"/>
                </a:solidFill>
                <a:latin typeface="Georgia"/>
              </a:rPr>
              <a:t>“Give your full, undivided attention to Rāma. The other fellow with Him — Lakṣmaṇa — is not so important.”</a:t>
            </a:r>
          </a:p>
          <a:p>
            <a:pPr>
              <a:spcBef>
                <a:spcPts val="800"/>
              </a:spcBef>
              <a:spcAft>
                <a:spcPts val="0"/>
              </a:spcAft>
            </a:pPr>
            <a:r>
              <a:rPr sz="1200" b="0" i="0">
                <a:solidFill>
                  <a:srgbClr val="6D7791"/>
                </a:solidFill>
                <a:latin typeface="Calibri"/>
              </a:rPr>
              <a:t>Said to Sugrīva, during the introduction, while rendering service.</a:t>
            </a:r>
          </a:p>
        </p:txBody>
      </p:sp>
      <p:sp>
        <p:nvSpPr>
          <p:cNvPr id="9" name="TextBox 8"/>
          <p:cNvSpPr txBox="1"/>
          <p:nvPr/>
        </p:nvSpPr>
        <p:spPr>
          <a:xfrm>
            <a:off x="6309360" y="2377440"/>
            <a:ext cx="5029200" cy="274320"/>
          </a:xfrm>
          <a:prstGeom prst="rect">
            <a:avLst/>
          </a:prstGeom>
          <a:noFill/>
        </p:spPr>
        <p:txBody>
          <a:bodyPr wrap="square" lIns="0" rIns="0" tIns="0" bIns="0">
            <a:spAutoFit/>
          </a:bodyPr>
          <a:lstStyle/>
          <a:p>
            <a:pPr algn="l">
              <a:spcBef>
                <a:spcPts val="0"/>
              </a:spcBef>
              <a:spcAft>
                <a:spcPts val="0"/>
              </a:spcAft>
            </a:pPr>
            <a:r>
              <a:rPr sz="1100" b="0" i="0">
                <a:solidFill>
                  <a:srgbClr val="C2624A"/>
                </a:solidFill>
                <a:latin typeface="Consolas"/>
              </a:rPr>
              <a:t>OFFENCE TWO — THE BATTLEFIELD JUDGMENT</a:t>
            </a:r>
          </a:p>
        </p:txBody>
      </p:sp>
      <p:sp>
        <p:nvSpPr>
          <p:cNvPr id="10" name="Rounded Rectangle 9"/>
          <p:cNvSpPr/>
          <p:nvPr/>
        </p:nvSpPr>
        <p:spPr>
          <a:xfrm>
            <a:off x="6309360" y="2697480"/>
            <a:ext cx="5029200" cy="1417320"/>
          </a:xfrm>
          <a:prstGeom prst="roundRect">
            <a:avLst/>
          </a:prstGeom>
          <a:solidFill>
            <a:srgbClr val="141A2B"/>
          </a:solidFill>
          <a:ln w="1524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92240" y="2852928"/>
            <a:ext cx="4663440" cy="1143000"/>
          </a:xfrm>
          <a:prstGeom prst="rect">
            <a:avLst/>
          </a:prstGeom>
          <a:noFill/>
        </p:spPr>
        <p:txBody>
          <a:bodyPr wrap="square" lIns="0" rIns="0" tIns="0" bIns="0">
            <a:spAutoFit/>
          </a:bodyPr>
          <a:lstStyle/>
          <a:p>
            <a:pPr algn="l">
              <a:lnSpc>
                <a:spcPct val="112000"/>
              </a:lnSpc>
              <a:spcBef>
                <a:spcPts val="0"/>
              </a:spcBef>
              <a:spcAft>
                <a:spcPts val="0"/>
              </a:spcAft>
            </a:pPr>
            <a:r>
              <a:rPr sz="1500" b="0" i="1">
                <a:solidFill>
                  <a:srgbClr val="DBE2EE"/>
                </a:solidFill>
                <a:latin typeface="Georgia"/>
              </a:rPr>
              <a:t>“What kind of great hero is this?”</a:t>
            </a:r>
          </a:p>
          <a:p>
            <a:pPr>
              <a:spcBef>
                <a:spcPts val="800"/>
              </a:spcBef>
              <a:spcAft>
                <a:spcPts val="0"/>
              </a:spcAft>
            </a:pPr>
            <a:r>
              <a:rPr sz="1200" b="0" i="0">
                <a:solidFill>
                  <a:srgbClr val="6D7791"/>
                </a:solidFill>
                <a:latin typeface="Calibri"/>
              </a:rPr>
              <a:t>Thought — not spoken — of Lakṣmaṇa lying in great pain, struck down by the śakti weapon.</a:t>
            </a:r>
          </a:p>
        </p:txBody>
      </p:sp>
      <p:sp>
        <p:nvSpPr>
          <p:cNvPr id="12" name="Rounded Rectangle 11"/>
          <p:cNvSpPr/>
          <p:nvPr/>
        </p:nvSpPr>
        <p:spPr>
          <a:xfrm>
            <a:off x="868680" y="4434840"/>
            <a:ext cx="10515600" cy="9144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68680" y="4434840"/>
            <a:ext cx="38100" cy="91440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69848" y="4581144"/>
            <a:ext cx="10104120" cy="640080"/>
          </a:xfrm>
          <a:prstGeom prst="rect">
            <a:avLst/>
          </a:prstGeom>
          <a:noFill/>
        </p:spPr>
        <p:txBody>
          <a:bodyPr wrap="square" lIns="0" rIns="0" tIns="0" bIns="0">
            <a:spAutoFit/>
          </a:bodyPr>
          <a:lstStyle/>
          <a:p>
            <a:pPr algn="l">
              <a:lnSpc>
                <a:spcPct val="115000"/>
              </a:lnSpc>
            </a:pPr>
            <a:r>
              <a:rPr sz="1400" b="1">
                <a:solidFill>
                  <a:srgbClr val="C2624A"/>
                </a:solidFill>
                <a:latin typeface="Calibri"/>
              </a:rPr>
              <a:t>Neither was hostile, and neither was heard.  </a:t>
            </a:r>
            <a:r>
              <a:rPr sz="1400">
                <a:solidFill>
                  <a:srgbClr val="A6B1C8"/>
                </a:solidFill>
                <a:latin typeface="Calibri"/>
              </a:rPr>
              <a:t>One was well-meant advice; the other was a private thought. Both counted. Vaiṣṇava-aparādha does not require malice, volume, or an audience.</a:t>
            </a:r>
          </a:p>
        </p:txBody>
      </p:sp>
      <p:sp>
        <p:nvSpPr>
          <p:cNvPr id="15" name="Rounded Rectangle 14"/>
          <p:cNvSpPr/>
          <p:nvPr/>
        </p:nvSpPr>
        <p:spPr>
          <a:xfrm>
            <a:off x="868680" y="5486400"/>
            <a:ext cx="10515600" cy="9144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68680" y="5486400"/>
            <a:ext cx="38100" cy="91440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9848" y="5632704"/>
            <a:ext cx="10104120" cy="640080"/>
          </a:xfrm>
          <a:prstGeom prst="rect">
            <a:avLst/>
          </a:prstGeom>
          <a:noFill/>
        </p:spPr>
        <p:txBody>
          <a:bodyPr wrap="square" lIns="0" rIns="0" tIns="0" bIns="0">
            <a:spAutoFit/>
          </a:bodyPr>
          <a:lstStyle/>
          <a:p>
            <a:pPr algn="l">
              <a:lnSpc>
                <a:spcPct val="115000"/>
              </a:lnSpc>
            </a:pPr>
            <a:r>
              <a:rPr sz="1400" b="1">
                <a:solidFill>
                  <a:srgbClr val="D9A441"/>
                </a:solidFill>
                <a:latin typeface="Calibri"/>
              </a:rPr>
              <a:t>Both share one root.  </a:t>
            </a:r>
            <a:r>
              <a:rPr sz="1400">
                <a:solidFill>
                  <a:srgbClr val="A6B1C8"/>
                </a:solidFill>
                <a:latin typeface="Calibri"/>
              </a:rPr>
              <a:t>He measured Lakṣmaṇa against himself — low on importance, then low on heroism. Pride is not a feeling; it is a measuring instrument pointed the wrong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guru-tattva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Why Lakṣmaṇa, of all people</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Shortened to “don't offend Lakṣmaṇa,” the warning invites the wrong reply: fine, but I'm unlikely to meet him. Lakṣmaṇa matters here as an instance of a category.</a:t>
            </a:r>
          </a:p>
        </p:txBody>
      </p:sp>
      <p:sp>
        <p:nvSpPr>
          <p:cNvPr id="6" name="Rounded Rectangle 5"/>
          <p:cNvSpPr/>
          <p:nvPr/>
        </p:nvSpPr>
        <p:spPr>
          <a:xfrm>
            <a:off x="868680" y="2468880"/>
            <a:ext cx="10515600" cy="1188720"/>
          </a:xfrm>
          <a:prstGeom prst="roundRect">
            <a:avLst/>
          </a:prstGeom>
          <a:solidFill>
            <a:srgbClr val="1B2338"/>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24712" y="2633472"/>
            <a:ext cx="10012680" cy="914400"/>
          </a:xfrm>
          <a:prstGeom prst="rect">
            <a:avLst/>
          </a:prstGeom>
          <a:noFill/>
        </p:spPr>
        <p:txBody>
          <a:bodyPr wrap="square" lIns="0" rIns="0" tIns="0" bIns="0">
            <a:spAutoFit/>
          </a:bodyPr>
          <a:lstStyle/>
          <a:p>
            <a:pPr algn="l">
              <a:lnSpc>
                <a:spcPct val="115000"/>
              </a:lnSpc>
              <a:spcBef>
                <a:spcPts val="0"/>
              </a:spcBef>
              <a:spcAft>
                <a:spcPts val="0"/>
              </a:spcAft>
            </a:pPr>
            <a:r>
              <a:rPr sz="1600" b="0" i="1">
                <a:solidFill>
                  <a:srgbClr val="DBE2EE"/>
                </a:solidFill>
                <a:latin typeface="Georgia"/>
              </a:rPr>
              <a:t>Guru-tattva — the principle of the Lord's representative: the one who introduces the Supreme Lord, gives instruction, and gives association. Lakṣmaṇa holds this position to Rāma exactly as Balarāma does to Kṛṣṇa, and as Nanda Mahārāja does.</a:t>
            </a:r>
          </a:p>
          <a:p>
            <a:pPr>
              <a:spcBef>
                <a:spcPts val="800"/>
              </a:spcBef>
              <a:spcAft>
                <a:spcPts val="0"/>
              </a:spcAft>
            </a:pPr>
            <a:r>
              <a:rPr sz="1000" b="0" i="0">
                <a:solidFill>
                  <a:srgbClr val="6D7791"/>
                </a:solidFill>
                <a:latin typeface="Consolas"/>
              </a:rPr>
              <a:t>THE CATEGORY, NOT THE PERSON</a:t>
            </a:r>
          </a:p>
        </p:txBody>
      </p:sp>
      <p:sp>
        <p:nvSpPr>
          <p:cNvPr id="8" name="TextBox 7"/>
          <p:cNvSpPr txBox="1"/>
          <p:nvPr/>
        </p:nvSpPr>
        <p:spPr>
          <a:xfrm>
            <a:off x="868680" y="3931920"/>
            <a:ext cx="10515600" cy="4023360"/>
          </a:xfrm>
          <a:prstGeom prst="rect">
            <a:avLst/>
          </a:prstGeom>
          <a:noFill/>
        </p:spPr>
        <p:txBody>
          <a:bodyPr wrap="square" lIns="0" rIns="0" tIns="0" bIns="0">
            <a:spAutoFit/>
          </a:bodyPr>
          <a:lstStyle/>
          <a:p>
            <a:pPr algn="l">
              <a:lnSpc>
                <a:spcPct val="118000"/>
              </a:lnSpc>
              <a:spcBef>
                <a:spcPts val="0"/>
              </a:spcBef>
            </a:pPr>
            <a:r>
              <a:rPr sz="1600" b="1">
                <a:solidFill>
                  <a:srgbClr val="EEF1F7"/>
                </a:solidFill>
                <a:latin typeface="Calibri"/>
              </a:rPr>
              <a:t>— The shape of the offence:  </a:t>
            </a:r>
            <a:r>
              <a:rPr sz="1600">
                <a:solidFill>
                  <a:srgbClr val="A6B1C8"/>
                </a:solidFill>
                <a:latin typeface="Calibri"/>
              </a:rPr>
              <a:t>he directed attention to the Lord while deprecating the one making the introduction possible. He kept the object of devotion and discarded the channel.</a:t>
            </a:r>
          </a:p>
          <a:p>
            <a:pPr>
              <a:lnSpc>
                <a:spcPct val="118000"/>
              </a:lnSpc>
              <a:spcBef>
                <a:spcPts val="1200"/>
              </a:spcBef>
            </a:pPr>
            <a:r>
              <a:rPr sz="1600" b="1">
                <a:solidFill>
                  <a:srgbClr val="EEF1F7"/>
                </a:solidFill>
                <a:latin typeface="Calibri"/>
              </a:rPr>
              <a:t>— The symmetry:  </a:t>
            </a:r>
            <a:r>
              <a:rPr sz="1600">
                <a:solidFill>
                  <a:srgbClr val="A6B1C8"/>
                </a:solidFill>
                <a:latin typeface="Calibri"/>
              </a:rPr>
              <a:t>he offends the guru-tattva in Rāma's pastimes and is killed by the guru-tattva in Kṛṣṇa's. Across yugas, he is dealt with by the very principle he slighted.</a:t>
            </a:r>
          </a:p>
        </p:txBody>
      </p:sp>
      <p:sp>
        <p:nvSpPr>
          <p:cNvPr id="9" name="Rounded Rectangle 8"/>
          <p:cNvSpPr/>
          <p:nvPr/>
        </p:nvSpPr>
        <p:spPr>
          <a:xfrm>
            <a:off x="868680" y="5440680"/>
            <a:ext cx="10515600" cy="100584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68680" y="5440680"/>
            <a:ext cx="38100" cy="100584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5586984"/>
            <a:ext cx="10104120" cy="731520"/>
          </a:xfrm>
          <a:prstGeom prst="rect">
            <a:avLst/>
          </a:prstGeom>
          <a:noFill/>
        </p:spPr>
        <p:txBody>
          <a:bodyPr wrap="square" lIns="0" rIns="0" tIns="0" bIns="0">
            <a:spAutoFit/>
          </a:bodyPr>
          <a:lstStyle/>
          <a:p>
            <a:pPr algn="l">
              <a:lnSpc>
                <a:spcPct val="115000"/>
              </a:lnSpc>
            </a:pPr>
            <a:r>
              <a:rPr sz="1400" b="1">
                <a:solidFill>
                  <a:srgbClr val="C2624A"/>
                </a:solidFill>
                <a:latin typeface="Calibri"/>
              </a:rPr>
              <a:t>The generalisation the class insists on:  </a:t>
            </a:r>
            <a:r>
              <a:rPr sz="1400">
                <a:solidFill>
                  <a:srgbClr val="A6B1C8"/>
                </a:solidFill>
                <a:latin typeface="Calibri"/>
              </a:rPr>
              <a:t>“It's not just that you're not Lakṣmaṇa, so I can mess with you.” The principle is vaiṣṇava-aparādha — offence to any devotee — and one can lose one's spiritual standing as its consequence.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anartha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mechanism of degradation</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Viśvanātha Cakravartī Ṭhākura gives the sequence in one sentence, and it reads like a causal chain because it is one. Note the order: bad association is the punishment for the offence, not its cause.</a:t>
            </a:r>
          </a:p>
        </p:txBody>
      </p:sp>
      <p:sp>
        <p:nvSpPr>
          <p:cNvPr id="6" name="Rounded Rectangle 5"/>
          <p:cNvSpPr/>
          <p:nvPr/>
        </p:nvSpPr>
        <p:spPr>
          <a:xfrm>
            <a:off x="868680" y="2286000"/>
            <a:ext cx="4572000" cy="384048"/>
          </a:xfrm>
          <a:prstGeom prst="roundRect">
            <a:avLst/>
          </a:prstGeom>
          <a:solidFill>
            <a:srgbClr val="141A2B"/>
          </a:solidFill>
          <a:ln w="1651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14984" y="2331720"/>
            <a:ext cx="4297680" cy="310896"/>
          </a:xfrm>
          <a:prstGeom prst="rect">
            <a:avLst/>
          </a:prstGeom>
          <a:noFill/>
        </p:spPr>
        <p:txBody>
          <a:bodyPr wrap="square" lIns="0" rIns="0" tIns="0" bIns="0">
            <a:spAutoFit/>
          </a:bodyPr>
          <a:lstStyle/>
          <a:p>
            <a:pPr algn="l"/>
            <a:r>
              <a:rPr sz="1250" b="1">
                <a:solidFill>
                  <a:srgbClr val="EEF1F7"/>
                </a:solidFill>
                <a:latin typeface="Calibri"/>
              </a:rPr>
              <a:t>Attendant in the Lord's abode   </a:t>
            </a:r>
            <a:r>
              <a:rPr sz="1000">
                <a:solidFill>
                  <a:srgbClr val="6D7791"/>
                </a:solidFill>
                <a:latin typeface="Consolas"/>
              </a:rPr>
              <a:t>āvaraṇa-devatā · eternally situated</a:t>
            </a:r>
          </a:p>
        </p:txBody>
      </p:sp>
      <p:sp>
        <p:nvSpPr>
          <p:cNvPr id="8" name="Rounded Rectangle 7"/>
          <p:cNvSpPr/>
          <p:nvPr/>
        </p:nvSpPr>
        <p:spPr>
          <a:xfrm>
            <a:off x="1143000" y="2715768"/>
            <a:ext cx="4572000" cy="384048"/>
          </a:xfrm>
          <a:prstGeom prst="roundRect">
            <a:avLst/>
          </a:prstGeom>
          <a:solidFill>
            <a:srgbClr val="141A2B"/>
          </a:solidFill>
          <a:ln w="1651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289304" y="2761488"/>
            <a:ext cx="4297680" cy="310896"/>
          </a:xfrm>
          <a:prstGeom prst="rect">
            <a:avLst/>
          </a:prstGeom>
          <a:noFill/>
        </p:spPr>
        <p:txBody>
          <a:bodyPr wrap="square" lIns="0" rIns="0" tIns="0" bIns="0">
            <a:spAutoFit/>
          </a:bodyPr>
          <a:lstStyle/>
          <a:p>
            <a:pPr algn="l"/>
            <a:r>
              <a:rPr sz="1250" b="1">
                <a:solidFill>
                  <a:srgbClr val="EEF1F7"/>
                </a:solidFill>
                <a:latin typeface="Calibri"/>
              </a:rPr>
              <a:t>Minister of Sugrīva, servant of Rāma   </a:t>
            </a:r>
            <a:r>
              <a:rPr sz="1000">
                <a:solidFill>
                  <a:srgbClr val="6D7791"/>
                </a:solidFill>
                <a:latin typeface="Consolas"/>
              </a:rPr>
              <a:t>made for this service</a:t>
            </a:r>
          </a:p>
        </p:txBody>
      </p:sp>
      <p:sp>
        <p:nvSpPr>
          <p:cNvPr id="10" name="Rounded Rectangle 9"/>
          <p:cNvSpPr/>
          <p:nvPr/>
        </p:nvSpPr>
        <p:spPr>
          <a:xfrm>
            <a:off x="1417319" y="3145536"/>
            <a:ext cx="4572000" cy="384048"/>
          </a:xfrm>
          <a:prstGeom prst="roundRect">
            <a:avLst/>
          </a:prstGeom>
          <a:solidFill>
            <a:srgbClr val="141A2B"/>
          </a:solidFill>
          <a:ln w="16510">
            <a:solidFill>
              <a:srgbClr val="D9A4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563623" y="3191256"/>
            <a:ext cx="4297680" cy="310896"/>
          </a:xfrm>
          <a:prstGeom prst="rect">
            <a:avLst/>
          </a:prstGeom>
          <a:noFill/>
        </p:spPr>
        <p:txBody>
          <a:bodyPr wrap="square" lIns="0" rIns="0" tIns="0" bIns="0">
            <a:spAutoFit/>
          </a:bodyPr>
          <a:lstStyle/>
          <a:p>
            <a:pPr algn="l"/>
            <a:r>
              <a:rPr sz="1250" b="1">
                <a:solidFill>
                  <a:srgbClr val="EEF1F7"/>
                </a:solidFill>
                <a:latin typeface="Calibri"/>
              </a:rPr>
              <a:t>Pride in his own strength   </a:t>
            </a:r>
            <a:r>
              <a:rPr sz="1000">
                <a:solidFill>
                  <a:srgbClr val="6D7791"/>
                </a:solidFill>
                <a:latin typeface="Consolas"/>
              </a:rPr>
              <a:t>bala-abhimāna · the condition, not yet the offence</a:t>
            </a:r>
          </a:p>
        </p:txBody>
      </p:sp>
      <p:sp>
        <p:nvSpPr>
          <p:cNvPr id="12" name="Rounded Rectangle 11"/>
          <p:cNvSpPr/>
          <p:nvPr/>
        </p:nvSpPr>
        <p:spPr>
          <a:xfrm>
            <a:off x="1691639" y="3575304"/>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837943" y="3621024"/>
            <a:ext cx="4297680" cy="310896"/>
          </a:xfrm>
          <a:prstGeom prst="rect">
            <a:avLst/>
          </a:prstGeom>
          <a:noFill/>
        </p:spPr>
        <p:txBody>
          <a:bodyPr wrap="square" lIns="0" rIns="0" tIns="0" bIns="0">
            <a:spAutoFit/>
          </a:bodyPr>
          <a:lstStyle/>
          <a:p>
            <a:pPr algn="l"/>
            <a:r>
              <a:rPr sz="1250" b="1">
                <a:solidFill>
                  <a:srgbClr val="EEF1F7"/>
                </a:solidFill>
                <a:latin typeface="Calibri"/>
              </a:rPr>
              <a:t>Offence I — “Lakṣmaṇa is not important”   </a:t>
            </a:r>
            <a:r>
              <a:rPr sz="1000">
                <a:solidFill>
                  <a:srgbClr val="6D7791"/>
                </a:solidFill>
                <a:latin typeface="Consolas"/>
              </a:rPr>
              <a:t>spoken while rendering service</a:t>
            </a:r>
          </a:p>
        </p:txBody>
      </p:sp>
      <p:sp>
        <p:nvSpPr>
          <p:cNvPr id="14" name="Rounded Rectangle 13"/>
          <p:cNvSpPr/>
          <p:nvPr/>
        </p:nvSpPr>
        <p:spPr>
          <a:xfrm>
            <a:off x="1965960" y="4005072"/>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12264" y="4050792"/>
            <a:ext cx="4297680" cy="310896"/>
          </a:xfrm>
          <a:prstGeom prst="rect">
            <a:avLst/>
          </a:prstGeom>
          <a:noFill/>
        </p:spPr>
        <p:txBody>
          <a:bodyPr wrap="square" lIns="0" rIns="0" tIns="0" bIns="0">
            <a:spAutoFit/>
          </a:bodyPr>
          <a:lstStyle/>
          <a:p>
            <a:pPr algn="l"/>
            <a:r>
              <a:rPr sz="1250" b="1">
                <a:solidFill>
                  <a:srgbClr val="EEF1F7"/>
                </a:solidFill>
                <a:latin typeface="Calibri"/>
              </a:rPr>
              <a:t>Offence II — “What kind of hero is this?”   </a:t>
            </a:r>
            <a:r>
              <a:rPr sz="1000">
                <a:solidFill>
                  <a:srgbClr val="6D7791"/>
                </a:solidFill>
                <a:latin typeface="Consolas"/>
              </a:rPr>
              <a:t>thought only in the mind</a:t>
            </a:r>
          </a:p>
        </p:txBody>
      </p:sp>
      <p:sp>
        <p:nvSpPr>
          <p:cNvPr id="16" name="Rounded Rectangle 15"/>
          <p:cNvSpPr/>
          <p:nvPr/>
        </p:nvSpPr>
        <p:spPr>
          <a:xfrm>
            <a:off x="2240280" y="4434840"/>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386584" y="4480560"/>
            <a:ext cx="4297680" cy="310896"/>
          </a:xfrm>
          <a:prstGeom prst="rect">
            <a:avLst/>
          </a:prstGeom>
          <a:noFill/>
        </p:spPr>
        <p:txBody>
          <a:bodyPr wrap="square" lIns="0" rIns="0" tIns="0" bIns="0">
            <a:spAutoFit/>
          </a:bodyPr>
          <a:lstStyle/>
          <a:p>
            <a:pPr algn="l"/>
            <a:r>
              <a:rPr sz="1250" b="1">
                <a:solidFill>
                  <a:srgbClr val="EEF1F7"/>
                </a:solidFill>
                <a:latin typeface="Calibri"/>
              </a:rPr>
              <a:t>Spiritual strength reduced   </a:t>
            </a:r>
            <a:r>
              <a:rPr sz="1000">
                <a:solidFill>
                  <a:srgbClr val="6D7791"/>
                </a:solidFill>
                <a:latin typeface="Consolas"/>
              </a:rPr>
              <a:t>the reaction · not a metaphor</a:t>
            </a:r>
          </a:p>
        </p:txBody>
      </p:sp>
      <p:sp>
        <p:nvSpPr>
          <p:cNvPr id="18" name="Rounded Rectangle 17"/>
          <p:cNvSpPr/>
          <p:nvPr/>
        </p:nvSpPr>
        <p:spPr>
          <a:xfrm>
            <a:off x="2514600" y="4864608"/>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660904" y="4910328"/>
            <a:ext cx="4297680" cy="310896"/>
          </a:xfrm>
          <a:prstGeom prst="rect">
            <a:avLst/>
          </a:prstGeom>
          <a:noFill/>
        </p:spPr>
        <p:txBody>
          <a:bodyPr wrap="square" lIns="0" rIns="0" tIns="0" bIns="0">
            <a:spAutoFit/>
          </a:bodyPr>
          <a:lstStyle/>
          <a:p>
            <a:pPr algn="l"/>
            <a:r>
              <a:rPr sz="1250" b="1">
                <a:solidFill>
                  <a:srgbClr val="EEF1F7"/>
                </a:solidFill>
                <a:latin typeface="Calibri"/>
              </a:rPr>
              <a:t>Susceptible to bad association   </a:t>
            </a:r>
            <a:r>
              <a:rPr sz="1000">
                <a:solidFill>
                  <a:srgbClr val="6D7791"/>
                </a:solidFill>
                <a:latin typeface="Consolas"/>
              </a:rPr>
              <a:t>→ close friendship with Narakāsura</a:t>
            </a:r>
          </a:p>
        </p:txBody>
      </p:sp>
      <p:sp>
        <p:nvSpPr>
          <p:cNvPr id="20" name="Rounded Rectangle 19"/>
          <p:cNvSpPr/>
          <p:nvPr/>
        </p:nvSpPr>
        <p:spPr>
          <a:xfrm>
            <a:off x="2788920" y="5294376"/>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35224" y="5340096"/>
            <a:ext cx="4297680" cy="310896"/>
          </a:xfrm>
          <a:prstGeom prst="rect">
            <a:avLst/>
          </a:prstGeom>
          <a:noFill/>
        </p:spPr>
        <p:txBody>
          <a:bodyPr wrap="square" lIns="0" rIns="0" tIns="0" bIns="0">
            <a:spAutoFit/>
          </a:bodyPr>
          <a:lstStyle/>
          <a:p>
            <a:pPr algn="l"/>
            <a:r>
              <a:rPr sz="1250" b="1">
                <a:solidFill>
                  <a:srgbClr val="EEF1F7"/>
                </a:solidFill>
                <a:latin typeface="Calibri"/>
              </a:rPr>
              <a:t>Anarthas proliferate in his heart   </a:t>
            </a:r>
            <a:r>
              <a:rPr sz="1000">
                <a:solidFill>
                  <a:srgbClr val="6D7791"/>
                </a:solidFill>
                <a:latin typeface="Consolas"/>
              </a:rPr>
              <a:t>revenge · arson · sacrilege · molestation</a:t>
            </a:r>
          </a:p>
        </p:txBody>
      </p:sp>
      <p:sp>
        <p:nvSpPr>
          <p:cNvPr id="22" name="Rounded Rectangle 21"/>
          <p:cNvSpPr/>
          <p:nvPr/>
        </p:nvSpPr>
        <p:spPr>
          <a:xfrm>
            <a:off x="3063239" y="5724144"/>
            <a:ext cx="4572000" cy="384048"/>
          </a:xfrm>
          <a:prstGeom prst="roundRect">
            <a:avLst/>
          </a:prstGeom>
          <a:solidFill>
            <a:srgbClr val="141A2B"/>
          </a:solidFill>
          <a:ln w="1651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209543" y="5769864"/>
            <a:ext cx="4297680" cy="310896"/>
          </a:xfrm>
          <a:prstGeom prst="rect">
            <a:avLst/>
          </a:prstGeom>
          <a:noFill/>
        </p:spPr>
        <p:txBody>
          <a:bodyPr wrap="square" lIns="0" rIns="0" tIns="0" bIns="0">
            <a:spAutoFit/>
          </a:bodyPr>
          <a:lstStyle/>
          <a:p>
            <a:pPr algn="l"/>
            <a:r>
              <a:rPr sz="1250" b="1">
                <a:solidFill>
                  <a:srgbClr val="EEF1F7"/>
                </a:solidFill>
                <a:latin typeface="Calibri"/>
              </a:rPr>
              <a:t>Further offences, without limit   </a:t>
            </a:r>
            <a:r>
              <a:rPr sz="1000">
                <a:solidFill>
                  <a:srgbClr val="6D7791"/>
                </a:solidFill>
                <a:latin typeface="Consolas"/>
              </a:rPr>
              <a:t>the loop that has no floor</a:t>
            </a:r>
          </a:p>
        </p:txBody>
      </p:sp>
      <p:sp>
        <p:nvSpPr>
          <p:cNvPr id="24" name="Rounded Rectangle 23"/>
          <p:cNvSpPr/>
          <p:nvPr/>
        </p:nvSpPr>
        <p:spPr>
          <a:xfrm>
            <a:off x="7680960" y="2286000"/>
            <a:ext cx="3657600" cy="1234440"/>
          </a:xfrm>
          <a:prstGeom prst="roundRect">
            <a:avLst/>
          </a:prstGeom>
          <a:solidFill>
            <a:srgbClr val="1B2338"/>
          </a:solidFill>
          <a:ln w="2286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82127" y="2450592"/>
            <a:ext cx="3291840" cy="960120"/>
          </a:xfrm>
          <a:prstGeom prst="rect">
            <a:avLst/>
          </a:prstGeom>
          <a:noFill/>
        </p:spPr>
        <p:txBody>
          <a:bodyPr wrap="square" lIns="0" rIns="0" tIns="0" bIns="0">
            <a:spAutoFit/>
          </a:bodyPr>
          <a:lstStyle/>
          <a:p>
            <a:pPr algn="l">
              <a:lnSpc>
                <a:spcPct val="110000"/>
              </a:lnSpc>
              <a:spcBef>
                <a:spcPts val="0"/>
              </a:spcBef>
              <a:spcAft>
                <a:spcPts val="0"/>
              </a:spcAft>
            </a:pPr>
            <a:r>
              <a:rPr sz="1400" b="1" i="0">
                <a:solidFill>
                  <a:srgbClr val="EEF1F7"/>
                </a:solidFill>
                <a:latin typeface="Calibri"/>
              </a:rPr>
              <a:t>Returned — brahmajyoti or Vaikuṇṭha</a:t>
            </a:r>
          </a:p>
          <a:p>
            <a:pPr>
              <a:lnSpc>
                <a:spcPct val="110000"/>
              </a:lnSpc>
              <a:spcBef>
                <a:spcPts val="600"/>
              </a:spcBef>
              <a:spcAft>
                <a:spcPts val="0"/>
              </a:spcAft>
            </a:pPr>
            <a:r>
              <a:rPr sz="1200" b="0" i="0">
                <a:solidFill>
                  <a:srgbClr val="A6B1C8"/>
                </a:solidFill>
                <a:latin typeface="Calibri"/>
              </a:rPr>
              <a:t>Slain by Balarāma's bare hands, and thereby liberated. SB 2.7.34–35.</a:t>
            </a:r>
          </a:p>
        </p:txBody>
      </p:sp>
      <p:sp>
        <p:nvSpPr>
          <p:cNvPr id="26" name="TextBox 25"/>
          <p:cNvSpPr txBox="1"/>
          <p:nvPr/>
        </p:nvSpPr>
        <p:spPr>
          <a:xfrm>
            <a:off x="7680960" y="3840480"/>
            <a:ext cx="3657600" cy="219456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D9A441"/>
                </a:solidFill>
                <a:latin typeface="Georgia"/>
              </a:rPr>
              <a:t>The descent was always a round trip.</a:t>
            </a:r>
          </a:p>
          <a:p>
            <a:pPr>
              <a:lnSpc>
                <a:spcPct val="120000"/>
              </a:lnSpc>
              <a:spcBef>
                <a:spcPts val="1200"/>
              </a:spcBef>
              <a:spcAft>
                <a:spcPts val="0"/>
              </a:spcAft>
            </a:pPr>
            <a:r>
              <a:rPr sz="1300" b="0" i="0">
                <a:solidFill>
                  <a:srgbClr val="A6B1C8"/>
                </a:solidFill>
                <a:latin typeface="Calibri"/>
              </a:rPr>
              <a:t>The chain has exactly one voluntary entrance — the offence. After that it runs.</a:t>
            </a:r>
          </a:p>
          <a:p>
            <a:pPr>
              <a:lnSpc>
                <a:spcPct val="120000"/>
              </a:lnSpc>
              <a:spcBef>
                <a:spcPts val="900"/>
              </a:spcBef>
              <a:spcAft>
                <a:spcPts val="0"/>
              </a:spcAft>
            </a:pPr>
            <a:r>
              <a:rPr sz="1300" b="0" i="0">
                <a:solidFill>
                  <a:srgbClr val="A6B1C8"/>
                </a:solidFill>
                <a:latin typeface="Calibri"/>
              </a:rPr>
              <a:t>Once spiritual strength is reduced, resisting bad association is no longer a matter of resolve — because resolve is the thing that got reduced.</a:t>
            </a:r>
          </a:p>
          <a:p>
            <a:pPr>
              <a:lnSpc>
                <a:spcPct val="120000"/>
              </a:lnSpc>
              <a:spcBef>
                <a:spcPts val="900"/>
              </a:spcBef>
              <a:spcAft>
                <a:spcPts val="0"/>
              </a:spcAft>
            </a:pPr>
            <a:r>
              <a:rPr sz="1300" b="1" i="0">
                <a:solidFill>
                  <a:srgbClr val="C2624A"/>
                </a:solidFill>
                <a:latin typeface="Calibri"/>
              </a:rPr>
              <a:t>Only the first three rungs are inside anyone's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saṅga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Narakāsura: the association</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friend who corrupted Dvivida is himself a study in the same disease — which is the quiet joke of the chapter.</a:t>
            </a:r>
          </a:p>
        </p:txBody>
      </p:sp>
      <p:sp>
        <p:nvSpPr>
          <p:cNvPr id="6" name="TextBox 5"/>
          <p:cNvSpPr txBox="1"/>
          <p:nvPr/>
        </p:nvSpPr>
        <p:spPr>
          <a:xfrm>
            <a:off x="868680" y="2377440"/>
            <a:ext cx="10515600" cy="4023360"/>
          </a:xfrm>
          <a:prstGeom prst="rect">
            <a:avLst/>
          </a:prstGeom>
          <a:noFill/>
        </p:spPr>
        <p:txBody>
          <a:bodyPr wrap="square" lIns="0" rIns="0" tIns="0" bIns="0">
            <a:spAutoFit/>
          </a:bodyPr>
          <a:lstStyle/>
          <a:p>
            <a:pPr algn="l">
              <a:lnSpc>
                <a:spcPct val="118000"/>
              </a:lnSpc>
              <a:spcBef>
                <a:spcPts val="0"/>
              </a:spcBef>
            </a:pPr>
            <a:r>
              <a:rPr sz="1550" b="1">
                <a:solidFill>
                  <a:srgbClr val="EEF1F7"/>
                </a:solidFill>
                <a:latin typeface="Calibri"/>
              </a:rPr>
              <a:t>— He was not born a demon.  </a:t>
            </a:r>
            <a:r>
              <a:rPr sz="1550">
                <a:solidFill>
                  <a:srgbClr val="A6B1C8"/>
                </a:solidFill>
                <a:latin typeface="Calibri"/>
              </a:rPr>
              <a:t>He was Naraka, son of Bhūmi (the earth) and Lord Varāha. Divine parentage on both sides.</a:t>
            </a:r>
          </a:p>
          <a:p>
            <a:pPr>
              <a:lnSpc>
                <a:spcPct val="118000"/>
              </a:lnSpc>
              <a:spcBef>
                <a:spcPts val="1100"/>
              </a:spcBef>
            </a:pPr>
            <a:r>
              <a:rPr sz="1550" b="1">
                <a:solidFill>
                  <a:srgbClr val="EEF1F7"/>
                </a:solidFill>
                <a:latin typeface="Calibri"/>
              </a:rPr>
              <a:t>— He became corrupted the same way Dvivida did —  </a:t>
            </a:r>
            <a:r>
              <a:rPr sz="1550">
                <a:solidFill>
                  <a:srgbClr val="A6B1C8"/>
                </a:solidFill>
                <a:latin typeface="Calibri"/>
              </a:rPr>
              <a:t>through bad association. By SB 10.59 he is Narakāsura, holding 16,100 princesses in prison; their appeal reached Kṛṣṇa, and freeing them required killing him.</a:t>
            </a:r>
          </a:p>
          <a:p>
            <a:pPr>
              <a:lnSpc>
                <a:spcPct val="118000"/>
              </a:lnSpc>
              <a:spcBef>
                <a:spcPts val="1100"/>
              </a:spcBef>
            </a:pPr>
            <a:r>
              <a:rPr sz="1550" b="1">
                <a:solidFill>
                  <a:srgbClr val="EEF1F7"/>
                </a:solidFill>
                <a:latin typeface="Calibri"/>
              </a:rPr>
              <a:t>— Then the last step available.  </a:t>
            </a:r>
            <a:r>
              <a:rPr sz="1550">
                <a:solidFill>
                  <a:srgbClr val="A6B1C8"/>
                </a:solidFill>
                <a:latin typeface="Calibri"/>
              </a:rPr>
              <a:t>“He killed my best friend; I will get back at him.” Dvivida resolved to destroy Lord Kṛṣṇa's flourishing kingdom.</a:t>
            </a:r>
          </a:p>
        </p:txBody>
      </p:sp>
      <p:sp>
        <p:nvSpPr>
          <p:cNvPr id="7" name="Rounded Rectangle 6"/>
          <p:cNvSpPr/>
          <p:nvPr/>
        </p:nvSpPr>
        <p:spPr>
          <a:xfrm>
            <a:off x="868680" y="452628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4526280"/>
            <a:ext cx="38100" cy="9601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4672584"/>
            <a:ext cx="10104120" cy="685800"/>
          </a:xfrm>
          <a:prstGeom prst="rect">
            <a:avLst/>
          </a:prstGeom>
          <a:noFill/>
        </p:spPr>
        <p:txBody>
          <a:bodyPr wrap="square" lIns="0" rIns="0" tIns="0" bIns="0">
            <a:spAutoFit/>
          </a:bodyPr>
          <a:lstStyle/>
          <a:p>
            <a:pPr algn="l">
              <a:lnSpc>
                <a:spcPct val="115000"/>
              </a:lnSpc>
            </a:pPr>
            <a:r>
              <a:rPr sz="1400" b="1">
                <a:solidFill>
                  <a:srgbClr val="D9A441"/>
                </a:solidFill>
                <a:latin typeface="Calibri"/>
              </a:rPr>
              <a:t>The recursion is the point.  </a:t>
            </a:r>
            <a:r>
              <a:rPr sz="1400">
                <a:solidFill>
                  <a:srgbClr val="A6B1C8"/>
                </a:solidFill>
                <a:latin typeface="Calibri"/>
              </a:rPr>
              <a:t>Naraka was corrupted by association; Dvivida was then corrupted by association with Naraka. Corruption propagates — which is why association is treated as a first-order spiritual variable, not a social detail.</a:t>
            </a:r>
          </a:p>
        </p:txBody>
      </p:sp>
      <p:sp>
        <p:nvSpPr>
          <p:cNvPr id="10" name="Rounded Rectangle 9"/>
          <p:cNvSpPr/>
          <p:nvPr/>
        </p:nvSpPr>
        <p:spPr>
          <a:xfrm>
            <a:off x="868680" y="5577840"/>
            <a:ext cx="10515600" cy="9144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68680" y="5577840"/>
            <a:ext cx="38100" cy="914400"/>
          </a:xfrm>
          <a:prstGeom prst="rect">
            <a:avLst/>
          </a:prstGeom>
          <a:solidFill>
            <a:srgbClr val="5F9C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69848" y="5724144"/>
            <a:ext cx="10104120" cy="640080"/>
          </a:xfrm>
          <a:prstGeom prst="rect">
            <a:avLst/>
          </a:prstGeom>
          <a:noFill/>
        </p:spPr>
        <p:txBody>
          <a:bodyPr wrap="square" lIns="0" rIns="0" tIns="0" bIns="0">
            <a:spAutoFit/>
          </a:bodyPr>
          <a:lstStyle/>
          <a:p>
            <a:pPr algn="l">
              <a:lnSpc>
                <a:spcPct val="115000"/>
              </a:lnSpc>
            </a:pPr>
            <a:r>
              <a:rPr sz="1400" b="1">
                <a:solidFill>
                  <a:srgbClr val="5F9C78"/>
                </a:solidFill>
                <a:latin typeface="Calibri"/>
              </a:rPr>
              <a:t>Motive matters for the diagnosis.  </a:t>
            </a:r>
            <a:r>
              <a:rPr sz="1400">
                <a:solidFill>
                  <a:srgbClr val="A6B1C8"/>
                </a:solidFill>
                <a:latin typeface="Calibri"/>
              </a:rPr>
              <a:t>The rampage is not appetite or madness. It is revenge — a grievance held on behalf of someone he loved. Revenge is the most self-justifying of the anarthas: it always feels like loyalty.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Ānarta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rampage on Ānarta</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He went for the region around Dvārakā. The Bhāgavatam's inventory of damage is specific, and the specificity is the argument — this is what an unchecked chain of anarthas produces in the world.</a:t>
            </a:r>
          </a:p>
        </p:txBody>
      </p:sp>
      <p:sp>
        <p:nvSpPr>
          <p:cNvPr id="6" name="TextBox 5"/>
          <p:cNvSpPr txBox="1"/>
          <p:nvPr/>
        </p:nvSpPr>
        <p:spPr>
          <a:xfrm>
            <a:off x="868680" y="2377440"/>
            <a:ext cx="10515600" cy="4023360"/>
          </a:xfrm>
          <a:prstGeom prst="rect">
            <a:avLst/>
          </a:prstGeom>
          <a:noFill/>
        </p:spPr>
        <p:txBody>
          <a:bodyPr wrap="square" lIns="0" rIns="0" tIns="0" bIns="0">
            <a:spAutoFit/>
          </a:bodyPr>
          <a:lstStyle/>
          <a:p>
            <a:pPr algn="l">
              <a:lnSpc>
                <a:spcPct val="118000"/>
              </a:lnSpc>
              <a:spcBef>
                <a:spcPts val="0"/>
              </a:spcBef>
              <a:spcAft>
                <a:spcPts val="0"/>
              </a:spcAft>
            </a:pPr>
            <a:r>
              <a:rPr sz="1450" b="0" i="0">
                <a:solidFill>
                  <a:srgbClr val="A6B1C8"/>
                </a:solidFill>
                <a:latin typeface="Calibri"/>
              </a:rPr>
              <a:t>— Set fires that burned cities, villages, mines and cowherd dwellings.</a:t>
            </a:r>
          </a:p>
          <a:p>
            <a:pPr>
              <a:lnSpc>
                <a:spcPct val="118000"/>
              </a:lnSpc>
              <a:spcBef>
                <a:spcPts val="700"/>
              </a:spcBef>
              <a:spcAft>
                <a:spcPts val="0"/>
              </a:spcAft>
            </a:pPr>
            <a:r>
              <a:rPr sz="1450" b="0" i="0">
                <a:solidFill>
                  <a:srgbClr val="A6B1C8"/>
                </a:solidFill>
                <a:latin typeface="Calibri"/>
              </a:rPr>
              <a:t>— Uprooted mountains and hurled them at neighbouring kingdoms — especially Ānarta, where his friend's killer dwelt.</a:t>
            </a:r>
          </a:p>
          <a:p>
            <a:pPr>
              <a:lnSpc>
                <a:spcPct val="118000"/>
              </a:lnSpc>
              <a:spcBef>
                <a:spcPts val="700"/>
              </a:spcBef>
              <a:spcAft>
                <a:spcPts val="0"/>
              </a:spcAft>
            </a:pPr>
            <a:r>
              <a:rPr sz="1450" b="0" i="0">
                <a:solidFill>
                  <a:srgbClr val="A6B1C8"/>
                </a:solidFill>
                <a:latin typeface="Calibri"/>
              </a:rPr>
              <a:t>— Entered the ocean and churned its waters with his arms until the coastal regions were submerged.</a:t>
            </a:r>
          </a:p>
          <a:p>
            <a:pPr>
              <a:lnSpc>
                <a:spcPct val="118000"/>
              </a:lnSpc>
              <a:spcBef>
                <a:spcPts val="700"/>
              </a:spcBef>
              <a:spcAft>
                <a:spcPts val="0"/>
              </a:spcAft>
            </a:pPr>
            <a:r>
              <a:rPr sz="1450" b="0" i="0">
                <a:solidFill>
                  <a:srgbClr val="A6B1C8"/>
                </a:solidFill>
                <a:latin typeface="Calibri"/>
              </a:rPr>
              <a:t>— Tore down the trees of sages' hermitages and contaminated their sacrificial fires with his excrement and urine.</a:t>
            </a:r>
          </a:p>
          <a:p>
            <a:pPr>
              <a:lnSpc>
                <a:spcPct val="118000"/>
              </a:lnSpc>
              <a:spcBef>
                <a:spcPts val="700"/>
              </a:spcBef>
              <a:spcAft>
                <a:spcPts val="0"/>
              </a:spcAft>
            </a:pPr>
            <a:r>
              <a:rPr sz="1450" b="0" i="0">
                <a:solidFill>
                  <a:srgbClr val="A6B1C8"/>
                </a:solidFill>
                <a:latin typeface="Calibri"/>
              </a:rPr>
              <a:t>— Sealed men and women into mountain caves with boulders — “as a wasp imprisons smaller insects.”</a:t>
            </a:r>
          </a:p>
          <a:p>
            <a:pPr>
              <a:lnSpc>
                <a:spcPct val="118000"/>
              </a:lnSpc>
              <a:spcBef>
                <a:spcPts val="700"/>
              </a:spcBef>
              <a:spcAft>
                <a:spcPts val="0"/>
              </a:spcAft>
            </a:pPr>
            <a:r>
              <a:rPr sz="1450" b="0" i="0">
                <a:solidFill>
                  <a:srgbClr val="A6B1C8"/>
                </a:solidFill>
                <a:latin typeface="Calibri"/>
              </a:rPr>
              <a:t>— Destroyed the kingdom's crops in a huge form at will, and polluted women of respectable families.</a:t>
            </a:r>
          </a:p>
        </p:txBody>
      </p:sp>
      <p:graphicFrame>
        <p:nvGraphicFramePr>
          <p:cNvPr id="7" name="Table 6"/>
          <p:cNvGraphicFramePr>
            <a:graphicFrameLocks noGrp="1"/>
          </p:cNvGraphicFramePr>
          <p:nvPr/>
        </p:nvGraphicFramePr>
        <p:xfrm>
          <a:off x="868680" y="4480560"/>
          <a:ext cx="10515600" cy="2194560"/>
        </p:xfrm>
        <a:graphic>
          <a:graphicData uri="http://schemas.openxmlformats.org/drawingml/2006/table">
            <a:tbl>
              <a:tblPr firstRow="1" bandRow="1">
                <a:tableStyleId>{5C22544A-7EE6-4342-B048-85BDC9FD1C3A}</a:tableStyleId>
              </a:tblPr>
              <a:tblGrid>
                <a:gridCol w="2194560"/>
                <a:gridCol w="8321040"/>
              </a:tblGrid>
              <a:tr h="438912">
                <a:tc>
                  <a:txBody>
                    <a:bodyPr wrap="square"/>
                    <a:lstStyle/>
                    <a:p>
                      <a:pPr>
                        <a:lnSpc>
                          <a:spcPct val="108000"/>
                        </a:lnSpc>
                      </a:pPr>
                      <a:r>
                        <a:rPr sz="1050" b="1">
                          <a:solidFill>
                            <a:srgbClr val="6D7791"/>
                          </a:solidFill>
                          <a:latin typeface="Consolas"/>
                        </a:rPr>
                        <a:t>PLACE</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WHAT IT IS</a:t>
                      </a:r>
                    </a:p>
                  </a:txBody>
                  <a:tcPr marL="100584" marR="100584" marT="45720" marB="45720" anchor="t">
                    <a:solidFill>
                      <a:srgbClr val="1B2338"/>
                    </a:solidFill>
                  </a:tcPr>
                </a:tc>
              </a:tr>
              <a:tr h="438912">
                <a:tc>
                  <a:txBody>
                    <a:bodyPr wrap="square"/>
                    <a:lstStyle/>
                    <a:p>
                      <a:pPr>
                        <a:lnSpc>
                          <a:spcPct val="108000"/>
                        </a:lnSpc>
                      </a:pPr>
                      <a:r>
                        <a:rPr sz="1200" b="0">
                          <a:solidFill>
                            <a:srgbClr val="EEF1F7"/>
                          </a:solidFill>
                          <a:latin typeface="Calibri"/>
                        </a:rPr>
                        <a:t>Dvārakā</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The island capital where Kṛṣṇa and Balarāma reside; Ugrasena rules over subordinate kings.</a:t>
                      </a:r>
                    </a:p>
                  </a:txBody>
                  <a:tcPr marL="100584" marR="100584" marT="45720" marB="45720" anchor="t">
                    <a:solidFill>
                      <a:srgbClr val="141A2B"/>
                    </a:solidFill>
                  </a:tcPr>
                </a:tc>
              </a:tr>
              <a:tr h="438912">
                <a:tc>
                  <a:txBody>
                    <a:bodyPr wrap="square"/>
                    <a:lstStyle/>
                    <a:p>
                      <a:pPr>
                        <a:lnSpc>
                          <a:spcPct val="108000"/>
                        </a:lnSpc>
                      </a:pPr>
                      <a:r>
                        <a:rPr sz="1200" b="0">
                          <a:solidFill>
                            <a:srgbClr val="EEF1F7"/>
                          </a:solidFill>
                          <a:latin typeface="Calibri"/>
                        </a:rPr>
                        <a:t>Prabhāsa</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A holy place on the coast, within the same province.</a:t>
                      </a:r>
                    </a:p>
                  </a:txBody>
                  <a:tcPr marL="100584" marR="100584" marT="45720" marB="45720" anchor="t">
                    <a:solidFill>
                      <a:srgbClr val="0B0D14"/>
                    </a:solidFill>
                  </a:tcPr>
                </a:tc>
              </a:tr>
              <a:tr h="438912">
                <a:tc>
                  <a:txBody>
                    <a:bodyPr wrap="square"/>
                    <a:lstStyle/>
                    <a:p>
                      <a:pPr>
                        <a:lnSpc>
                          <a:spcPct val="108000"/>
                        </a:lnSpc>
                      </a:pPr>
                      <a:r>
                        <a:rPr sz="1200" b="0">
                          <a:solidFill>
                            <a:srgbClr val="EEF1F7"/>
                          </a:solidFill>
                          <a:latin typeface="Calibri"/>
                        </a:rPr>
                        <a:t>Raivataka Mountain</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In King Raivata's province — where Balarāma is found dancing. Revatī, Balarāma's wife, is his daughter.</a:t>
                      </a:r>
                    </a:p>
                  </a:txBody>
                  <a:tcPr marL="100584" marR="100584" marT="45720" marB="45720" anchor="t">
                    <a:solidFill>
                      <a:srgbClr val="141A2B"/>
                    </a:solidFill>
                  </a:tcPr>
                </a:tc>
              </a:tr>
              <a:tr h="438912">
                <a:tc>
                  <a:txBody>
                    <a:bodyPr wrap="square"/>
                    <a:lstStyle/>
                    <a:p>
                      <a:pPr>
                        <a:lnSpc>
                          <a:spcPct val="108000"/>
                        </a:lnSpc>
                      </a:pPr>
                      <a:r>
                        <a:rPr sz="1200" b="0">
                          <a:solidFill>
                            <a:srgbClr val="EEF1F7"/>
                          </a:solidFill>
                          <a:latin typeface="Calibri"/>
                        </a:rPr>
                        <a:t>Ānarta vs. anartha</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Ānarta is the province. Anartha is the unwanted thing. Prabhupāda once named a disciple Ānartā, to general alarm — until the province was recalled.</a:t>
                      </a:r>
                    </a:p>
                  </a:txBody>
                  <a:tcPr marL="100584" marR="100584" marT="45720" marB="45720" anchor="t">
                    <a:solidFill>
                      <a:srgbClr val="0B0D1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līlā</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Raivataka: the scene he walked into</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Hearing sweet singing from Raivataka Mountain, Dvivida went to look. What he found was Balarāma at leisure — and every detail of the scene becomes a target.</a:t>
            </a:r>
          </a:p>
        </p:txBody>
      </p:sp>
      <p:sp>
        <p:nvSpPr>
          <p:cNvPr id="6" name="Rounded Rectangle 5"/>
          <p:cNvSpPr/>
          <p:nvPr/>
        </p:nvSpPr>
        <p:spPr>
          <a:xfrm>
            <a:off x="868680" y="2423160"/>
            <a:ext cx="10515600" cy="1325880"/>
          </a:xfrm>
          <a:prstGeom prst="roundRect">
            <a:avLst/>
          </a:prstGeom>
          <a:solidFill>
            <a:srgbClr val="1B2338"/>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24712" y="2587752"/>
            <a:ext cx="10012680" cy="1051560"/>
          </a:xfrm>
          <a:prstGeom prst="rect">
            <a:avLst/>
          </a:prstGeom>
          <a:noFill/>
        </p:spPr>
        <p:txBody>
          <a:bodyPr wrap="square" lIns="0" rIns="0" tIns="0" bIns="0">
            <a:spAutoFit/>
          </a:bodyPr>
          <a:lstStyle/>
          <a:p>
            <a:pPr algn="l">
              <a:lnSpc>
                <a:spcPct val="115000"/>
              </a:lnSpc>
              <a:spcBef>
                <a:spcPts val="0"/>
              </a:spcBef>
              <a:spcAft>
                <a:spcPts val="0"/>
              </a:spcAft>
            </a:pPr>
            <a:r>
              <a:rPr sz="1600" b="0" i="1">
                <a:solidFill>
                  <a:srgbClr val="DBE2EE"/>
                </a:solidFill>
                <a:latin typeface="Georgia"/>
              </a:rPr>
              <a:t>There he saw Śrī Balarāma, adorned with a garland of lotuses and appearing most attractive in every limb. He was singing amidst a crowd of young women, and since He had drunk vāruṇī liquor, His eyes rolled as if He were intoxicated. His body shone brilliantly as He behaved like an elephant in mada.</a:t>
            </a:r>
          </a:p>
          <a:p>
            <a:pPr>
              <a:spcBef>
                <a:spcPts val="800"/>
              </a:spcBef>
              <a:spcAft>
                <a:spcPts val="0"/>
              </a:spcAft>
            </a:pPr>
            <a:r>
              <a:rPr sz="1000" b="0" i="0">
                <a:solidFill>
                  <a:srgbClr val="6D7791"/>
                </a:solidFill>
                <a:latin typeface="Consolas"/>
              </a:rPr>
              <a:t>THE SCENE AT RAIVATAKA · SB 10.67</a:t>
            </a:r>
          </a:p>
        </p:txBody>
      </p:sp>
      <p:graphicFrame>
        <p:nvGraphicFramePr>
          <p:cNvPr id="8" name="Table 7"/>
          <p:cNvGraphicFramePr>
            <a:graphicFrameLocks noGrp="1"/>
          </p:cNvGraphicFramePr>
          <p:nvPr/>
        </p:nvGraphicFramePr>
        <p:xfrm>
          <a:off x="868680" y="3886200"/>
          <a:ext cx="10515599" cy="2743200"/>
        </p:xfrm>
        <a:graphic>
          <a:graphicData uri="http://schemas.openxmlformats.org/drawingml/2006/table">
            <a:tbl>
              <a:tblPr firstRow="1" bandRow="1">
                <a:tableStyleId>{5C22544A-7EE6-4342-B048-85BDC9FD1C3A}</a:tableStyleId>
              </a:tblPr>
              <a:tblGrid>
                <a:gridCol w="2103119"/>
                <a:gridCol w="4754880"/>
                <a:gridCol w="3657600"/>
              </a:tblGrid>
              <a:tr h="548640">
                <a:tc>
                  <a:txBody>
                    <a:bodyPr wrap="square"/>
                    <a:lstStyle/>
                    <a:p>
                      <a:pPr>
                        <a:lnSpc>
                          <a:spcPct val="108000"/>
                        </a:lnSpc>
                      </a:pPr>
                      <a:r>
                        <a:rPr sz="1050" b="1">
                          <a:solidFill>
                            <a:srgbClr val="6D7791"/>
                          </a:solidFill>
                          <a:latin typeface="Consolas"/>
                        </a:rPr>
                        <a:t>ELEMENT</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WHAT IT IS</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WHY IT'S THERE</a:t>
                      </a:r>
                    </a:p>
                  </a:txBody>
                  <a:tcPr marL="100584" marR="100584" marT="45720" marB="45720" anchor="t">
                    <a:solidFill>
                      <a:srgbClr val="1B2338"/>
                    </a:solidFill>
                  </a:tcPr>
                </a:tc>
              </a:tr>
              <a:tr h="548640">
                <a:tc>
                  <a:txBody>
                    <a:bodyPr wrap="square"/>
                    <a:lstStyle/>
                    <a:p>
                      <a:pPr>
                        <a:lnSpc>
                          <a:spcPct val="108000"/>
                        </a:lnSpc>
                      </a:pPr>
                      <a:r>
                        <a:rPr sz="1200" b="0">
                          <a:solidFill>
                            <a:srgbClr val="EEF1F7"/>
                          </a:solidFill>
                          <a:latin typeface="Calibri"/>
                        </a:rPr>
                        <a:t>Revatī</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Daughter of King Raivata (Kakudmī), and Balarāma's wife. Among the women present.</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The marriage is why Balarāma is on this mountain at all.</a:t>
                      </a:r>
                    </a:p>
                  </a:txBody>
                  <a:tcPr marL="100584" marR="100584" marT="45720" marB="45720" anchor="t">
                    <a:solidFill>
                      <a:srgbClr val="141A2B"/>
                    </a:solidFill>
                  </a:tcPr>
                </a:tc>
              </a:tr>
              <a:tr h="548640">
                <a:tc>
                  <a:txBody>
                    <a:bodyPr wrap="square"/>
                    <a:lstStyle/>
                    <a:p>
                      <a:pPr>
                        <a:lnSpc>
                          <a:spcPct val="108000"/>
                        </a:lnSpc>
                      </a:pPr>
                      <a:r>
                        <a:rPr sz="1200" b="0">
                          <a:solidFill>
                            <a:srgbClr val="EEF1F7"/>
                          </a:solidFill>
                          <a:latin typeface="Calibri"/>
                        </a:rPr>
                        <a:t>Vāruṇī</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A fragrant beverage. Two chapters earlier Varuṇa arranged for it to collect in a tree hollow to grace Balarāma's dancing.</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The text does not explain how it recurs here. It simply does.</a:t>
                      </a:r>
                    </a:p>
                  </a:txBody>
                  <a:tcPr marL="100584" marR="100584" marT="45720" marB="45720" anchor="t">
                    <a:solidFill>
                      <a:srgbClr val="0B0D14"/>
                    </a:solidFill>
                  </a:tcPr>
                </a:tc>
              </a:tr>
              <a:tr h="548640">
                <a:tc>
                  <a:txBody>
                    <a:bodyPr wrap="square"/>
                    <a:lstStyle/>
                    <a:p>
                      <a:pPr>
                        <a:lnSpc>
                          <a:spcPct val="108000"/>
                        </a:lnSpc>
                      </a:pPr>
                      <a:r>
                        <a:rPr sz="1200" b="0">
                          <a:solidFill>
                            <a:srgbClr val="EEF1F7"/>
                          </a:solidFill>
                          <a:latin typeface="Calibri"/>
                        </a:rPr>
                        <a:t>Mada</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The fragrant secretion at a bull elephant's temples in rut.</a:t>
                      </a:r>
                    </a:p>
                  </a:txBody>
                  <a:tcPr marL="100584" marR="100584" marT="45720" marB="45720" anchor="t">
                    <a:solidFill>
                      <a:srgbClr val="141A2B"/>
                    </a:solidFill>
                  </a:tcPr>
                </a:tc>
                <a:tc>
                  <a:txBody>
                    <a:bodyPr wrap="square"/>
                    <a:lstStyle/>
                    <a:p>
                      <a:pPr>
                        <a:lnSpc>
                          <a:spcPct val="108000"/>
                        </a:lnSpc>
                      </a:pPr>
                      <a:r>
                        <a:rPr sz="1200" b="0">
                          <a:solidFill>
                            <a:srgbClr val="A6B1C8"/>
                          </a:solidFill>
                          <a:latin typeface="Calibri"/>
                        </a:rPr>
                        <a:t>The verse's chosen simile for power in an exuberant, unguarded state.</a:t>
                      </a:r>
                    </a:p>
                  </a:txBody>
                  <a:tcPr marL="100584" marR="100584" marT="45720" marB="45720" anchor="t">
                    <a:solidFill>
                      <a:srgbClr val="141A2B"/>
                    </a:solidFill>
                  </a:tcPr>
                </a:tc>
              </a:tr>
              <a:tr h="548640">
                <a:tc>
                  <a:txBody>
                    <a:bodyPr wrap="square"/>
                    <a:lstStyle/>
                    <a:p>
                      <a:pPr>
                        <a:lnSpc>
                          <a:spcPct val="108000"/>
                        </a:lnSpc>
                      </a:pPr>
                      <a:r>
                        <a:rPr sz="1200" b="0">
                          <a:solidFill>
                            <a:srgbClr val="EEF1F7"/>
                          </a:solidFill>
                          <a:latin typeface="Calibri"/>
                        </a:rPr>
                        <a:t>Plough &amp; club Sunanda</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Present — but not in His hands. He is dancing.</a:t>
                      </a:r>
                    </a:p>
                  </a:txBody>
                  <a:tcPr marL="100584" marR="100584" marT="45720" marB="45720" anchor="t">
                    <a:solidFill>
                      <a:srgbClr val="0B0D14"/>
                    </a:solidFill>
                  </a:tcPr>
                </a:tc>
                <a:tc>
                  <a:txBody>
                    <a:bodyPr wrap="square"/>
                    <a:lstStyle/>
                    <a:p>
                      <a:pPr>
                        <a:lnSpc>
                          <a:spcPct val="108000"/>
                        </a:lnSpc>
                      </a:pPr>
                      <a:r>
                        <a:rPr sz="1200" b="0">
                          <a:solidFill>
                            <a:srgbClr val="A6B1C8"/>
                          </a:solidFill>
                          <a:latin typeface="Calibri"/>
                        </a:rPr>
                        <a:t>Their absence is precisely what makes the next scene possible.</a:t>
                      </a:r>
                    </a:p>
                  </a:txBody>
                  <a:tcPr marL="100584" marR="100584" marT="45720" marB="45720" anchor="t">
                    <a:solidFill>
                      <a:srgbClr val="0B0D1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avajñā</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provocation</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A small masterpiece of characterisation. Dvivida does not attack — he heckles, and each heckle is a rung up.</a:t>
            </a:r>
          </a:p>
        </p:txBody>
      </p:sp>
      <p:sp>
        <p:nvSpPr>
          <p:cNvPr id="6" name="TextBox 5"/>
          <p:cNvSpPr txBox="1"/>
          <p:nvPr/>
        </p:nvSpPr>
        <p:spPr>
          <a:xfrm>
            <a:off x="868680" y="2286000"/>
            <a:ext cx="10515600" cy="4023360"/>
          </a:xfrm>
          <a:prstGeom prst="rect">
            <a:avLst/>
          </a:prstGeom>
          <a:noFill/>
        </p:spPr>
        <p:txBody>
          <a:bodyPr wrap="square" lIns="0" rIns="0" tIns="0" bIns="0">
            <a:spAutoFit/>
          </a:bodyPr>
          <a:lstStyle/>
          <a:p>
            <a:pPr algn="l">
              <a:lnSpc>
                <a:spcPct val="118000"/>
              </a:lnSpc>
              <a:spcBef>
                <a:spcPts val="0"/>
              </a:spcBef>
              <a:spcAft>
                <a:spcPts val="0"/>
              </a:spcAft>
            </a:pPr>
            <a:r>
              <a:rPr sz="1400" b="0" i="0">
                <a:solidFill>
                  <a:srgbClr val="A6B1C8"/>
                </a:solidFill>
                <a:latin typeface="Calibri"/>
              </a:rPr>
              <a:t>— Climbs a branch, shakes the trees, and announces himself with the sound kilakilā.</a:t>
            </a:r>
          </a:p>
          <a:p>
            <a:pPr>
              <a:lnSpc>
                <a:spcPct val="118000"/>
              </a:lnSpc>
              <a:spcBef>
                <a:spcPts val="700"/>
              </a:spcBef>
              <a:spcAft>
                <a:spcPts val="0"/>
              </a:spcAft>
            </a:pPr>
            <a:r>
              <a:rPr sz="1400" b="0" i="0">
                <a:solidFill>
                  <a:srgbClr val="A6B1C8"/>
                </a:solidFill>
                <a:latin typeface="Calibri"/>
              </a:rPr>
              <a:t>— Balarāma's consorts laugh at his impudence — young, fond of joking, prone to silliness.</a:t>
            </a:r>
          </a:p>
          <a:p>
            <a:pPr>
              <a:lnSpc>
                <a:spcPct val="118000"/>
              </a:lnSpc>
              <a:spcBef>
                <a:spcPts val="700"/>
              </a:spcBef>
              <a:spcAft>
                <a:spcPts val="0"/>
              </a:spcAft>
            </a:pPr>
            <a:r>
              <a:rPr sz="1400" b="0" i="0">
                <a:solidFill>
                  <a:srgbClr val="A6B1C8"/>
                </a:solidFill>
                <a:latin typeface="Calibri"/>
              </a:rPr>
              <a:t>— Stung at being laughed at, he insults the girls: odd gestures with his eyebrows, walking absurdly, exposing himself and urinating — even as Balarāma looks on.</a:t>
            </a:r>
          </a:p>
          <a:p>
            <a:pPr>
              <a:lnSpc>
                <a:spcPct val="118000"/>
              </a:lnSpc>
              <a:spcBef>
                <a:spcPts val="700"/>
              </a:spcBef>
              <a:spcAft>
                <a:spcPts val="0"/>
              </a:spcAft>
            </a:pPr>
            <a:r>
              <a:rPr sz="1400" b="0" i="0">
                <a:solidFill>
                  <a:srgbClr val="A6B1C8"/>
                </a:solidFill>
                <a:latin typeface="Calibri"/>
              </a:rPr>
              <a:t>— Viśvanātha Cakravartī Ṭhākura adds the sharpest detail: he disrespected Balarāma by not even glancing at Him.</a:t>
            </a:r>
          </a:p>
          <a:p>
            <a:pPr>
              <a:lnSpc>
                <a:spcPct val="118000"/>
              </a:lnSpc>
              <a:spcBef>
                <a:spcPts val="700"/>
              </a:spcBef>
              <a:spcAft>
                <a:spcPts val="0"/>
              </a:spcAft>
            </a:pPr>
            <a:r>
              <a:rPr sz="1400" b="0" i="0">
                <a:solidFill>
                  <a:srgbClr val="A6B1C8"/>
                </a:solidFill>
                <a:latin typeface="Calibri"/>
              </a:rPr>
              <a:t>— Balarāma hurls a rock. He dodges it and seizes the pot of vāruṇī.</a:t>
            </a:r>
          </a:p>
          <a:p>
            <a:pPr>
              <a:lnSpc>
                <a:spcPct val="118000"/>
              </a:lnSpc>
              <a:spcBef>
                <a:spcPts val="700"/>
              </a:spcBef>
              <a:spcAft>
                <a:spcPts val="0"/>
              </a:spcAft>
            </a:pPr>
            <a:r>
              <a:rPr sz="1400" b="0" i="0">
                <a:solidFill>
                  <a:srgbClr val="A6B1C8"/>
                </a:solidFill>
                <a:latin typeface="Calibri"/>
              </a:rPr>
              <a:t>— He breaks the pot, then pulls at the girls' clothing, laughing and ridiculing Him.</a:t>
            </a:r>
          </a:p>
        </p:txBody>
      </p:sp>
      <p:sp>
        <p:nvSpPr>
          <p:cNvPr id="7" name="Rounded Rectangle 6"/>
          <p:cNvSpPr/>
          <p:nvPr/>
        </p:nvSpPr>
        <p:spPr>
          <a:xfrm>
            <a:off x="868680" y="434340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4343400"/>
            <a:ext cx="38100" cy="96012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4489704"/>
            <a:ext cx="10104120" cy="685800"/>
          </a:xfrm>
          <a:prstGeom prst="rect">
            <a:avLst/>
          </a:prstGeom>
          <a:noFill/>
        </p:spPr>
        <p:txBody>
          <a:bodyPr wrap="square" lIns="0" rIns="0" tIns="0" bIns="0">
            <a:spAutoFit/>
          </a:bodyPr>
          <a:lstStyle/>
          <a:p>
            <a:pPr algn="l">
              <a:lnSpc>
                <a:spcPct val="115000"/>
              </a:lnSpc>
            </a:pPr>
            <a:r>
              <a:rPr sz="1400" b="1">
                <a:solidFill>
                  <a:srgbClr val="C2624A"/>
                </a:solidFill>
                <a:latin typeface="Calibri"/>
              </a:rPr>
              <a:t>The detail worth the whole slide.  </a:t>
            </a:r>
            <a:r>
              <a:rPr sz="1400">
                <a:solidFill>
                  <a:srgbClr val="A6B1C8"/>
                </a:solidFill>
                <a:latin typeface="Calibri"/>
              </a:rPr>
              <a:t>Balarāma's first response is a rock — not the club. The commentary explains why: because of Dvivida's previous position as a devotee. Even mid-provocation, the weapon He picks is a statement about memory.</a:t>
            </a:r>
          </a:p>
        </p:txBody>
      </p:sp>
      <p:sp>
        <p:nvSpPr>
          <p:cNvPr id="10" name="Rounded Rectangle 9"/>
          <p:cNvSpPr/>
          <p:nvPr/>
        </p:nvSpPr>
        <p:spPr>
          <a:xfrm>
            <a:off x="868680" y="539496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68680" y="5394960"/>
            <a:ext cx="38100" cy="9601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69848" y="5541264"/>
            <a:ext cx="10104120" cy="685800"/>
          </a:xfrm>
          <a:prstGeom prst="rect">
            <a:avLst/>
          </a:prstGeom>
          <a:noFill/>
        </p:spPr>
        <p:txBody>
          <a:bodyPr wrap="square" lIns="0" rIns="0" tIns="0" bIns="0">
            <a:spAutoFit/>
          </a:bodyPr>
          <a:lstStyle/>
          <a:p>
            <a:pPr algn="l">
              <a:lnSpc>
                <a:spcPct val="115000"/>
              </a:lnSpc>
            </a:pPr>
            <a:r>
              <a:rPr sz="1400" b="1">
                <a:solidFill>
                  <a:srgbClr val="D9A441"/>
                </a:solidFill>
                <a:latin typeface="Calibri"/>
              </a:rPr>
              <a:t>And the verdict rests elsewhere.  </a:t>
            </a:r>
            <a:r>
              <a:rPr sz="1400">
                <a:solidFill>
                  <a:srgbClr val="A6B1C8"/>
                </a:solidFill>
                <a:latin typeface="Calibri"/>
              </a:rPr>
              <a:t>Only after seeing the rudeness does Balarāma think of the disruptions in the surrounding kingdoms — and then take up club and plough. He decides on the ravaged province, not the ruined party.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yuddha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The fight, blow by blow</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A strict escalation in which Dvivida runs out of world to throw while Balarāma steadily discards weapons until He has none left.</a:t>
            </a:r>
          </a:p>
        </p:txBody>
      </p:sp>
      <p:sp>
        <p:nvSpPr>
          <p:cNvPr id="6" name="TextBox 5"/>
          <p:cNvSpPr txBox="1"/>
          <p:nvPr/>
        </p:nvSpPr>
        <p:spPr>
          <a:xfrm>
            <a:off x="868680" y="2286000"/>
            <a:ext cx="5120640" cy="274320"/>
          </a:xfrm>
          <a:prstGeom prst="rect">
            <a:avLst/>
          </a:prstGeom>
          <a:noFill/>
        </p:spPr>
        <p:txBody>
          <a:bodyPr wrap="square" lIns="0" rIns="0" tIns="0" bIns="0">
            <a:spAutoFit/>
          </a:bodyPr>
          <a:lstStyle/>
          <a:p>
            <a:pPr algn="l">
              <a:spcBef>
                <a:spcPts val="0"/>
              </a:spcBef>
              <a:spcAft>
                <a:spcPts val="0"/>
              </a:spcAft>
            </a:pPr>
            <a:r>
              <a:rPr sz="1100" b="0" i="0">
                <a:solidFill>
                  <a:srgbClr val="C2624A"/>
                </a:solidFill>
                <a:latin typeface="Consolas"/>
              </a:rPr>
              <a:t>DVIVIDA — ESCALATING</a:t>
            </a:r>
          </a:p>
        </p:txBody>
      </p:sp>
      <p:sp>
        <p:nvSpPr>
          <p:cNvPr id="7" name="TextBox 6"/>
          <p:cNvSpPr txBox="1"/>
          <p:nvPr/>
        </p:nvSpPr>
        <p:spPr>
          <a:xfrm>
            <a:off x="6263640" y="2286000"/>
            <a:ext cx="5120640" cy="274320"/>
          </a:xfrm>
          <a:prstGeom prst="rect">
            <a:avLst/>
          </a:prstGeom>
          <a:noFill/>
        </p:spPr>
        <p:txBody>
          <a:bodyPr wrap="square" lIns="0" rIns="0" tIns="0" bIns="0">
            <a:spAutoFit/>
          </a:bodyPr>
          <a:lstStyle/>
          <a:p>
            <a:pPr algn="l">
              <a:spcBef>
                <a:spcPts val="0"/>
              </a:spcBef>
              <a:spcAft>
                <a:spcPts val="0"/>
              </a:spcAft>
            </a:pPr>
            <a:r>
              <a:rPr sz="1100" b="0" i="0">
                <a:solidFill>
                  <a:srgbClr val="EEF1F7"/>
                </a:solidFill>
                <a:latin typeface="Consolas"/>
              </a:rPr>
              <a:t>BALARĀMA — DISARMING</a:t>
            </a:r>
          </a:p>
        </p:txBody>
      </p:sp>
      <p:sp>
        <p:nvSpPr>
          <p:cNvPr id="8" name="Rounded Rectangle 7"/>
          <p:cNvSpPr/>
          <p:nvPr/>
        </p:nvSpPr>
        <p:spPr>
          <a:xfrm>
            <a:off x="868680" y="2633472"/>
            <a:ext cx="5120640" cy="566928"/>
          </a:xfrm>
          <a:prstGeom prst="roundRect">
            <a:avLst/>
          </a:prstGeom>
          <a:solidFill>
            <a:srgbClr val="141A2B"/>
          </a:solidFill>
          <a:ln w="1397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24128" y="2724912"/>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Uproots a śāla tree one-handed, strikes His head</a:t>
            </a:r>
          </a:p>
        </p:txBody>
      </p:sp>
      <p:sp>
        <p:nvSpPr>
          <p:cNvPr id="10" name="Rounded Rectangle 9"/>
          <p:cNvSpPr/>
          <p:nvPr/>
        </p:nvSpPr>
        <p:spPr>
          <a:xfrm>
            <a:off x="6263640" y="2633472"/>
            <a:ext cx="5120640" cy="566928"/>
          </a:xfrm>
          <a:prstGeom prst="roundRect">
            <a:avLst/>
          </a:prstGeom>
          <a:solidFill>
            <a:srgbClr val="141A2B"/>
          </a:solidFill>
          <a:ln w="1397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19088" y="2724912"/>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Stands motionless as a mountain; catches the log</a:t>
            </a:r>
          </a:p>
        </p:txBody>
      </p:sp>
      <p:sp>
        <p:nvSpPr>
          <p:cNvPr id="12" name="Rounded Rectangle 11"/>
          <p:cNvSpPr/>
          <p:nvPr/>
        </p:nvSpPr>
        <p:spPr>
          <a:xfrm>
            <a:off x="868680" y="3291839"/>
            <a:ext cx="5120640" cy="566928"/>
          </a:xfrm>
          <a:prstGeom prst="roundRect">
            <a:avLst/>
          </a:prstGeom>
          <a:solidFill>
            <a:srgbClr val="141A2B"/>
          </a:solidFill>
          <a:ln w="1397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24128" y="3383279"/>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Ignores the wound; another tree, then another</a:t>
            </a:r>
          </a:p>
        </p:txBody>
      </p:sp>
      <p:sp>
        <p:nvSpPr>
          <p:cNvPr id="14" name="Rounded Rectangle 13"/>
          <p:cNvSpPr/>
          <p:nvPr/>
        </p:nvSpPr>
        <p:spPr>
          <a:xfrm>
            <a:off x="6263640" y="3291839"/>
            <a:ext cx="5120640" cy="566928"/>
          </a:xfrm>
          <a:prstGeom prst="roundRect">
            <a:avLst/>
          </a:prstGeom>
          <a:solidFill>
            <a:srgbClr val="141A2B"/>
          </a:solidFill>
          <a:ln w="1397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19088" y="3383279"/>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Strikes his skull with the club Sunanda — “a mountain beautified by red oxide”</a:t>
            </a:r>
          </a:p>
        </p:txBody>
      </p:sp>
      <p:sp>
        <p:nvSpPr>
          <p:cNvPr id="16" name="Rounded Rectangle 15"/>
          <p:cNvSpPr/>
          <p:nvPr/>
        </p:nvSpPr>
        <p:spPr>
          <a:xfrm>
            <a:off x="868680" y="3950208"/>
            <a:ext cx="5120640" cy="566928"/>
          </a:xfrm>
          <a:prstGeom prst="roundRect">
            <a:avLst/>
          </a:prstGeom>
          <a:solidFill>
            <a:srgbClr val="141A2B"/>
          </a:solidFill>
          <a:ln w="1397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24128" y="4041648"/>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Out of trees — releases a rain of stones</a:t>
            </a:r>
          </a:p>
        </p:txBody>
      </p:sp>
      <p:sp>
        <p:nvSpPr>
          <p:cNvPr id="18" name="Rounded Rectangle 17"/>
          <p:cNvSpPr/>
          <p:nvPr/>
        </p:nvSpPr>
        <p:spPr>
          <a:xfrm>
            <a:off x="6263640" y="3950208"/>
            <a:ext cx="5120640" cy="566928"/>
          </a:xfrm>
          <a:prstGeom prst="roundRect">
            <a:avLst/>
          </a:prstGeom>
          <a:solidFill>
            <a:srgbClr val="141A2B"/>
          </a:solidFill>
          <a:ln w="1397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19088" y="4041648"/>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Demolishes every tree, then pulverises every stone</a:t>
            </a:r>
          </a:p>
        </p:txBody>
      </p:sp>
      <p:sp>
        <p:nvSpPr>
          <p:cNvPr id="20" name="Rounded Rectangle 19"/>
          <p:cNvSpPr/>
          <p:nvPr/>
        </p:nvSpPr>
        <p:spPr>
          <a:xfrm>
            <a:off x="868680" y="4608576"/>
            <a:ext cx="5120640" cy="566928"/>
          </a:xfrm>
          <a:prstGeom prst="roundRect">
            <a:avLst/>
          </a:prstGeom>
          <a:solidFill>
            <a:srgbClr val="141A2B"/>
          </a:solidFill>
          <a:ln w="1397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4128" y="4700016"/>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Clenches his fists and beats the Lord's body</a:t>
            </a:r>
          </a:p>
        </p:txBody>
      </p:sp>
      <p:sp>
        <p:nvSpPr>
          <p:cNvPr id="22" name="Rounded Rectangle 21"/>
          <p:cNvSpPr/>
          <p:nvPr/>
        </p:nvSpPr>
        <p:spPr>
          <a:xfrm>
            <a:off x="6263640" y="4608576"/>
            <a:ext cx="5120640" cy="566928"/>
          </a:xfrm>
          <a:prstGeom prst="roundRect">
            <a:avLst/>
          </a:prstGeom>
          <a:solidFill>
            <a:srgbClr val="141A2B"/>
          </a:solidFill>
          <a:ln w="1397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19088" y="4700016"/>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0" i="0">
                <a:solidFill>
                  <a:srgbClr val="A6B1C8"/>
                </a:solidFill>
                <a:latin typeface="Calibri"/>
              </a:rPr>
              <a:t>Throws aside club and plough — bare hands against bare hands</a:t>
            </a:r>
          </a:p>
        </p:txBody>
      </p:sp>
      <p:sp>
        <p:nvSpPr>
          <p:cNvPr id="24" name="Rounded Rectangle 23"/>
          <p:cNvSpPr/>
          <p:nvPr/>
        </p:nvSpPr>
        <p:spPr>
          <a:xfrm>
            <a:off x="868680" y="5266944"/>
            <a:ext cx="5120640" cy="566928"/>
          </a:xfrm>
          <a:prstGeom prst="roundRect">
            <a:avLst/>
          </a:prstGeom>
          <a:solidFill>
            <a:srgbClr val="141A2B"/>
          </a:solidFill>
          <a:ln w="20320">
            <a:solidFill>
              <a:srgbClr val="C262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24128" y="5358384"/>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1" i="0">
                <a:solidFill>
                  <a:srgbClr val="EEF1F7"/>
                </a:solidFill>
                <a:latin typeface="Calibri"/>
              </a:rPr>
              <a:t>Collapses, vomiting blood. Raivataka Mountain shakes.</a:t>
            </a:r>
          </a:p>
        </p:txBody>
      </p:sp>
      <p:sp>
        <p:nvSpPr>
          <p:cNvPr id="26" name="Rounded Rectangle 25"/>
          <p:cNvSpPr/>
          <p:nvPr/>
        </p:nvSpPr>
        <p:spPr>
          <a:xfrm>
            <a:off x="6263640" y="5266944"/>
            <a:ext cx="5120640" cy="566928"/>
          </a:xfrm>
          <a:prstGeom prst="roundRect">
            <a:avLst/>
          </a:prstGeom>
          <a:solidFill>
            <a:srgbClr val="1B2338"/>
          </a:solidFill>
          <a:ln w="2286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9088" y="5358384"/>
            <a:ext cx="4846320" cy="411480"/>
          </a:xfrm>
          <a:prstGeom prst="rect">
            <a:avLst/>
          </a:prstGeom>
          <a:noFill/>
        </p:spPr>
        <p:txBody>
          <a:bodyPr wrap="square" lIns="0" rIns="0" tIns="0" bIns="0">
            <a:spAutoFit/>
          </a:bodyPr>
          <a:lstStyle/>
          <a:p>
            <a:pPr algn="l">
              <a:lnSpc>
                <a:spcPct val="108000"/>
              </a:lnSpc>
              <a:spcBef>
                <a:spcPts val="0"/>
              </a:spcBef>
              <a:spcAft>
                <a:spcPts val="0"/>
              </a:spcAft>
            </a:pPr>
            <a:r>
              <a:rPr sz="1300" b="1" i="0">
                <a:solidFill>
                  <a:srgbClr val="EEF1F7"/>
                </a:solidFill>
                <a:latin typeface="Calibri"/>
              </a:rPr>
              <a:t>A hammering blow to the collarbone</a:t>
            </a:r>
          </a:p>
        </p:txBody>
      </p:sp>
      <p:sp>
        <p:nvSpPr>
          <p:cNvPr id="28" name="TextBox 27"/>
          <p:cNvSpPr txBox="1"/>
          <p:nvPr/>
        </p:nvSpPr>
        <p:spPr>
          <a:xfrm>
            <a:off x="868680" y="6053328"/>
            <a:ext cx="10515600" cy="548640"/>
          </a:xfrm>
          <a:prstGeom prst="rect">
            <a:avLst/>
          </a:prstGeom>
          <a:noFill/>
        </p:spPr>
        <p:txBody>
          <a:bodyPr wrap="square" lIns="0" rIns="0" tIns="0" bIns="0">
            <a:spAutoFit/>
          </a:bodyPr>
          <a:lstStyle/>
          <a:p>
            <a:pPr algn="l">
              <a:spcBef>
                <a:spcPts val="0"/>
              </a:spcBef>
              <a:spcAft>
                <a:spcPts val="0"/>
              </a:spcAft>
            </a:pPr>
            <a:r>
              <a:rPr sz="1350" b="0" i="1">
                <a:solidFill>
                  <a:srgbClr val="D9A441"/>
                </a:solidFill>
                <a:latin typeface="Georgia"/>
              </a:rPr>
              <a:t>The two columns move in opposite directions. The aggressor climbs tree → stone → fist; the Lord descends club → nothing — and that is when it ends.</a:t>
            </a:r>
          </a:p>
          <a:p>
            <a:pPr>
              <a:spcBef>
                <a:spcPts val="500"/>
              </a:spcBef>
              <a:spcAft>
                <a:spcPts val="0"/>
              </a:spcAft>
            </a:pPr>
            <a:r>
              <a:rPr sz="1200" b="0" i="0">
                <a:solidFill>
                  <a:srgbClr val="6D7791"/>
                </a:solidFill>
                <a:latin typeface="Calibri"/>
              </a:rPr>
              <a:t>Afterwards He frees the people sealed in the caves and returns to His capital while the people chant His glories.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mukti</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Killed, and therefore liberated</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chapter closes with a doctrinal point that reframes every death in the Tenth Canto — drawn from SB 2.7, the catalogue of the Lord's scheduled incarnations.</a:t>
            </a:r>
          </a:p>
        </p:txBody>
      </p:sp>
      <p:sp>
        <p:nvSpPr>
          <p:cNvPr id="6" name="Rounded Rectangle 5"/>
          <p:cNvSpPr/>
          <p:nvPr/>
        </p:nvSpPr>
        <p:spPr>
          <a:xfrm>
            <a:off x="868680" y="2377440"/>
            <a:ext cx="10515600" cy="1737360"/>
          </a:xfrm>
          <a:prstGeom prst="roundRect">
            <a:avLst/>
          </a:prstGeom>
          <a:solidFill>
            <a:srgbClr val="1B2338"/>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24712" y="2542032"/>
            <a:ext cx="10012680" cy="1463039"/>
          </a:xfrm>
          <a:prstGeom prst="rect">
            <a:avLst/>
          </a:prstGeom>
          <a:noFill/>
        </p:spPr>
        <p:txBody>
          <a:bodyPr wrap="square" lIns="0" rIns="0" tIns="0" bIns="0">
            <a:spAutoFit/>
          </a:bodyPr>
          <a:lstStyle/>
          <a:p>
            <a:pPr algn="l">
              <a:lnSpc>
                <a:spcPct val="115000"/>
              </a:lnSpc>
              <a:spcBef>
                <a:spcPts val="0"/>
              </a:spcBef>
              <a:spcAft>
                <a:spcPts val="0"/>
              </a:spcAft>
            </a:pPr>
            <a:r>
              <a:rPr sz="1600" b="0" i="1">
                <a:solidFill>
                  <a:srgbClr val="DBE2EE"/>
                </a:solidFill>
                <a:latin typeface="Georgia"/>
              </a:rPr>
              <a:t>All these demoniac personalities — Pralamba, Dhenuka, Baka, Keśī, Ariṣṭa, Cāṇūra, Muṣṭika, Kuvalayāpīḍa, Kaṁsa, Yavana, Narakāsura, Pauṇḍraka; marshals like Śālva, Dvivida the monkey, Balvala, Dantavakra, the seven bulls, Śambara, Vidūratha and Rukmī — would all fight vigorously with the Lord Hari, or with Him under the names Baladeva, Arjuna, Bhīma; and the demons, being thus killed, would attain either the impersonal brahmajyoti or His personal abode in the Vaikuṇṭha planets.</a:t>
            </a:r>
          </a:p>
          <a:p>
            <a:pPr>
              <a:spcBef>
                <a:spcPts val="800"/>
              </a:spcBef>
              <a:spcAft>
                <a:spcPts val="0"/>
              </a:spcAft>
            </a:pPr>
            <a:r>
              <a:rPr sz="1000" b="0" i="0">
                <a:solidFill>
                  <a:srgbClr val="6D7791"/>
                </a:solidFill>
                <a:latin typeface="Consolas"/>
              </a:rPr>
              <a:t>SB 2.7.34–35 · THE SCHEDULED INCARNATIONS</a:t>
            </a:r>
          </a:p>
        </p:txBody>
      </p:sp>
      <p:sp>
        <p:nvSpPr>
          <p:cNvPr id="8" name="Rounded Rectangle 7"/>
          <p:cNvSpPr/>
          <p:nvPr/>
        </p:nvSpPr>
        <p:spPr>
          <a:xfrm>
            <a:off x="868680" y="4343400"/>
            <a:ext cx="10515600" cy="7315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68680" y="4343400"/>
            <a:ext cx="38100" cy="73152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9848" y="4489704"/>
            <a:ext cx="10104120" cy="457200"/>
          </a:xfrm>
          <a:prstGeom prst="rect">
            <a:avLst/>
          </a:prstGeom>
          <a:noFill/>
        </p:spPr>
        <p:txBody>
          <a:bodyPr wrap="square" lIns="0" rIns="0" tIns="0" bIns="0">
            <a:spAutoFit/>
          </a:bodyPr>
          <a:lstStyle/>
          <a:p>
            <a:pPr algn="l">
              <a:lnSpc>
                <a:spcPct val="115000"/>
              </a:lnSpc>
            </a:pPr>
            <a:r>
              <a:rPr sz="1400" b="1">
                <a:solidFill>
                  <a:srgbClr val="EEF1F7"/>
                </a:solidFill>
                <a:latin typeface="Calibri"/>
              </a:rPr>
              <a:t>So the descent was a round trip.  </a:t>
            </a:r>
            <a:r>
              <a:rPr sz="1400">
                <a:solidFill>
                  <a:srgbClr val="A6B1C8"/>
                </a:solidFill>
                <a:latin typeface="Calibri"/>
              </a:rPr>
              <a:t>The soul who fell from an attendant's position in the Lord's abode is returned to it — by being killed by the Lord.</a:t>
            </a:r>
          </a:p>
        </p:txBody>
      </p:sp>
      <p:sp>
        <p:nvSpPr>
          <p:cNvPr id="11" name="Rounded Rectangle 10"/>
          <p:cNvSpPr/>
          <p:nvPr/>
        </p:nvSpPr>
        <p:spPr>
          <a:xfrm>
            <a:off x="868680" y="5212080"/>
            <a:ext cx="10515600" cy="91440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68680" y="5212080"/>
            <a:ext cx="38100" cy="91440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5358384"/>
            <a:ext cx="10104120" cy="640080"/>
          </a:xfrm>
          <a:prstGeom prst="rect">
            <a:avLst/>
          </a:prstGeom>
          <a:noFill/>
        </p:spPr>
        <p:txBody>
          <a:bodyPr wrap="square" lIns="0" rIns="0" tIns="0" bIns="0">
            <a:spAutoFit/>
          </a:bodyPr>
          <a:lstStyle/>
          <a:p>
            <a:pPr algn="l">
              <a:lnSpc>
                <a:spcPct val="115000"/>
              </a:lnSpc>
            </a:pPr>
            <a:r>
              <a:rPr sz="1400" b="1">
                <a:solidFill>
                  <a:srgbClr val="C2624A"/>
                </a:solidFill>
                <a:latin typeface="Calibri"/>
              </a:rPr>
              <a:t>“We don't imitate.”  </a:t>
            </a:r>
            <a:r>
              <a:rPr sz="1400">
                <a:solidFill>
                  <a:srgbClr val="A6B1C8"/>
                </a:solidFill>
                <a:latin typeface="Calibri"/>
              </a:rPr>
              <a:t>The class heads off the obvious conclusion at once: you cannot arrange to be an exception — that is what exception means. The mercy shown to Dvivida is a statement about the Lord's nature, not a strategy available to us.</a:t>
            </a:r>
          </a:p>
        </p:txBody>
      </p:sp>
      <p:sp>
        <p:nvSpPr>
          <p:cNvPr id="14" name="Rounded Rectangle 13"/>
          <p:cNvSpPr/>
          <p:nvPr/>
        </p:nvSpPr>
        <p:spPr>
          <a:xfrm>
            <a:off x="868680" y="6217920"/>
            <a:ext cx="10515600" cy="566928"/>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68680" y="6217920"/>
            <a:ext cx="38100" cy="566928"/>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69848" y="6364224"/>
            <a:ext cx="10104120" cy="292608"/>
          </a:xfrm>
          <a:prstGeom prst="rect">
            <a:avLst/>
          </a:prstGeom>
          <a:noFill/>
        </p:spPr>
        <p:txBody>
          <a:bodyPr wrap="square" lIns="0" rIns="0" tIns="0" bIns="0">
            <a:spAutoFit/>
          </a:bodyPr>
          <a:lstStyle/>
          <a:p>
            <a:pPr algn="l">
              <a:lnSpc>
                <a:spcPct val="115000"/>
              </a:lnSpc>
            </a:pPr>
            <a:r>
              <a:rPr sz="1400" b="1">
                <a:solidFill>
                  <a:srgbClr val="D9A441"/>
                </a:solidFill>
                <a:latin typeface="Calibri"/>
              </a:rPr>
              <a:t>Why He appears at all — BG 4.7–8.  </a:t>
            </a:r>
            <a:r>
              <a:rPr sz="1400">
                <a:solidFill>
                  <a:srgbClr val="A6B1C8"/>
                </a:solidFill>
                <a:latin typeface="Calibri"/>
              </a:rPr>
              <a:t>Whenever dharma declines and adharma rises, He descends: to deliver the devotees, annihilate the miscreants, and re-establish dharma, age after age. Balarāma frees the caved-in villagers and kills the ape in the same afternoon.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kavaca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Balarāma's four protections</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Garga-saṁhitā's armour-prayer maps each demon Balarāma killed onto the internal enemy He is asked to protect us from. The līlā becomes a prayer, and the prayer becomes a diagnosis.</a:t>
            </a:r>
          </a:p>
        </p:txBody>
      </p:sp>
      <p:graphicFrame>
        <p:nvGraphicFramePr>
          <p:cNvPr id="6" name="Table 5"/>
          <p:cNvGraphicFramePr>
            <a:graphicFrameLocks noGrp="1"/>
          </p:cNvGraphicFramePr>
          <p:nvPr/>
        </p:nvGraphicFramePr>
        <p:xfrm>
          <a:off x="868680" y="2514600"/>
          <a:ext cx="10515599" cy="3017520"/>
        </p:xfrm>
        <a:graphic>
          <a:graphicData uri="http://schemas.openxmlformats.org/drawingml/2006/table">
            <a:tbl>
              <a:tblPr firstRow="1" bandRow="1">
                <a:tableStyleId>{5C22544A-7EE6-4342-B048-85BDC9FD1C3A}</a:tableStyleId>
              </a:tblPr>
              <a:tblGrid>
                <a:gridCol w="2743200"/>
                <a:gridCol w="2103119"/>
                <a:gridCol w="5669280"/>
              </a:tblGrid>
              <a:tr h="603504">
                <a:tc>
                  <a:txBody>
                    <a:bodyPr wrap="square"/>
                    <a:lstStyle/>
                    <a:p>
                      <a:pPr>
                        <a:lnSpc>
                          <a:spcPct val="108000"/>
                        </a:lnSpc>
                      </a:pPr>
                      <a:r>
                        <a:rPr sz="1050" b="1">
                          <a:solidFill>
                            <a:srgbClr val="6D7791"/>
                          </a:solidFill>
                          <a:latin typeface="Consolas"/>
                        </a:rPr>
                        <a:t>MAY LORD BALARĀMA…</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…PROTECT ME FROM</a:t>
                      </a:r>
                    </a:p>
                  </a:txBody>
                  <a:tcPr marL="100584" marR="100584" marT="45720" marB="45720" anchor="t">
                    <a:solidFill>
                      <a:srgbClr val="1B2338"/>
                    </a:solidFill>
                  </a:tcPr>
                </a:tc>
                <a:tc>
                  <a:txBody>
                    <a:bodyPr wrap="square"/>
                    <a:lstStyle/>
                    <a:p>
                      <a:pPr>
                        <a:lnSpc>
                          <a:spcPct val="108000"/>
                        </a:lnSpc>
                      </a:pPr>
                      <a:r>
                        <a:rPr sz="1050" b="1">
                          <a:solidFill>
                            <a:srgbClr val="6D7791"/>
                          </a:solidFill>
                          <a:latin typeface="Consolas"/>
                        </a:rPr>
                        <a:t>WHY THE PAIRING WORKS</a:t>
                      </a:r>
                    </a:p>
                  </a:txBody>
                  <a:tcPr marL="100584" marR="100584" marT="45720" marB="45720" anchor="t">
                    <a:solidFill>
                      <a:srgbClr val="1B2338"/>
                    </a:solidFill>
                  </a:tcPr>
                </a:tc>
              </a:tr>
              <a:tr h="603504">
                <a:tc>
                  <a:txBody>
                    <a:bodyPr wrap="square"/>
                    <a:lstStyle/>
                    <a:p>
                      <a:pPr>
                        <a:lnSpc>
                          <a:spcPct val="108000"/>
                        </a:lnSpc>
                      </a:pPr>
                      <a:r>
                        <a:rPr sz="1300" b="0">
                          <a:solidFill>
                            <a:srgbClr val="EEF1F7"/>
                          </a:solidFill>
                          <a:latin typeface="Calibri"/>
                        </a:rPr>
                        <a:t>the enemy of Dhenukāsura</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lust · kāma</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Lust burns like a fire: once lit, it grows on what it consumes.</a:t>
                      </a:r>
                    </a:p>
                  </a:txBody>
                  <a:tcPr marL="100584" marR="100584" marT="45720" marB="45720" anchor="t">
                    <a:solidFill>
                      <a:srgbClr val="141A2B"/>
                    </a:solidFill>
                  </a:tcPr>
                </a:tc>
              </a:tr>
              <a:tr h="603504">
                <a:tc>
                  <a:txBody>
                    <a:bodyPr wrap="square"/>
                    <a:lstStyle/>
                    <a:p>
                      <a:pPr>
                        <a:lnSpc>
                          <a:spcPct val="108000"/>
                        </a:lnSpc>
                      </a:pPr>
                      <a:r>
                        <a:rPr sz="1300" b="0">
                          <a:solidFill>
                            <a:srgbClr val="EEF1F7"/>
                          </a:solidFill>
                          <a:latin typeface="Calibri"/>
                        </a:rPr>
                        <a:t>who killed Dvivida</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anger · krodha</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Our chapter. Dvivida is driven start to finish by revenge — and once anger takes hold it cannot be stopped from inside.</a:t>
                      </a:r>
                    </a:p>
                  </a:txBody>
                  <a:tcPr marL="100584" marR="100584" marT="45720" marB="45720" anchor="t">
                    <a:solidFill>
                      <a:srgbClr val="0B0D14"/>
                    </a:solidFill>
                  </a:tcPr>
                </a:tc>
              </a:tr>
              <a:tr h="603504">
                <a:tc>
                  <a:txBody>
                    <a:bodyPr wrap="square"/>
                    <a:lstStyle/>
                    <a:p>
                      <a:pPr>
                        <a:lnSpc>
                          <a:spcPct val="108000"/>
                        </a:lnSpc>
                      </a:pPr>
                      <a:r>
                        <a:rPr sz="1300" b="0">
                          <a:solidFill>
                            <a:srgbClr val="EEF1F7"/>
                          </a:solidFill>
                          <a:latin typeface="Calibri"/>
                        </a:rPr>
                        <a:t>the enemy of Balvala</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greed · lobha</a:t>
                      </a:r>
                    </a:p>
                  </a:txBody>
                  <a:tcPr marL="100584" marR="100584" marT="45720" marB="45720" anchor="t">
                    <a:solidFill>
                      <a:srgbClr val="141A2B"/>
                    </a:solidFill>
                  </a:tcPr>
                </a:tc>
                <a:tc>
                  <a:txBody>
                    <a:bodyPr wrap="square"/>
                    <a:lstStyle/>
                    <a:p>
                      <a:pPr>
                        <a:lnSpc>
                          <a:spcPct val="108000"/>
                        </a:lnSpc>
                      </a:pPr>
                      <a:r>
                        <a:rPr sz="1300" b="0">
                          <a:solidFill>
                            <a:srgbClr val="A6B1C8"/>
                          </a:solidFill>
                          <a:latin typeface="Calibri"/>
                        </a:rPr>
                        <a:t>Balvala contaminated the sacrifices at Naimiṣāraṇya — the appetite that fouls what it feeds on.</a:t>
                      </a:r>
                    </a:p>
                  </a:txBody>
                  <a:tcPr marL="100584" marR="100584" marT="45720" marB="45720" anchor="t">
                    <a:solidFill>
                      <a:srgbClr val="141A2B"/>
                    </a:solidFill>
                  </a:tcPr>
                </a:tc>
              </a:tr>
              <a:tr h="603504">
                <a:tc>
                  <a:txBody>
                    <a:bodyPr wrap="square"/>
                    <a:lstStyle/>
                    <a:p>
                      <a:pPr>
                        <a:lnSpc>
                          <a:spcPct val="108000"/>
                        </a:lnSpc>
                      </a:pPr>
                      <a:r>
                        <a:rPr sz="1300" b="0">
                          <a:solidFill>
                            <a:srgbClr val="EEF1F7"/>
                          </a:solidFill>
                          <a:latin typeface="Calibri"/>
                        </a:rPr>
                        <a:t>the enemy of Jarāsandha</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illusion · moha</a:t>
                      </a:r>
                    </a:p>
                  </a:txBody>
                  <a:tcPr marL="100584" marR="100584" marT="45720" marB="45720" anchor="t">
                    <a:solidFill>
                      <a:srgbClr val="0B0D14"/>
                    </a:solidFill>
                  </a:tcPr>
                </a:tc>
                <a:tc>
                  <a:txBody>
                    <a:bodyPr wrap="square"/>
                    <a:lstStyle/>
                    <a:p>
                      <a:pPr>
                        <a:lnSpc>
                          <a:spcPct val="108000"/>
                        </a:lnSpc>
                      </a:pPr>
                      <a:r>
                        <a:rPr sz="1300" b="0">
                          <a:solidFill>
                            <a:srgbClr val="A6B1C8"/>
                          </a:solidFill>
                          <a:latin typeface="Calibri"/>
                        </a:rPr>
                        <a:t>Jarāsandha attacked seventeen times, each time believing the next would work.</a:t>
                      </a:r>
                    </a:p>
                  </a:txBody>
                  <a:tcPr marL="100584" marR="100584" marT="45720" marB="45720" anchor="t">
                    <a:solidFill>
                      <a:srgbClr val="0B0D14"/>
                    </a:solidFill>
                  </a:tcPr>
                </a:tc>
              </a:tr>
            </a:tbl>
          </a:graphicData>
        </a:graphic>
      </p:graphicFrame>
      <p:sp>
        <p:nvSpPr>
          <p:cNvPr id="7" name="Rounded Rectangle 6"/>
          <p:cNvSpPr/>
          <p:nvPr/>
        </p:nvSpPr>
        <p:spPr>
          <a:xfrm>
            <a:off x="868680" y="562356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5623560"/>
            <a:ext cx="38100" cy="96012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5769864"/>
            <a:ext cx="10104120" cy="685800"/>
          </a:xfrm>
          <a:prstGeom prst="rect">
            <a:avLst/>
          </a:prstGeom>
          <a:noFill/>
        </p:spPr>
        <p:txBody>
          <a:bodyPr wrap="square" lIns="0" rIns="0" tIns="0" bIns="0">
            <a:spAutoFit/>
          </a:bodyPr>
          <a:lstStyle/>
          <a:p>
            <a:pPr algn="l">
              <a:lnSpc>
                <a:spcPct val="115000"/>
              </a:lnSpc>
            </a:pPr>
            <a:r>
              <a:rPr sz="1400" b="1">
                <a:solidFill>
                  <a:srgbClr val="EEF1F7"/>
                </a:solidFill>
                <a:latin typeface="Calibri"/>
              </a:rPr>
              <a:t>The move being made here:  </a:t>
            </a:r>
            <a:r>
              <a:rPr sz="1400">
                <a:solidFill>
                  <a:srgbClr val="A6B1C8"/>
                </a:solidFill>
                <a:latin typeface="Calibri"/>
              </a:rPr>
              <a:t>Balarāma's victories are not filed as history. Each is a demonstrated capacity, and the prayer asks Him to exercise that same capacity inside the petitioner. He has defeated anger — visibly, on Raivataka Mountain — so He is the one to ask about yours.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vāk-saṁyama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Controlling the tongue</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A fair question in a chapter where the first offence was something said. The answer came in four resources, from most structural to most direct.</a:t>
            </a:r>
          </a:p>
        </p:txBody>
      </p:sp>
      <p:sp>
        <p:nvSpPr>
          <p:cNvPr id="6" name="TextBox 5"/>
          <p:cNvSpPr txBox="1"/>
          <p:nvPr/>
        </p:nvSpPr>
        <p:spPr>
          <a:xfrm>
            <a:off x="868680" y="2286000"/>
            <a:ext cx="10515600" cy="4023360"/>
          </a:xfrm>
          <a:prstGeom prst="rect">
            <a:avLst/>
          </a:prstGeom>
          <a:noFill/>
        </p:spPr>
        <p:txBody>
          <a:bodyPr wrap="square" lIns="0" rIns="0" tIns="0" bIns="0">
            <a:spAutoFit/>
          </a:bodyPr>
          <a:lstStyle/>
          <a:p>
            <a:pPr algn="l">
              <a:lnSpc>
                <a:spcPct val="118000"/>
              </a:lnSpc>
              <a:spcBef>
                <a:spcPts val="0"/>
              </a:spcBef>
            </a:pPr>
            <a:r>
              <a:rPr sz="1450" b="1">
                <a:solidFill>
                  <a:srgbClr val="EEF1F7"/>
                </a:solidFill>
                <a:latin typeface="Calibri"/>
              </a:rPr>
              <a:t>— 1 · Cultivate the mode of goodness.  </a:t>
            </a:r>
            <a:r>
              <a:rPr sz="1450">
                <a:solidFill>
                  <a:srgbClr val="A6B1C8"/>
                </a:solidFill>
                <a:latin typeface="Calibri"/>
              </a:rPr>
              <a:t>BG 17.15 defines austerity of speech: truthfully, and pleasingly. Both halves are the instruction — and goodness is cultivated by habit (cleanliness, compassion, charity, truthfulness), not summoned on demand.</a:t>
            </a:r>
          </a:p>
          <a:p>
            <a:pPr>
              <a:lnSpc>
                <a:spcPct val="118000"/>
              </a:lnSpc>
              <a:spcBef>
                <a:spcPts val="1100"/>
              </a:spcBef>
            </a:pPr>
            <a:r>
              <a:rPr sz="1450" b="1">
                <a:solidFill>
                  <a:srgbClr val="EEF1F7"/>
                </a:solidFill>
                <a:latin typeface="Calibri"/>
              </a:rPr>
              <a:t>— 2 · The tongue has two functions —  </a:t>
            </a:r>
            <a:r>
              <a:rPr sz="1450">
                <a:solidFill>
                  <a:srgbClr val="A6B1C8"/>
                </a:solidFill>
                <a:latin typeface="Calibri"/>
              </a:rPr>
              <a:t>tasting and vibrating. So take only kṛṣṇa-prasādam. Not as rule-following: prasādam spiritualises the tongue, so purity produces control rather than control producing purity.</a:t>
            </a:r>
          </a:p>
          <a:p>
            <a:pPr>
              <a:lnSpc>
                <a:spcPct val="118000"/>
              </a:lnSpc>
              <a:spcBef>
                <a:spcPts val="1100"/>
              </a:spcBef>
            </a:pPr>
            <a:r>
              <a:rPr sz="1450" b="1">
                <a:solidFill>
                  <a:srgbClr val="EEF1F7"/>
                </a:solidFill>
                <a:latin typeface="Calibri"/>
              </a:rPr>
              <a:t>— 3 · Learn the mechanics of speech.  </a:t>
            </a:r>
            <a:r>
              <a:rPr sz="1450">
                <a:solidFill>
                  <a:srgbClr val="A6B1C8"/>
                </a:solidFill>
                <a:latin typeface="Calibri"/>
              </a:rPr>
              <a:t>Non-violent communication, taught to devotees as empathic communication. Its root insight: understand your own needs and take the steps to meet them; do not require others to. Unmet expectation is what puts the tongue in motion.</a:t>
            </a:r>
          </a:p>
          <a:p>
            <a:pPr>
              <a:lnSpc>
                <a:spcPct val="118000"/>
              </a:lnSpc>
              <a:spcBef>
                <a:spcPts val="1100"/>
              </a:spcBef>
            </a:pPr>
            <a:r>
              <a:rPr sz="1450" b="1">
                <a:solidFill>
                  <a:srgbClr val="EEF1F7"/>
                </a:solidFill>
                <a:latin typeface="Calibri"/>
              </a:rPr>
              <a:t>— 4 · Chanting.  </a:t>
            </a:r>
            <a:r>
              <a:rPr sz="1450">
                <a:solidFill>
                  <a:srgbClr val="A6B1C8"/>
                </a:solidFill>
                <a:latin typeface="Calibri"/>
              </a:rPr>
              <a:t>The ultimate shelter — and the one that occupies both of the tongue's jobs at once.</a:t>
            </a:r>
          </a:p>
        </p:txBody>
      </p:sp>
      <p:sp>
        <p:nvSpPr>
          <p:cNvPr id="7" name="Rounded Rectangle 6"/>
          <p:cNvSpPr/>
          <p:nvPr/>
        </p:nvSpPr>
        <p:spPr>
          <a:xfrm>
            <a:off x="868680" y="5577840"/>
            <a:ext cx="10515600" cy="100584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5577840"/>
            <a:ext cx="38100" cy="1005840"/>
          </a:xfrm>
          <a:prstGeom prst="rect">
            <a:avLst/>
          </a:prstGeom>
          <a:solidFill>
            <a:srgbClr val="C26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5724144"/>
            <a:ext cx="10104120" cy="731520"/>
          </a:xfrm>
          <a:prstGeom prst="rect">
            <a:avLst/>
          </a:prstGeom>
          <a:noFill/>
        </p:spPr>
        <p:txBody>
          <a:bodyPr wrap="square" lIns="0" rIns="0" tIns="0" bIns="0">
            <a:spAutoFit/>
          </a:bodyPr>
          <a:lstStyle/>
          <a:p>
            <a:pPr algn="l">
              <a:lnSpc>
                <a:spcPct val="115000"/>
              </a:lnSpc>
            </a:pPr>
            <a:r>
              <a:rPr sz="1400" b="1">
                <a:solidFill>
                  <a:srgbClr val="C2624A"/>
                </a:solidFill>
                <a:latin typeface="Calibri"/>
              </a:rPr>
              <a:t>The trap in half-obeying BG 17.15:  </a:t>
            </a:r>
            <a:r>
              <a:rPr sz="1400">
                <a:solidFill>
                  <a:srgbClr val="A6B1C8"/>
                </a:solidFill>
                <a:latin typeface="Calibri"/>
              </a:rPr>
              <a:t>“I just have to speak the truth, because I'm in the mode of goodness.” That is not the mode of goodness. Sattva includes the pleasingly. Truth delivered as a weapon has changed modes without changing content.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566928" y="502920"/>
            <a:ext cx="27940" cy="585216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475488"/>
            <a:ext cx="10607040" cy="292608"/>
          </a:xfrm>
          <a:prstGeom prst="rect">
            <a:avLst/>
          </a:prstGeom>
          <a:noFill/>
        </p:spPr>
        <p:txBody>
          <a:bodyPr wrap="square" lIns="0" rIns="0" tIns="0" bIns="0">
            <a:spAutoFit/>
          </a:bodyPr>
          <a:lstStyle/>
          <a:p>
            <a:pPr algn="l">
              <a:spcBef>
                <a:spcPts val="0"/>
              </a:spcBef>
              <a:spcAft>
                <a:spcPts val="0"/>
              </a:spcAft>
            </a:pPr>
            <a:r>
              <a:rPr sz="1300" b="0" i="1">
                <a:solidFill>
                  <a:srgbClr val="D9A441"/>
                </a:solidFill>
                <a:latin typeface="Georgia"/>
              </a:rPr>
              <a:t>krodha</a:t>
            </a:r>
          </a:p>
        </p:txBody>
      </p:sp>
      <p:sp>
        <p:nvSpPr>
          <p:cNvPr id="4" name="TextBox 3"/>
          <p:cNvSpPr txBox="1"/>
          <p:nvPr/>
        </p:nvSpPr>
        <p:spPr>
          <a:xfrm>
            <a:off x="868680" y="804672"/>
            <a:ext cx="10607040" cy="914400"/>
          </a:xfrm>
          <a:prstGeom prst="rect">
            <a:avLst/>
          </a:prstGeom>
          <a:noFill/>
        </p:spPr>
        <p:txBody>
          <a:bodyPr wrap="square" lIns="0" rIns="0" tIns="0" bIns="0">
            <a:spAutoFit/>
          </a:bodyPr>
          <a:lstStyle/>
          <a:p>
            <a:pPr algn="l">
              <a:lnSpc>
                <a:spcPct val="95000"/>
              </a:lnSpc>
              <a:spcBef>
                <a:spcPts val="0"/>
              </a:spcBef>
              <a:spcAft>
                <a:spcPts val="0"/>
              </a:spcAft>
            </a:pPr>
            <a:r>
              <a:rPr sz="3300" b="0" i="0">
                <a:solidFill>
                  <a:srgbClr val="EEF1F7"/>
                </a:solidFill>
                <a:latin typeface="Georgia"/>
              </a:rPr>
              <a:t>Anger, and why bhakti is the cure</a:t>
            </a:r>
          </a:p>
        </p:txBody>
      </p:sp>
      <p:sp>
        <p:nvSpPr>
          <p:cNvPr id="5" name="TextBox 4"/>
          <p:cNvSpPr txBox="1"/>
          <p:nvPr/>
        </p:nvSpPr>
        <p:spPr>
          <a:xfrm>
            <a:off x="868680" y="1700784"/>
            <a:ext cx="10424160" cy="457200"/>
          </a:xfrm>
          <a:prstGeom prst="rect">
            <a:avLst/>
          </a:prstGeom>
          <a:noFill/>
        </p:spPr>
        <p:txBody>
          <a:bodyPr wrap="square" lIns="0" rIns="0" tIns="0" bIns="0">
            <a:spAutoFit/>
          </a:bodyPr>
          <a:lstStyle/>
          <a:p>
            <a:pPr algn="l">
              <a:lnSpc>
                <a:spcPct val="115000"/>
              </a:lnSpc>
              <a:spcBef>
                <a:spcPts val="0"/>
              </a:spcBef>
              <a:spcAft>
                <a:spcPts val="0"/>
              </a:spcAft>
            </a:pPr>
            <a:r>
              <a:rPr sz="1500" b="0" i="1">
                <a:solidFill>
                  <a:srgbClr val="A6B1C8"/>
                </a:solidFill>
                <a:latin typeface="Calibri"/>
              </a:rPr>
              <a:t>The sharpest exchange of the class: “I understand once anger kicks in there is no stopping point — so I think I should stop before it kicks in. But it kicks in.”</a:t>
            </a:r>
          </a:p>
        </p:txBody>
      </p:sp>
      <p:sp>
        <p:nvSpPr>
          <p:cNvPr id="6" name="TextBox 5"/>
          <p:cNvSpPr txBox="1"/>
          <p:nvPr/>
        </p:nvSpPr>
        <p:spPr>
          <a:xfrm>
            <a:off x="868680" y="2286000"/>
            <a:ext cx="10515600" cy="4023360"/>
          </a:xfrm>
          <a:prstGeom prst="rect">
            <a:avLst/>
          </a:prstGeom>
          <a:noFill/>
        </p:spPr>
        <p:txBody>
          <a:bodyPr wrap="square" lIns="0" rIns="0" tIns="0" bIns="0">
            <a:spAutoFit/>
          </a:bodyPr>
          <a:lstStyle/>
          <a:p>
            <a:pPr algn="l">
              <a:lnSpc>
                <a:spcPct val="118000"/>
              </a:lnSpc>
              <a:spcBef>
                <a:spcPts val="0"/>
              </a:spcBef>
            </a:pPr>
            <a:r>
              <a:rPr sz="1450" b="1">
                <a:solidFill>
                  <a:srgbClr val="EEF1F7"/>
                </a:solidFill>
                <a:latin typeface="Calibri"/>
              </a:rPr>
              <a:t>— BG 2.62–63, as a practical problem:  </a:t>
            </a:r>
            <a:r>
              <a:rPr sz="1450">
                <a:solidFill>
                  <a:srgbClr val="A6B1C8"/>
                </a:solidFill>
                <a:latin typeface="Calibri"/>
              </a:rPr>
              <a:t>from anger comes delusion, from delusion bewilderment of memory, from that the loss of intelligence. The verse describes a system that disables the faculty you would use to interrupt it.</a:t>
            </a:r>
          </a:p>
          <a:p>
            <a:pPr>
              <a:lnSpc>
                <a:spcPct val="118000"/>
              </a:lnSpc>
              <a:spcBef>
                <a:spcPts val="1100"/>
              </a:spcBef>
            </a:pPr>
            <a:r>
              <a:rPr sz="1450" b="1">
                <a:solidFill>
                  <a:srgbClr val="EEF1F7"/>
                </a:solidFill>
                <a:latin typeface="Calibri"/>
              </a:rPr>
              <a:t>— The proof case — Bhīma and Duryodhana,  </a:t>
            </a:r>
            <a:r>
              <a:rPr sz="1450">
                <a:solidFill>
                  <a:srgbClr val="A6B1C8"/>
                </a:solidFill>
                <a:latin typeface="Calibri"/>
              </a:rPr>
              <a:t>both Balarāma's own students in club-fighting. He came to the battlefield and asked them to stop: Bhīma is stronger, Duryodhana more skilled, neither can win — stop wasting your time.</a:t>
            </a:r>
          </a:p>
          <a:p>
            <a:pPr>
              <a:lnSpc>
                <a:spcPct val="118000"/>
              </a:lnSpc>
              <a:spcBef>
                <a:spcPts val="1100"/>
              </a:spcBef>
            </a:pPr>
            <a:r>
              <a:rPr sz="1450" b="1">
                <a:solidFill>
                  <a:srgbClr val="EEF1F7"/>
                </a:solidFill>
                <a:latin typeface="Calibri"/>
              </a:rPr>
              <a:t>— They could not stop.  </a:t>
            </a:r>
            <a:r>
              <a:rPr sz="1450">
                <a:solidFill>
                  <a:srgbClr val="A6B1C8"/>
                </a:solidFill>
                <a:latin typeface="Calibri"/>
              </a:rPr>
              <a:t>Not would not — could not. When anger controls you, you cannot hear good advice even from the wisest, dearest person in your life. Even from Balarāma. That is the ceiling on willpower.</a:t>
            </a:r>
          </a:p>
          <a:p>
            <a:pPr>
              <a:lnSpc>
                <a:spcPct val="118000"/>
              </a:lnSpc>
              <a:spcBef>
                <a:spcPts val="1100"/>
              </a:spcBef>
            </a:pPr>
            <a:r>
              <a:rPr sz="1450" b="1">
                <a:solidFill>
                  <a:srgbClr val="EEF1F7"/>
                </a:solidFill>
                <a:latin typeface="Calibri"/>
              </a:rPr>
              <a:t>— So: change modes, don't fight them.  </a:t>
            </a:r>
            <a:r>
              <a:rPr sz="1450">
                <a:solidFill>
                  <a:srgbClr val="A6B1C8"/>
                </a:solidFill>
                <a:latin typeface="Calibri"/>
              </a:rPr>
              <a:t>Anger is ignorance and passion mixed. SB 1.2.24–26 gives the lever — worship of Viṣṇu elevates one to goodness. Give possessions, intelligence, energy, work and its fruits to Him.</a:t>
            </a:r>
          </a:p>
        </p:txBody>
      </p:sp>
      <p:sp>
        <p:nvSpPr>
          <p:cNvPr id="7" name="Rounded Rectangle 6"/>
          <p:cNvSpPr/>
          <p:nvPr/>
        </p:nvSpPr>
        <p:spPr>
          <a:xfrm>
            <a:off x="868680" y="5623560"/>
            <a:ext cx="10515600" cy="960120"/>
          </a:xfrm>
          <a:prstGeom prst="roundRect">
            <a:avLst/>
          </a:prstGeom>
          <a:solidFill>
            <a:srgbClr val="141A2B"/>
          </a:solidFill>
          <a:ln w="15240">
            <a:solidFill>
              <a:srgbClr val="242D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68680" y="5623560"/>
            <a:ext cx="38100" cy="9601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5769864"/>
            <a:ext cx="10104120" cy="685800"/>
          </a:xfrm>
          <a:prstGeom prst="rect">
            <a:avLst/>
          </a:prstGeom>
          <a:noFill/>
        </p:spPr>
        <p:txBody>
          <a:bodyPr wrap="square" lIns="0" rIns="0" tIns="0" bIns="0">
            <a:spAutoFit/>
          </a:bodyPr>
          <a:lstStyle/>
          <a:p>
            <a:pPr algn="l">
              <a:lnSpc>
                <a:spcPct val="115000"/>
              </a:lnSpc>
            </a:pPr>
            <a:r>
              <a:rPr sz="1400" b="1">
                <a:solidFill>
                  <a:srgbClr val="D9A441"/>
                </a:solidFill>
                <a:latin typeface="Calibri"/>
              </a:rPr>
              <a:t>And then the direct request.  </a:t>
            </a:r>
            <a:r>
              <a:rPr sz="1400">
                <a:solidFill>
                  <a:srgbClr val="A6B1C8"/>
                </a:solidFill>
                <a:latin typeface="Calibri"/>
              </a:rPr>
              <a:t>Not self-improvement, but the kavaca: “May Lord Balarāma, who killed Dvivida, always protect me from anger.” He can remove the tendency itself — He has done it before, in public, to the strongest angry being in the chapter. Bhakti is the cure.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D14"/>
        </a:solidFill>
        <a:effectLst/>
      </p:bgPr>
    </p:bg>
    <p:spTree>
      <p:nvGrpSpPr>
        <p:cNvPr id="1" name=""/>
        <p:cNvGrpSpPr/>
        <p:nvPr/>
      </p:nvGrpSpPr>
      <p:grpSpPr/>
      <p:sp>
        <p:nvSpPr>
          <p:cNvPr id="2" name="Rectangle 1"/>
          <p:cNvSpPr/>
          <p:nvPr/>
        </p:nvSpPr>
        <p:spPr>
          <a:xfrm>
            <a:off x="0" y="6821424"/>
            <a:ext cx="12191695" cy="3810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1005840" y="1234440"/>
            <a:ext cx="10241280" cy="320040"/>
          </a:xfrm>
          <a:prstGeom prst="rect">
            <a:avLst/>
          </a:prstGeom>
          <a:noFill/>
        </p:spPr>
        <p:txBody>
          <a:bodyPr wrap="square" lIns="0" rIns="0" tIns="0" bIns="0">
            <a:spAutoFit/>
          </a:bodyPr>
          <a:lstStyle/>
          <a:p>
            <a:pPr algn="l">
              <a:spcBef>
                <a:spcPts val="0"/>
              </a:spcBef>
              <a:spcAft>
                <a:spcPts val="0"/>
              </a:spcAft>
            </a:pPr>
            <a:r>
              <a:rPr sz="1200" b="0" i="0">
                <a:solidFill>
                  <a:srgbClr val="D9A441"/>
                </a:solidFill>
                <a:latin typeface="Consolas"/>
              </a:rPr>
              <a:t>WHERE TO INTERVENE</a:t>
            </a:r>
          </a:p>
        </p:txBody>
      </p:sp>
      <p:sp>
        <p:nvSpPr>
          <p:cNvPr id="4" name="TextBox 3"/>
          <p:cNvSpPr txBox="1"/>
          <p:nvPr/>
        </p:nvSpPr>
        <p:spPr>
          <a:xfrm>
            <a:off x="1005840" y="1691640"/>
            <a:ext cx="9875520" cy="201168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EEF1F7"/>
                </a:solidFill>
                <a:latin typeface="Georgia"/>
              </a:rPr>
              <a:t>Find the last rung you actually control.</a:t>
            </a:r>
          </a:p>
          <a:p>
            <a:pPr>
              <a:lnSpc>
                <a:spcPct val="120000"/>
              </a:lnSpc>
              <a:spcBef>
                <a:spcPts val="1400"/>
              </a:spcBef>
              <a:spcAft>
                <a:spcPts val="0"/>
              </a:spcAft>
            </a:pPr>
            <a:r>
              <a:rPr sz="1900" b="0" i="1">
                <a:solidFill>
                  <a:srgbClr val="A6B1C8"/>
                </a:solidFill>
                <a:latin typeface="Georgia"/>
              </a:rPr>
              <a:t>It is not bad association — by then the outcome is largely written. It is pride, and specifically the habit of measuring devotees against yourself.</a:t>
            </a:r>
          </a:p>
        </p:txBody>
      </p:sp>
      <p:sp>
        <p:nvSpPr>
          <p:cNvPr id="5" name="Rectangle 4"/>
          <p:cNvSpPr/>
          <p:nvPr/>
        </p:nvSpPr>
        <p:spPr>
          <a:xfrm>
            <a:off x="1005840" y="4160520"/>
            <a:ext cx="3840480" cy="12700"/>
          </a:xfrm>
          <a:prstGeom prst="rect">
            <a:avLst/>
          </a:prstGeom>
          <a:solidFill>
            <a:srgbClr val="242D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05840" y="4434840"/>
            <a:ext cx="10241280" cy="2011680"/>
          </a:xfrm>
          <a:prstGeom prst="rect">
            <a:avLst/>
          </a:prstGeom>
          <a:noFill/>
        </p:spPr>
        <p:txBody>
          <a:bodyPr wrap="square" lIns="0" rIns="0" tIns="0" bIns="0">
            <a:spAutoFit/>
          </a:bodyPr>
          <a:lstStyle/>
          <a:p>
            <a:pPr algn="l">
              <a:spcBef>
                <a:spcPts val="0"/>
              </a:spcBef>
              <a:spcAft>
                <a:spcPts val="0"/>
              </a:spcAft>
            </a:pPr>
            <a:r>
              <a:rPr sz="1100" b="0" i="0">
                <a:solidFill>
                  <a:srgbClr val="6D7791"/>
                </a:solidFill>
                <a:latin typeface="Consolas"/>
              </a:rPr>
              <a:t>SOURCES</a:t>
            </a:r>
          </a:p>
          <a:p>
            <a:pPr>
              <a:lnSpc>
                <a:spcPct val="120000"/>
              </a:lnSpc>
              <a:spcBef>
                <a:spcPts val="800"/>
              </a:spcBef>
              <a:spcAft>
                <a:spcPts val="0"/>
              </a:spcAft>
            </a:pPr>
            <a:r>
              <a:rPr sz="1300" b="0" i="0">
                <a:solidFill>
                  <a:srgbClr val="A6B1C8"/>
                </a:solidFill>
                <a:latin typeface="Calibri"/>
              </a:rPr>
              <a:t>HH Romāpāda Swami, “SB 10.67 — Lord Balarāma slays Dvivida Gorilla,” Fort Lauderdale FL, 23 August 2024 (1 hr 17 min).</a:t>
            </a:r>
          </a:p>
          <a:p>
            <a:pPr>
              <a:lnSpc>
                <a:spcPct val="120000"/>
              </a:lnSpc>
              <a:spcBef>
                <a:spcPts val="700"/>
              </a:spcBef>
              <a:spcAft>
                <a:spcPts val="0"/>
              </a:spcAft>
            </a:pPr>
            <a:r>
              <a:rPr sz="1150" b="0" i="0">
                <a:solidFill>
                  <a:srgbClr val="6D7791"/>
                </a:solidFill>
                <a:latin typeface="Calibri"/>
              </a:rPr>
              <a:t>Śrīmad-Bhāgavatam 10.67 with 10.2, 10.59, 10.65, 10.66, 2.7.34–35, 1.2.24–26 · Bhagavad-gītā 2.62–63, 4.7–8, 17.15 · Vālmīki Rāmāyaṇa (Kiṣkindhā- and Uttara-kāṇḍa) · Viśvanātha Cakravartī Ṭhākura on SB 10.67 · Jīva Gosvāmī, Bhakti-sandarbha, his SB commentary and Gopāla-campū · Garga-saṁhitā · Bhaktivinoda Ṭhākura, Caitanya-śikṣāmṛta and Kṛṣṇa-saṁhitā.</a:t>
            </a:r>
          </a:p>
          <a:p>
            <a:pPr>
              <a:spcBef>
                <a:spcPts val="1000"/>
              </a:spcBef>
              <a:spcAft>
                <a:spcPts val="0"/>
              </a:spcAft>
            </a:pPr>
            <a:r>
              <a:rPr sz="1250" b="0" i="0">
                <a:solidFill>
                  <a:srgbClr val="D9A441"/>
                </a:solidFill>
                <a:latin typeface="Consolas"/>
              </a:rPr>
              <a:t>Full guide: shivamtiwar2408.github.io/quiz-app/balarama-dvivida-kb/guide/index.html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